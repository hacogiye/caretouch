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Chi tiêu y tế (tỷ USD)</c:v>
                </c:pt>
              </c:strCache>
            </c:strRef>
          </c:tx>
          <c:spPr>
            <a:solidFill>
              <a:srgbClr val="9ED9CC"/>
            </a:solidFill>
            <a:effectLst/>
          </c:spPr>
          <c:invertIfNegative val="0"/>
          <c:dLbls>
            <c:numFmt formatCode="0.0" sourceLinked="0"/>
            <c:txPr>
              <a:bodyPr/>
              <a:lstStyle/>
              <a:p>
                <a:pPr>
                  <a:defRPr b="0" i="0" strike="noStrike" sz="1400" u="none">
                    <a:solidFill>
                      <a:srgbClr val="16302B"/>
                    </a:solidFill>
                    <a:latin typeface="Segoe UI"/>
                  </a:defRPr>
                </a:pPr>
              </a:p>
            </c:txPr>
            <c:showLegendKey val="0"/>
            <c:showVal val="1"/>
            <c:showCatName val="0"/>
            <c:showSerName val="0"/>
            <c:showPercent val="0"/>
            <c:showBubbleSize val="0"/>
            <c:showLeaderLines val="0"/>
          </c:dLbls>
          <c:dPt>
            <c:idx val="0"/>
            <c:invertIfNegative val="0"/>
            <c:bubble3D val="0"/>
            <c:spPr>
              <a:solidFill>
                <a:srgbClr val="9ED9CC"/>
              </a:solidFill>
              <a:effectLst/>
            </c:spPr>
          </c:dPt>
          <c:dPt>
            <c:idx val="1"/>
            <c:invertIfNegative val="0"/>
            <c:bubble3D val="0"/>
            <c:spPr>
              <a:solidFill>
                <a:srgbClr val="0E7C6B"/>
              </a:solidFill>
              <a:effectLst/>
            </c:spPr>
          </c:dPt>
          <c:dPt>
            <c:idx val="2"/>
            <c:invertIfNegative val="0"/>
            <c:bubble3D val="0"/>
            <c:spPr>
              <a:solidFill>
                <a:srgbClr val="E8590C"/>
              </a:solidFill>
              <a:effectLst/>
            </c:spPr>
          </c:dPt>
          <c:cat>
            <c:multiLvlStrRef>
              <c:f>Sheet1!$A$2:$A$4</c:f>
              <c:multiLvlStrCache>
                <c:ptCount val="3"/>
                <c:lvl>
                  <c:pt idx="0">
                    <c:v>2019</c:v>
                  </c:pt>
                  <c:pt idx="1">
                    <c:v>2025</c:v>
                  </c:pt>
                  <c:pt idx="2">
                    <c:v>2028 (dự báo)</c:v>
                  </c:pt>
                </c:lvl>
              </c:multiLvlStrCache>
            </c:multiLvlStrRef>
          </c:cat>
          <c:val>
            <c:numRef>
              <c:f>Sheet1!$B$2:$B$4</c:f>
              <c:numCache>
                <c:formatCode>General</c:formatCode>
                <c:ptCount val="3"/>
                <c:pt idx="0">
                  <c:v>17.4</c:v>
                </c:pt>
                <c:pt idx="1">
                  <c:v>27.5</c:v>
                </c:pt>
                <c:pt idx="2">
                  <c:v>34.1</c:v>
                </c:pt>
              </c:numCache>
            </c:numRef>
          </c:val>
        </c:ser>
        <c:dLbls>
          <c:numFmt formatCode="0.0" sourceLinked="0"/>
          <c:txPr>
            <a:bodyPr/>
            <a:lstStyle/>
            <a:p>
              <a:pPr>
                <a:defRPr b="0" i="0" strike="noStrike" sz="1400" u="none">
                  <a:solidFill>
                    <a:srgbClr val="16302B"/>
                  </a:solidFill>
                  <a:latin typeface="Segoe U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7370"/>
                </a:solidFill>
                <a:latin typeface="Segoe UI"/>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Doanh thu</c:v>
                </c:pt>
              </c:strCache>
            </c:strRef>
          </c:tx>
          <c:spPr>
            <a:solidFill>
              <a:srgbClr val="9ED9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9ED9CC"/>
              </a:solidFill>
              <a:effectLst/>
            </c:spPr>
          </c:dPt>
          <c:dPt>
            <c:idx val="1"/>
            <c:invertIfNegative val="0"/>
            <c:bubble3D val="0"/>
            <c:spPr>
              <a:solidFill>
                <a:srgbClr val="9ED9CC"/>
              </a:solidFill>
              <a:effectLst/>
            </c:spPr>
          </c:dPt>
          <c:dPt>
            <c:idx val="2"/>
            <c:invertIfNegative val="0"/>
            <c:bubble3D val="0"/>
            <c:spPr>
              <a:solidFill>
                <a:srgbClr val="9ED9CC"/>
              </a:solidFill>
              <a:effectLst/>
            </c:spPr>
          </c:dPt>
          <c:dPt>
            <c:idx val="3"/>
            <c:invertIfNegative val="0"/>
            <c:bubble3D val="0"/>
            <c:spPr>
              <a:solidFill>
                <a:srgbClr val="9ED9CC"/>
              </a:solidFill>
              <a:effectLst/>
            </c:spPr>
          </c:dPt>
          <c:dPt>
            <c:idx val="4"/>
            <c:invertIfNegative val="0"/>
            <c:bubble3D val="0"/>
            <c:spPr>
              <a:solidFill>
                <a:srgbClr val="E8590C"/>
              </a:solidFill>
              <a:effectLst/>
            </c:spPr>
          </c:dPt>
          <c:dPt>
            <c:idx val="5"/>
            <c:invertIfNegative val="0"/>
            <c:bubble3D val="0"/>
            <c:spPr>
              <a:solidFill>
                <a:srgbClr val="0E7C6B"/>
              </a:solidFill>
              <a:effectLst/>
            </c:spPr>
          </c:dPt>
          <c:dPt>
            <c:idx val="6"/>
            <c:invertIfNegative val="0"/>
            <c:bubble3D val="0"/>
            <c:spPr>
              <a:solidFill>
                <a:srgbClr val="0E7C6B"/>
              </a:solidFill>
              <a:effectLst/>
            </c:spPr>
          </c:dPt>
          <c:dPt>
            <c:idx val="7"/>
            <c:invertIfNegative val="0"/>
            <c:bubble3D val="0"/>
            <c:spPr>
              <a:solidFill>
                <a:srgbClr val="0E7C6B"/>
              </a:solidFill>
              <a:effectLst/>
            </c:spPr>
          </c:dPt>
          <c:dPt>
            <c:idx val="8"/>
            <c:invertIfNegative val="0"/>
            <c:bubble3D val="0"/>
            <c:spPr>
              <a:solidFill>
                <a:srgbClr val="0E7C6B"/>
              </a:solidFill>
              <a:effectLst/>
            </c:spPr>
          </c:dPt>
          <c:dPt>
            <c:idx val="9"/>
            <c:invertIfNegative val="0"/>
            <c:bubble3D val="0"/>
            <c:spPr>
              <a:solidFill>
                <a:srgbClr val="0E7C6B"/>
              </a:solidFill>
              <a:effectLst/>
            </c:spPr>
          </c:dPt>
          <c:dPt>
            <c:idx val="10"/>
            <c:invertIfNegative val="0"/>
            <c:bubble3D val="0"/>
            <c:spPr>
              <a:solidFill>
                <a:srgbClr val="0E7C6B"/>
              </a:solidFill>
              <a:effectLst/>
            </c:spPr>
          </c:dPt>
          <c:dPt>
            <c:idx val="11"/>
            <c:invertIfNegative val="0"/>
            <c:bubble3D val="0"/>
            <c:spPr>
              <a:solidFill>
                <a:srgbClr val="0E7C6B"/>
              </a:solidFill>
              <a:effectLst/>
            </c:spPr>
          </c:dPt>
          <c:cat>
            <c:multiLvlStrRef>
              <c:f>Sheet1!$A$2:$A$13</c:f>
              <c:multiLvlStrCache>
                <c:ptCount val="12"/>
                <c:lvl>
                  <c:pt idx="0">
                    <c:v>T1</c:v>
                  </c:pt>
                  <c:pt idx="1">
                    <c:v>T2</c:v>
                  </c:pt>
                  <c:pt idx="2">
                    <c:v>T3</c:v>
                  </c:pt>
                  <c:pt idx="3">
                    <c:v>T4</c:v>
                  </c:pt>
                  <c:pt idx="4">
                    <c:v>T5</c:v>
                  </c:pt>
                  <c:pt idx="5">
                    <c:v>T6</c:v>
                  </c:pt>
                  <c:pt idx="6">
                    <c:v>T7</c:v>
                  </c:pt>
                  <c:pt idx="7">
                    <c:v>T8</c:v>
                  </c:pt>
                  <c:pt idx="8">
                    <c:v>T9</c:v>
                  </c:pt>
                  <c:pt idx="9">
                    <c:v>T10</c:v>
                  </c:pt>
                  <c:pt idx="10">
                    <c:v>T11</c:v>
                  </c:pt>
                  <c:pt idx="11">
                    <c:v>T12</c:v>
                  </c:pt>
                </c:lvl>
              </c:multiLvlStrCache>
            </c:multiLvlStrRef>
          </c:cat>
          <c:val>
            <c:numRef>
              <c:f>Sheet1!$B$2:$B$13</c:f>
              <c:numCache>
                <c:formatCode>General</c:formatCode>
                <c:ptCount val="12"/>
                <c:pt idx="0">
                  <c:v>22</c:v>
                </c:pt>
                <c:pt idx="1">
                  <c:v>30</c:v>
                </c:pt>
                <c:pt idx="2">
                  <c:v>38</c:v>
                </c:pt>
                <c:pt idx="3">
                  <c:v>44</c:v>
                </c:pt>
                <c:pt idx="4">
                  <c:v>50</c:v>
                </c:pt>
                <c:pt idx="5">
                  <c:v>56</c:v>
                </c:pt>
                <c:pt idx="6">
                  <c:v>62</c:v>
                </c:pt>
                <c:pt idx="7">
                  <c:v>68</c:v>
                </c:pt>
                <c:pt idx="8">
                  <c:v>73</c:v>
                </c:pt>
                <c:pt idx="9">
                  <c:v>78</c:v>
                </c:pt>
                <c:pt idx="10">
                  <c:v>83</c:v>
                </c:pt>
                <c:pt idx="11">
                  <c:v>88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Chi phí cố định 48 tr./tháng</c:v>
                </c:pt>
              </c:strCache>
            </c:strRef>
          </c:tx>
          <c:spPr>
            <a:solidFill>
              <a:srgbClr val="16302B"/>
            </a:solidFill>
            <a:ln w="22225" cap="flat">
              <a:solidFill>
                <a:srgbClr val="16302B"/>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302B"/>
              </a:solidFill>
              <a:ln w="9525" cap="flat">
                <a:solidFill>
                  <a:srgbClr val="16302B"/>
                </a:solidFill>
                <a:prstDash val="solid"/>
                <a:round/>
              </a:ln>
              <a:effectLst/>
            </c:spPr>
          </c:marker>
          <c:cat>
            <c:multiLvlStrRef>
              <c:f>Sheet1!$A$2:$A$13</c:f>
              <c:multiLvlStrCache>
                <c:ptCount val="12"/>
                <c:lvl>
                  <c:pt idx="0">
                    <c:v>T1</c:v>
                  </c:pt>
                  <c:pt idx="1">
                    <c:v>T2</c:v>
                  </c:pt>
                  <c:pt idx="2">
                    <c:v>T3</c:v>
                  </c:pt>
                  <c:pt idx="3">
                    <c:v>T4</c:v>
                  </c:pt>
                  <c:pt idx="4">
                    <c:v>T5</c:v>
                  </c:pt>
                  <c:pt idx="5">
                    <c:v>T6</c:v>
                  </c:pt>
                  <c:pt idx="6">
                    <c:v>T7</c:v>
                  </c:pt>
                  <c:pt idx="7">
                    <c:v>T8</c:v>
                  </c:pt>
                  <c:pt idx="8">
                    <c:v>T9</c:v>
                  </c:pt>
                  <c:pt idx="9">
                    <c:v>T10</c:v>
                  </c:pt>
                  <c:pt idx="10">
                    <c:v>T11</c:v>
                  </c:pt>
                  <c:pt idx="11">
                    <c:v>T12</c:v>
                  </c:pt>
                </c:lvl>
              </c:multiLvlStrCache>
            </c:multiLvlStrRef>
          </c:cat>
          <c:val>
            <c:numRef>
              <c:f>Sheet1!$C$2:$C$13</c:f>
              <c:numCache>
                <c:formatCode>General</c:formatCode>
                <c:ptCount val="12"/>
                <c:pt idx="0">
                  <c:v>48</c:v>
                </c:pt>
                <c:pt idx="1">
                  <c:v>48</c:v>
                </c:pt>
                <c:pt idx="2">
                  <c:v>48</c:v>
                </c:pt>
                <c:pt idx="3">
                  <c:v>48</c:v>
                </c:pt>
                <c:pt idx="4">
                  <c:v>48</c:v>
                </c:pt>
                <c:pt idx="5">
                  <c:v>48</c:v>
                </c:pt>
                <c:pt idx="6">
                  <c:v>48</c:v>
                </c:pt>
                <c:pt idx="7">
                  <c:v>48</c:v>
                </c:pt>
                <c:pt idx="8">
                  <c:v>48</c:v>
                </c:pt>
                <c:pt idx="9">
                  <c:v>48</c:v>
                </c:pt>
                <c:pt idx="10">
                  <c:v>48</c:v>
                </c:pt>
                <c:pt idx="11">
                  <c:v>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C7370"/>
                </a:solidFill>
                <a:latin typeface="Segoe U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AF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C7370"/>
                </a:solidFill>
                <a:latin typeface="Segoe UI"/>
              </a:defRPr>
            </a:pPr>
            <a:endParaRPr lang="en-US"/>
          </a:p>
        </c:txPr>
        <c:crossAx val="2094734554"/>
        <c:crosses val="autoZero"/>
        <c:crossBetween val="between"/>
      </c:valAx>
      <c:spPr>
        <a:noFill/>
        <a:ln>
          <a:noFill/>
        </a:ln>
        <a:effectLst/>
      </c:spPr>
    </c:plotArea>
    <c:legend>
      <c:legendPos val="b"/>
      <c:overlay val="0"/>
      <c:txPr>
        <a:bodyPr/>
        <a:lstStyle/>
        <a:p>
          <a:pPr>
            <a:defRPr sz="1050">
              <a:solidFill>
                <a:srgbClr val="5C7370"/>
              </a:solidFill>
              <a:latin typeface="Segoe UI"/>
              <a:cs typeface="Segoe U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thầy/cô và các nhà đầu tư. CareTouch — tên mới của dự án An Khang Đường — dịch vụ chạm trị liệu y học cổ truyền tại cơ sở và tận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khách cùng một vấn đề: vận động, xương khớp, giấc ngủ suy giảm nhưng chưa được phục vụ bài bản. Con số 16,1 triệu người 60+ và 94,4 triệu lượt khám BHYT cho thấy nhu cầu tràn ra ngoài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 y tế tăng từ 17,4 lên 27,5 tỷ USD, dự báo 34,1 tỷ USD năm 2028. GWI xếp Việt Nam là thị trường wellness tăng trưởng nhanh nhất châu Á với 15,6%/năm.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chính là trung niên 40–60: thu nhập tốt nhất, mua cho cả cha mẹ. Giá một phiên tương đương một bữa cơm gia đình — dễ quyết định định kỳ.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đồ định vị: CareTouch chiếm góc 'chuyên môn cao - giá phải chăng' — nơi không ai đang phục vụ nhóm trung niên-cao tuổi một cách bài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dịch vụ cốt lõi. Giá tại nhà cao hơn tại cơ sở 60–70 nghìn để bù chi phí đi lại. Chọn phân khúc giá ngay dưới spa, trên quán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Liệu trình YHCT vốn cần 5-10 buổi — mô hình gói biến nhu cầu y khoa thành doanh thu định kỳ. CarePlus 10 là gói chủ lực.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vận hành quan trọng nhất: khảo sát thể trạng bắt buộc trước mỗi buổi. Đây là thứ spa thư giãn và quán nhỏ không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chỉ CareTouch đạt đồng thời cả 6 tiêu chí. Spa cao cấp bỏ lại nhóm trung niên vì giá; quán nhỏ thiếu an toàn; home care rời rạc thiếu quy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vốn khởi đầu 165 triệu = 95 triệu đầu tư + 70 triệu vốn lưu động bù lỗ 4 tháng đầu (26+18+10+4=58 triệu, dự trù dư 12 triệu). Doanh thu vượt chi phí cố định 48 triệu từ tháng 5; lãi ròng lũy kế T5-T12 = 174 triệu ≥ 165 triệu nên hoàn vốn đủ trong khoảng 12 tháng. Kịch bản thận trọng (quay lại 55%): 12-14 tháng. Nhân sự: 4 KTV + nhóm sáng lập điều phối.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4 giai đoạn, mỗi giai đoạn có điều kiện vượt qua rõ ràng. Năm 3 là năm nhượng quyền — bản chất franchising của mô hình dịch vụ chuẩn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rủi ro mức cao đều thuộc pháp lý - an toàn. Chiến lược: định vị 'chăm sóc - thư giãn - hỗ trợ vận động', không xâm phạm phạm vi khám chữa bệnh theo Luật KBBC 2023 và NĐ 96/2023/NĐ-CP. Nhân sự vận hành: 4 KTV lương cứng + nhóm sáng lập trực tiếp điều phối giai đoạn đầu; năm 2 tuyển thêm điều phối viên toàn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Dự án được phát triển trong môn Thực tập NCKH Đổi mới sáng tạo Khởi nghiệp — Buổi thực tập: ca chiều 1, thứ 7, ngày 26/9/2026.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500 triệu (minh họa) phân bổ 200 cơ sở thứ 2, 80 nền tảng đặt lịch &amp; CRM, 100 marketing &amp; nhân sự, 120 vốn lưu động; hình thức góp vốn đổi cổ phần ~12-15% minh họa. Cảm ơn thầy/cô và nhà đầu tư.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tuoitre.vn/nam-2025-viet-nam-co-16-dan-so-la-nguoi-cao-tuoi-1-nguoi-ganh-3-4-benh-man-tinh-20250531122410678.htm" TargetMode="External"/><Relationship Id="rId2" Type="http://schemas.openxmlformats.org/officeDocument/2006/relationships/hyperlink" Target="https://tuoitre.vn/nld/viet-nam-dang-co-toc-do-gia-hoa-nhanh-nhat-chau-a-196250531143638561.htm"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globalwellnessinstitute.org/wp-content/uploads/2024/11/WellnessEconMonitor2024PDF.pdf" TargetMode="External"/><Relationship Id="rId3" Type="http://schemas.openxmlformats.org/officeDocument/2006/relationships/hyperlink" Target="https://globalwellnessinstitute.org/wp-content/uploads/2024/11/WellnessEconMonitor2024PDF.pdf" TargetMode="External"/><Relationship Id="rId4" Type="http://schemas.openxmlformats.org/officeDocument/2006/relationships/hyperlink" Target="https://asia.nikkei.com/Business/Health-Care/Vietnam-fires-up-wellness-tourism-to-rival-Thailand-Indonesia" TargetMode="External"/><Relationship Id="rId5" Type="http://schemas.openxmlformats.org/officeDocument/2006/relationships/hyperlink" Target="https://vnexpress.net/chi-phi-cho-y-te-cua-nguoi-viet-nam-tang-thang-dung-4997605.html" TargetMode="External"/><Relationship Id="rId1" Type="http://schemas.openxmlformats.org/officeDocument/2006/relationships/chart" Target="/ppt/charts/chart1.xml"/><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so.gov.vn/"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massagenha.com/dich-vu/massage-nguoi-lon-tuoi/"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massagenha.com/dich-vu/massage-nguoi-lon-tuoi/"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ns0:sld xmlns:a="http://schemas.openxmlformats.org/drawingml/2006/main" xmlns:ns0="http://schemas.openxmlformats.org/presentationml/2006/main" xmlns:ns2="http://schemas.openxmlformats.org/officeDocument/2006/relationships">
  <ns0:cSld name="Slide 1">
    <ns0:bg>
      <ns0:bgPr>
        <a:blipFill dpi="0" rotWithShape="1">
          <a:blip ns2:embed="rId1">
            <a:lum/>
          </a:blip>
          <a:srcRect/>
          <a:stretch>
            <a:fillRect/>
          </a:stretch>
        </a:blipFill>
        <a:effectLst/>
      </ns0:bgPr>
    </ns0:bg>
    <ns0:spTree>
      <ns0:nvGrpSpPr>
        <ns0:cNvPr id="1" name=""/>
        <ns0:cNvGrpSpPr/>
        <ns0:nvPr/>
      </ns0:nvGrpSpPr>
      <ns0:grpSpPr>
        <a:xfrm>
          <a:off x="0" y="0"/>
          <a:ext cx="0" cy="0"/>
          <a:chOff x="0" y="0"/>
          <a:chExt cx="0" cy="0"/>
        </a:xfrm>
      </ns0:grpSpPr>
      <ns0:sp>
        <ns0:nvSpPr>
          <ns0:cNvPr id="2" name="Text 0"/>
          <ns0:cNvSpPr/>
          <ns0:nvPr/>
        </ns0:nvSpPr>
        <ns0:spPr>
          <a:xfrm>
            <a:off x="822960" y="1051560"/>
            <a:ext cx="7315200" cy="320040"/>
          </a:xfrm>
          <a:prstGeom prst="rect">
            <a:avLst/>
          </a:prstGeom>
          <a:noFill/>
          <a:ln/>
        </ns0:spPr>
        <ns0:txBody>
          <a:bodyPr wrap="square" lIns="0" tIns="0" rIns="0" bIns="0" rtlCol="0" anchor="ctr"/>
          <a:lstStyle/>
          <a:p>
            <a:pPr indent="0" marL="0">
              <a:buNone/>
            </a:pPr>
            <a:r>
              <a:rPr lang="en-US" sz="1300" b="1" spc="400" kern="0" dirty="0">
                <a:solidFill>
                  <a:srgbClr val="9ED9CC"/>
                </a:solidFill>
                <a:latin typeface="Segoe UI" pitchFamily="34" charset="0"/>
                <a:ea typeface="Segoe UI" pitchFamily="34" charset="-122"/>
                <a:cs typeface="Segoe UI" pitchFamily="34" charset="-120"/>
              </a:rPr>
              <a:t>HỒ SƠ DỰ ÁN KHỞI NGHIỆP  ·  THÁNG 9/2026</a:t>
            </a:r>
            <a:endParaRPr lang="en-US" sz="1300" dirty="0"/>
          </a:p>
        </ns0:txBody>
      </ns0:sp>
      <ns0:sp>
        <ns0:nvSpPr>
          <ns0:cNvPr id="3" name="Text 1"/>
          <ns0:cNvSpPr/>
          <ns0:nvPr/>
        </ns0:nvSpPr>
        <ns0:spPr>
          <a:xfrm>
            <a:off x="786384" y="1481328"/>
            <a:ext cx="8229600" cy="1371600"/>
          </a:xfrm>
          <a:prstGeom prst="rect">
            <a:avLst/>
          </a:prstGeom>
          <a:noFill/>
          <a:ln/>
        </ns0:spPr>
        <ns0:txBody>
          <a:bodyPr wrap="square" lIns="0" tIns="0" rIns="0" bIns="0" rtlCol="0" anchor="ctr"/>
          <a:lstStyle/>
          <a:p>
            <a:pPr indent="0" marL="0">
              <a:buNone/>
            </a:pPr>
            <a:r>
              <a:rPr lang="en-US" sz="7600" b="1" spc="100" kern="0" dirty="0">
                <a:solidFill>
                  <a:srgbClr val="FFFFFF"/>
                </a:solidFill>
                <a:latin typeface="Segoe UI" pitchFamily="34" charset="0"/>
                <a:ea typeface="Segoe UI" pitchFamily="34" charset="-122"/>
                <a:cs typeface="Segoe UI" pitchFamily="34" charset="-120"/>
              </a:rPr>
              <a:t>Care</a:t>
            </a:r>
            <a:r>
              <a:rPr lang="en-US" sz="7600" b="1" spc="100" kern="0" dirty="0">
                <a:solidFill>
                  <a:srgbClr val="F7965A"/>
                </a:solidFill>
                <a:latin typeface="Segoe UI" pitchFamily="34" charset="0"/>
                <a:ea typeface="Segoe UI" pitchFamily="34" charset="-122"/>
                <a:cs typeface="Segoe UI" pitchFamily="34" charset="-120"/>
              </a:rPr>
              <a:t>Touch</a:t>
            </a:r>
            <a:endParaRPr lang="en-US" sz="7600" dirty="0"/>
          </a:p>
        </ns0:txBody>
      </ns0:sp>
      <ns0:sp>
        <ns0:nvSpPr>
          <ns0:cNvPr id="4" name="Text 2"/>
          <ns0:cNvSpPr/>
          <ns0:nvPr/>
        </ns0:nvSpPr>
        <ns0:spPr>
          <a:xfrm>
            <a:off x="822960" y="2907792"/>
            <a:ext cx="7315200" cy="502920"/>
          </a:xfrm>
          <a:prstGeom prst="rect">
            <a:avLst/>
          </a:prstGeom>
          <a:noFill/>
          <a:ln/>
        </ns0:spPr>
        <ns0:txBody>
          <a:bodyPr wrap="square" lIns="0" tIns="0" rIns="0" bIns="0" rtlCol="0" anchor="ctr"/>
          <a:lstStyle/>
          <a:p>
            <a:pPr indent="0" marL="0">
              <a:buNone/>
            </a:pPr>
            <a:r>
              <a:rPr lang="en-US" sz="2400" i="1" dirty="0">
                <a:solidFill>
                  <a:srgbClr val="9ED9CC"/>
                </a:solidFill>
                <a:latin typeface="Georgia" pitchFamily="34" charset="0"/>
                <a:ea typeface="Georgia" pitchFamily="34" charset="-122"/>
                <a:cs typeface="Georgia" pitchFamily="34" charset="-120"/>
              </a:rPr>
              <a:t>Healing Touch, Healthy Life</a:t>
            </a:r>
            <a:endParaRPr lang="en-US" sz="2400" dirty="0"/>
          </a:p>
        </ns0:txBody>
      </ns0:sp>
      <ns0:sp>
        <ns0:nvSpPr>
          <ns0:cNvPr id="5" name="Text 3"/>
          <ns0:cNvSpPr/>
          <ns0:nvPr/>
        </ns0:nvSpPr>
        <ns0:spPr>
          <a:xfrm>
            <a:off x="822960" y="3611880"/>
            <a:ext cx="6583680" cy="1005840"/>
          </a:xfrm>
          <a:prstGeom prst="rect">
            <a:avLst/>
          </a:prstGeom>
          <a:noFill/>
          <a:ln/>
        </ns0:spPr>
        <ns0:txBody>
          <a:bodyPr wrap="square" lIns="0" tIns="0" rIns="0" bIns="0" rtlCol="0" anchor="ctr"/>
          <a:lstStyle/>
          <a:p>
            <a:pPr indent="0" marL="0">
              <a:lnSpc>
                <a:spcPct val="125000"/>
              </a:lnSpc>
              <a:buNone/>
            </a:pPr>
            <a:r>
              <a:rPr lang="en-US" sz="1500" dirty="0">
                <a:solidFill>
                  <a:srgbClr val="CFE6DF"/>
                </a:solidFill>
                <a:latin typeface="Segoe UI" pitchFamily="34" charset="0"/>
                <a:ea typeface="Segoe UI" pitchFamily="34" charset="-122"/>
                <a:cs typeface="Segoe UI" pitchFamily="34" charset="-120"/>
              </a:rPr>
              <a:t>Chạm trị liệu y học cổ truyền — gội đầu dưỡng sinh, massage trị liệu, bấm huyệt, chườm thảo dược. Phục vụ tại cơ sở và tận nhà cho người trung niên và cao tuổi.</a:t>
            </a:r>
            <a:endParaRPr lang="en-US" sz="1500" dirty="0"/>
          </a:p>
        </ns0:txBody>
      </ns0:sp>
      <ns0:sp>
        <ns0:nvSpPr>
          <ns0:cNvPr id="6" name="Shape 4"/>
          <ns0:cNvSpPr/>
          <ns0:nvPr/>
        </ns0:nvSpPr>
        <ns0:spPr>
          <a:xfrm>
            <a:off x="822960" y="5394960"/>
            <a:ext cx="2926080" cy="0"/>
          </a:xfrm>
          <a:prstGeom prst="line">
            <a:avLst/>
          </a:prstGeom>
          <a:noFill/>
          <a:ln w="19050">
            <a:solidFill>
              <a:srgbClr val="2AA88F"/>
            </a:solidFill>
            <a:prstDash val="solid"/>
          </a:ln>
        </ns0:spPr>
      </ns0:sp>
      <ns0:sp>
        <ns0:nvSpPr>
          <ns0:cNvPr id="7" name="Text 5"/>
          <ns0:cNvSpPr/>
          <ns0:nvPr/>
        </ns0:nvSpPr>
        <ns0:spPr>
          <a:xfrm>
            <a:off x="822960" y="5532120"/>
            <a:ext cx="7315200" cy="1005840"/>
          </a:xfrm>
          <a:prstGeom prst="rect">
            <a:avLst/>
          </a:prstGeom>
          <a:noFill/>
          <a:ln/>
        </ns0:spPr>
        <ns0:txBody>
          <a:bodyPr wrap="square" lIns="0" tIns="0" rIns="0" bIns="0" rtlCol="0" anchor="ctr"/>
          <a:lstStyle/>
          <a:p>
            <a:pPr indent="0" marL="0">
              <a:spcAft>
                <a:spcPts val="400"/>
              </a:spcAft>
              <a:buNone/>
            </a:pPr>
            <a:r>
              <a:rPr lang="en-US" sz="1300" b="1" dirty="0">
                <a:solidFill>
                  <a:srgbClr val="FFFFFF"/>
                </a:solidFill>
                <a:latin typeface="Segoe UI" pitchFamily="34" charset="0"/>
                <a:ea typeface="Segoe UI" pitchFamily="34" charset="-122"/>
                <a:cs typeface="Segoe UI" pitchFamily="34" charset="-120"/>
              </a:rPr>
              <a:t>Nhóm 3 · Tổ 14 · Lớp A1K79</a:t>
            </a:r>
            <a:endParaRPr lang="en-US" sz="1300" dirty="0"/>
          </a:p>
          <a:p>
            <a:pPr indent="0" marL="0">
              <a:spcAft>
                <a:spcPts val="400"/>
              </a:spcAft>
              <a:buNone/>
            </a:pPr>
            <a:r>
              <a:rPr lang="en-US" sz="1300" dirty="0">
                <a:solidFill>
                  <a:srgbClr val="9EC9BF"/>
                </a:solidFill>
                <a:latin typeface="Segoe UI" pitchFamily="34" charset="0"/>
                <a:ea typeface="Segoe UI" pitchFamily="34" charset="-122"/>
                <a:cs typeface="Segoe UI" pitchFamily="34" charset="-120"/>
              </a:rPr>
              <a:t>Thực tập Nghiên cứu khoa học — Đổi mới sáng tạo Khởi nghiệp</a:t>
            </a:r>
            <a:endParaRPr lang="en-US" sz="1300" dirty="0"/>
          </a:p>
          <a:p>
            <a:pPr indent="0" marL="0">
              <a:spcAft>
                <a:spcPts val="400"/>
              </a:spcAft>
              <a:buNone/>
            </a:pPr>
            <a:r>
              <a:rPr lang="en-US" sz="1300" i="1" dirty="0">
                <a:solidFill>
                  <a:srgbClr val="9EC9BF"/>
                </a:solidFill>
                <a:latin typeface="Segoe UI" pitchFamily="34" charset="0"/>
                <a:ea typeface="Segoe UI" pitchFamily="34" charset="-122"/>
                <a:cs typeface="Segoe UI" pitchFamily="34" charset="-120"/>
              </a:rPr>
              <a:t>Tiền thân: An Khang Đường</a:t>
            </a:r>
            <a:endParaRPr lang="en-US" sz="130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28" dur="indefinite" nodeType="mainSeq">
                <ns0:childTnLst>
                  <ns0:par>
                    <ns0:cTn id="2" fill="hold">
                      <ns0:stCondLst>
                        <ns0:cond delay="0"/>
                      </ns0:stCondLst>
                      <ns0:childTnLst>
                        <ns0:par>
                          <ns0:cTn id="3" fill="hold">
                            <ns0:stCondLst>
                              <ns0:cond delay="0"/>
                            </ns0:stCondLst>
                            <ns0:childTnLst>
                              <ns0:par>
                                <ns0:cTn id="4" presetID="42" presetClass="entr" presetSubtype="0" fill="hold" grpId="0" nodeType="afterEffect">
                                  <ns0:stCondLst>
                                    <ns0:cond delay="0"/>
                                  </ns0:stCondLst>
                                  <ns0:childTnLst>
                                    <ns0:set>
                                      <ns0:cBhvr>
                                        <ns0:cTn id="5" dur="1" fill="hold">
                                          <ns0:stCondLst>
                                            <ns0:cond delay="0"/>
                                          </ns0:stCondLst>
                                        </ns0:cTn>
                                        <ns0:tgtEl>
                                          <ns0:spTgt spid="2"/>
                                        </ns0:tgtEl>
                                        <ns0:attrNameLst>
                                          <ns0:attrName>style.visibility</ns0:attrName>
                                        </ns0:attrNameLst>
                                      </ns0:cBhvr>
                                      <ns0:to>
                                        <ns0:strVal val="visible"/>
                                      </ns0:to>
                                    </ns0:set>
                                    <ns0:animEffect transition="in" filter="fade">
                                      <ns0:cBhvr>
                                        <ns0:cTn id="6" dur="500"/>
                                        <ns0:tgtEl>
                                          <ns0:spTgt spid="2"/>
                                        </ns0:tgtEl>
                                      </ns0:cBhvr>
                                    </ns0:animEffect>
                                    <ns0:anim calcmode="lin" valueType="num">
                                      <ns0:cBhvr additive="base">
                                        <ns0:cTn id="7" dur="500" fill="hold"/>
                                        <ns0:tgtEl>
                                          <ns0:spTgt spid="2"/>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200"/>
                                  </ns0:stCondLst>
                                  <ns0:childTnLst>
                                    <ns0:set>
                                      <ns0:cBhvr>
                                        <ns0:cTn id="9" dur="1" fill="hold">
                                          <ns0:stCondLst>
                                            <ns0:cond delay="0"/>
                                          </ns0:stCondLst>
                                        </ns0:cTn>
                                        <ns0:tgtEl>
                                          <ns0:spTgt spid="3"/>
                                        </ns0:tgtEl>
                                        <ns0:attrNameLst>
                                          <ns0:attrName>style.visibility</ns0:attrName>
                                        </ns0:attrNameLst>
                                      </ns0:cBhvr>
                                      <ns0:to>
                                        <ns0:strVal val="visible"/>
                                      </ns0:to>
                                    </ns0:set>
                                    <ns0:animEffect transition="in" filter="fade">
                                      <ns0:cBhvr>
                                        <ns0:cTn id="10" dur="500"/>
                                        <ns0:tgtEl>
                                          <ns0:spTgt spid="3"/>
                                        </ns0:tgtEl>
                                      </ns0:cBhvr>
                                    </ns0:animEffect>
                                    <ns0:anim calcmode="lin" valueType="num">
                                      <ns0:cBhvr additive="base">
                                        <ns0:cTn id="11" dur="500" fill="hold"/>
                                        <ns0:tgtEl>
                                          <ns0:spTgt spid="3"/>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450"/>
                                  </ns0:stCondLst>
                                  <ns0:childTnLst>
                                    <ns0:set>
                                      <ns0:cBhvr>
                                        <ns0:cTn id="13" dur="1" fill="hold">
                                          <ns0:stCondLst>
                                            <ns0:cond delay="0"/>
                                          </ns0:stCondLst>
                                        </ns0:cTn>
                                        <ns0:tgtEl>
                                          <ns0:spTgt spid="4"/>
                                        </ns0:tgtEl>
                                        <ns0:attrNameLst>
                                          <ns0:attrName>style.visibility</ns0:attrName>
                                        </ns0:attrNameLst>
                                      </ns0:cBhvr>
                                      <ns0:to>
                                        <ns0:strVal val="visible"/>
                                      </ns0:to>
                                    </ns0:set>
                                    <ns0:animEffect transition="in" filter="fade">
                                      <ns0:cBhvr>
                                        <ns0:cTn id="14" dur="500"/>
                                        <ns0:tgtEl>
                                          <ns0:spTgt spid="4"/>
                                        </ns0:tgtEl>
                                      </ns0:cBhvr>
                                    </ns0:animEffect>
                                    <ns0:anim calcmode="lin" valueType="num">
                                      <ns0:cBhvr additive="base">
                                        <ns0:cTn id="15" dur="500" fill="hold"/>
                                        <ns0:tgtEl>
                                          <ns0:spTgt spid="4"/>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650"/>
                                  </ns0:stCondLst>
                                  <ns0:childTnLst>
                                    <ns0:set>
                                      <ns0:cBhvr>
                                        <ns0:cTn id="17" dur="1" fill="hold">
                                          <ns0:stCondLst>
                                            <ns0:cond delay="0"/>
                                          </ns0:stCondLst>
                                        </ns0:cTn>
                                        <ns0:tgtEl>
                                          <ns0:spTgt spid="5"/>
                                        </ns0:tgtEl>
                                        <ns0:attrNameLst>
                                          <ns0:attrName>style.visibility</ns0:attrName>
                                        </ns0:attrNameLst>
                                      </ns0:cBhvr>
                                      <ns0:to>
                                        <ns0:strVal val="visible"/>
                                      </ns0:to>
                                    </ns0:set>
                                    <ns0:animEffect transition="in" filter="fade">
                                      <ns0:cBhvr>
                                        <ns0:cTn id="18" dur="500"/>
                                        <ns0:tgtEl>
                                          <ns0:spTgt spid="5"/>
                                        </ns0:tgtEl>
                                      </ns0:cBhvr>
                                    </ns0:animEffect>
                                    <ns0:anim calcmode="lin" valueType="num">
                                      <ns0:cBhvr additive="base">
                                        <ns0:cTn id="19" dur="500" fill="hold"/>
                                        <ns0:tgtEl>
                                          <ns0:spTgt spid="5"/>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850"/>
                                  </ns0:stCondLst>
                                  <ns0:childTnLst>
                                    <ns0:set>
                                      <ns0:cBhvr>
                                        <ns0:cTn id="21" dur="1" fill="hold">
                                          <ns0:stCondLst>
                                            <ns0:cond delay="0"/>
                                          </ns0:stCondLst>
                                        </ns0:cTn>
                                        <ns0:tgtEl>
                                          <ns0:spTgt spid="6"/>
                                        </ns0:tgtEl>
                                        <ns0:attrNameLst>
                                          <ns0:attrName>style.visibility</ns0:attrName>
                                        </ns0:attrNameLst>
                                      </ns0:cBhvr>
                                      <ns0:to>
                                        <ns0:strVal val="visible"/>
                                      </ns0:to>
                                    </ns0:set>
                                    <ns0:animEffect transition="in" filter="fade">
                                      <ns0:cBhvr>
                                        <ns0:cTn id="22" dur="500"/>
                                        <ns0:tgtEl>
                                          <ns0:spTgt spid="6"/>
                                        </ns0:tgtEl>
                                      </ns0:cBhvr>
                                    </ns0:animEffect>
                                    <ns0:anim calcmode="lin" valueType="num">
                                      <ns0:cBhvr additive="base">
                                        <ns0:cTn id="23" dur="500" fill="hold"/>
                                        <ns0:tgtEl>
                                          <ns0:spTgt spid="6"/>
                                        </ns0:tgtEl>
                                        <ns0:attrNameLst>
                                          <ns0:attrName>ppt_y</ns0:attrName>
                                        </ns0:attrNameLst>
                                      </ns0:cBhvr>
                                      <ns0:tavLst>
                                        <ns0:tav tm="0">
                                          <ns0:val>
                                            <ns0:strVal val="#ppt_y+0.018"/>
                                          </ns0:val>
                                        </ns0:tav>
                                        <ns0:tav tm="100000">
                                          <ns0:val>
                                            <ns0:strVal val="#ppt_y"/>
                                          </ns0:val>
                                        </ns0:tav>
                                      </ns0:tavLst>
                                    </ns0:anim>
                                  </ns0:childTnLst>
                                </ns0:cTn>
                              </ns0:par>
                              <ns0:par>
                                <ns0:cTn id="24" presetID="42" presetClass="entr" presetSubtype="0" fill="hold" grpId="0" nodeType="withEffect">
                                  <ns0:stCondLst>
                                    <ns0:cond delay="1050"/>
                                  </ns0:stCondLst>
                                  <ns0:childTnLst>
                                    <ns0:set>
                                      <ns0:cBhvr>
                                        <ns0:cTn id="25" dur="1" fill="hold">
                                          <ns0:stCondLst>
                                            <ns0:cond delay="0"/>
                                          </ns0:stCondLst>
                                        </ns0:cTn>
                                        <ns0:tgtEl>
                                          <ns0:spTgt spid="7"/>
                                        </ns0:tgtEl>
                                        <ns0:attrNameLst>
                                          <ns0:attrName>style.visibility</ns0:attrName>
                                        </ns0:attrNameLst>
                                      </ns0:cBhvr>
                                      <ns0:to>
                                        <ns0:strVal val="visible"/>
                                      </ns0:to>
                                    </ns0:set>
                                    <ns0:animEffect transition="in" filter="fade">
                                      <ns0:cBhvr>
                                        <ns0:cTn id="26" dur="500"/>
                                        <ns0:tgtEl>
                                          <ns0:spTgt spid="7"/>
                                        </ns0:tgtEl>
                                      </ns0:cBhvr>
                                    </ns0:animEffect>
                                    <ns0:anim calcmode="lin" valueType="num">
                                      <ns0:cBhvr additive="base">
                                        <ns0:cTn id="2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2" grpId="0"/>
      <ns0:bldP spid="3" grpId="0"/>
      <ns0:bldP spid="4" grpId="0"/>
      <ns0:bldP spid="5" grpId="0"/>
      <ns0:bldP spid="6" grpId="0"/>
      <ns0:bldP spid="7" grpId="0"/>
    </ns0:bldLst>
  </ns0:timing>
</ns0:sld>
</file>

<file path=ppt/slides/slide2.xml><?xml version="1.0" encoding="utf-8"?>
<ns0:sld xmlns:a="http://schemas.openxmlformats.org/drawingml/2006/main" xmlns:ns0="http://schemas.openxmlformats.org/presentationml/2006/main" xmlns:ns2="http://schemas.openxmlformats.org/officeDocument/2006/relationships" xmlns:ns3="http://schemas.microsoft.com/office/drawing/2018/hyperlinkcolor">
  <ns0:cSld name="Slide 2">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VẤN ĐỀ THỊ TRƯỜNG</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Già hóa nhanh nhất châu Á — nhu cầu chăm sóc chưa được phục vụ bài bản</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02</a:t>
            </a:r>
            <a:endParaRPr lang="en-US" sz="1050" dirty="0"/>
          </a:p>
        </ns0:txBody>
      </ns0:sp>
      <ns0:sp>
        <ns0:nvSpPr>
          <ns0:cNvPr id="7" name="Shape 5"/>
          <ns0:cNvSpPr/>
          <ns0:nvPr/>
        </ns0:nvSpPr>
        <ns0:spPr>
          <a:xfrm>
            <a:off x="502920" y="1837944"/>
            <a:ext cx="475488" cy="475488"/>
          </a:xfrm>
          <a:prstGeom prst="ellipse">
            <a:avLst/>
          </a:prstGeom>
          <a:solidFill>
            <a:srgbClr val="E8F5F1"/>
          </a:solidFill>
          <a:ln/>
        </ns0:spPr>
      </ns0:sp>
      <ns0:sp>
        <ns0:nvSpPr>
          <ns0:cNvPr id="8" name="Text 6"/>
          <ns0:cNvSpPr/>
          <ns0:nvPr/>
        </ns0:nvSpPr>
        <ns0:spPr>
          <a:xfrm>
            <a:off x="502920" y="1837944"/>
            <a:ext cx="475488" cy="475488"/>
          </a:xfrm>
          <a:prstGeom prst="rect">
            <a:avLst/>
          </a:prstGeom>
          <a:noFill/>
          <a:ln/>
        </ns0:spPr>
        <ns0:txBody>
          <a:bodyPr wrap="square" lIns="0" tIns="0" rIns="0" bIns="0" rtlCol="0" anchor="ctr"/>
          <a:lstStyle/>
          <a:p>
            <a:pPr algn="ctr" indent="0" marL="0">
              <a:buNone/>
            </a:pPr>
            <a:r>
              <a:rPr lang="en-US" sz="1800" b="1" dirty="0">
                <a:solidFill>
                  <a:srgbClr val="0E7C6B"/>
                </a:solidFill>
                <a:latin typeface="Segoe UI" pitchFamily="34" charset="0"/>
                <a:ea typeface="Segoe UI" pitchFamily="34" charset="-122"/>
                <a:cs typeface="Segoe UI" pitchFamily="34" charset="-120"/>
              </a:rPr>
              <a:t>1</a:t>
            </a:r>
            <a:endParaRPr lang="en-US" sz="1800" dirty="0"/>
          </a:p>
        </ns0:txBody>
      </ns0:sp>
      <ns0:sp>
        <ns0:nvSpPr>
          <ns0:cNvPr id="9" name="Text 7"/>
          <ns0:cNvSpPr/>
          <ns0:nvPr/>
        </ns0:nvSpPr>
        <ns0:spPr>
          <a:xfrm>
            <a:off x="1188720" y="1737360"/>
            <a:ext cx="5989320" cy="1371600"/>
          </a:xfrm>
          <a:prstGeom prst="rect">
            <a:avLst/>
          </a:prstGeom>
          <a:noFill/>
          <a:ln/>
        </ns0:spPr>
        <ns0:txBody>
          <a:bodyPr wrap="square" lIns="0" tIns="0" rIns="0" bIns="0" rtlCol="0" anchor="t"/>
          <a:lstStyle/>
          <a:p>
            <a:pPr indent="0" marL="0">
              <a:lnSpc>
                <a:spcPct val="112000"/>
              </a:lnSpc>
              <a:spcAft>
                <a:spcPts val="500"/>
              </a:spcAft>
              <a:buNone/>
            </a:pPr>
            <a:r>
              <a:rPr lang="en-US" sz="1550" b="1" dirty="0">
                <a:solidFill>
                  <a:srgbClr val="16302B"/>
                </a:solidFill>
                <a:latin typeface="Segoe UI" pitchFamily="34" charset="0"/>
                <a:ea typeface="Segoe UI" pitchFamily="34" charset="-122"/>
                <a:cs typeface="Segoe UI" pitchFamily="34" charset="-120"/>
              </a:rPr>
              <a:t>Người lao động nặng</a:t>
            </a:r>
            <a:endParaRPr lang="en-US" sz="1550" dirty="0"/>
          </a:p>
          <a:p>
            <a:pPr indent="0" marL="0">
              <a:lnSpc>
                <a:spcPct val="112000"/>
              </a:lnSpc>
              <a:spcAft>
                <a:spcPts val="500"/>
              </a:spcAft>
              <a:buNone/>
            </a:pPr>
            <a:r>
              <a:rPr lang="en-US" sz="1250" dirty="0">
                <a:solidFill>
                  <a:srgbClr val="5C7370"/>
                </a:solidFill>
                <a:latin typeface="Segoe UI" pitchFamily="34" charset="0"/>
                <a:ea typeface="Segoe UI" pitchFamily="34" charset="-122"/>
                <a:cs typeface="Segoe UI" pitchFamily="34" charset="-120"/>
              </a:rPr>
              <a:t>Đau lưng, thoái hóa khớp sau nhiều năm. Thói quen tự xử lý bằng dầu nóng, miếng dán vì đi viện tốn thời gian.</a:t>
            </a:r>
            <a:endParaRPr lang="en-US" sz="1550" dirty="0"/>
          </a:p>
        </ns0:txBody>
      </ns0:sp>
      <ns0:sp>
        <ns0:nvSpPr>
          <ns0:cNvPr id="10" name="Shape 8"/>
          <ns0:cNvSpPr/>
          <ns0:nvPr/>
        </ns0:nvSpPr>
        <ns0:spPr>
          <a:xfrm>
            <a:off x="1188720" y="3026664"/>
            <a:ext cx="5852160" cy="0"/>
          </a:xfrm>
          <a:prstGeom prst="line">
            <a:avLst/>
          </a:prstGeom>
          <a:noFill/>
          <a:ln w="9525">
            <a:solidFill>
              <a:srgbClr val="DCEBE6"/>
            </a:solidFill>
            <a:prstDash val="solid"/>
          </a:ln>
        </ns0:spPr>
      </ns0:sp>
      <ns0:sp>
        <ns0:nvSpPr>
          <ns0:cNvPr id="11" name="Shape 9"/>
          <ns0:cNvSpPr/>
          <ns0:nvPr/>
        </ns0:nvSpPr>
        <ns0:spPr>
          <a:xfrm>
            <a:off x="502920" y="3319272"/>
            <a:ext cx="475488" cy="475488"/>
          </a:xfrm>
          <a:prstGeom prst="ellipse">
            <a:avLst/>
          </a:prstGeom>
          <a:solidFill>
            <a:srgbClr val="E8F5F1"/>
          </a:solidFill>
          <a:ln/>
        </ns0:spPr>
      </ns0:sp>
      <ns0:sp>
        <ns0:nvSpPr>
          <ns0:cNvPr id="12" name="Text 10"/>
          <ns0:cNvSpPr/>
          <ns0:nvPr/>
        </ns0:nvSpPr>
        <ns0:spPr>
          <a:xfrm>
            <a:off x="502920" y="3319272"/>
            <a:ext cx="475488" cy="475488"/>
          </a:xfrm>
          <a:prstGeom prst="rect">
            <a:avLst/>
          </a:prstGeom>
          <a:noFill/>
          <a:ln/>
        </ns0:spPr>
        <ns0:txBody>
          <a:bodyPr wrap="square" lIns="0" tIns="0" rIns="0" bIns="0" rtlCol="0" anchor="ctr"/>
          <a:lstStyle/>
          <a:p>
            <a:pPr algn="ctr" indent="0" marL="0">
              <a:buNone/>
            </a:pPr>
            <a:r>
              <a:rPr lang="en-US" sz="1800" b="1" dirty="0">
                <a:solidFill>
                  <a:srgbClr val="0E7C6B"/>
                </a:solidFill>
                <a:latin typeface="Segoe UI" pitchFamily="34" charset="0"/>
                <a:ea typeface="Segoe UI" pitchFamily="34" charset="-122"/>
                <a:cs typeface="Segoe UI" pitchFamily="34" charset="-120"/>
              </a:rPr>
              <a:t>2</a:t>
            </a:r>
            <a:endParaRPr lang="en-US" sz="1800" dirty="0"/>
          </a:p>
        </ns0:txBody>
      </ns0:sp>
      <ns0:sp>
        <ns0:nvSpPr>
          <ns0:cNvPr id="13" name="Text 11"/>
          <ns0:cNvSpPr/>
          <ns0:nvPr/>
        </ns0:nvSpPr>
        <ns0:spPr>
          <a:xfrm>
            <a:off x="1188720" y="3218688"/>
            <a:ext cx="5989320" cy="1371600"/>
          </a:xfrm>
          <a:prstGeom prst="rect">
            <a:avLst/>
          </a:prstGeom>
          <a:noFill/>
          <a:ln/>
        </ns0:spPr>
        <ns0:txBody>
          <a:bodyPr wrap="square" lIns="0" tIns="0" rIns="0" bIns="0" rtlCol="0" anchor="t"/>
          <a:lstStyle/>
          <a:p>
            <a:pPr indent="0" marL="0">
              <a:lnSpc>
                <a:spcPct val="112000"/>
              </a:lnSpc>
              <a:spcAft>
                <a:spcPts val="500"/>
              </a:spcAft>
              <a:buNone/>
            </a:pPr>
            <a:r>
              <a:rPr lang="en-US" sz="1550" b="1" dirty="0">
                <a:solidFill>
                  <a:srgbClr val="16302B"/>
                </a:solidFill>
                <a:latin typeface="Segoe UI" pitchFamily="34" charset="0"/>
                <a:ea typeface="Segoe UI" pitchFamily="34" charset="-122"/>
                <a:cs typeface="Segoe UI" pitchFamily="34" charset="-120"/>
              </a:rPr>
              <a:t>Dân văn phòng</a:t>
            </a:r>
            <a:endParaRPr lang="en-US" sz="1550" dirty="0"/>
          </a:p>
          <a:p>
            <a:pPr indent="0" marL="0">
              <a:lnSpc>
                <a:spcPct val="112000"/>
              </a:lnSpc>
              <a:spcAft>
                <a:spcPts val="500"/>
              </a:spcAft>
              <a:buNone/>
            </a:pPr>
            <a:r>
              <a:rPr lang="en-US" sz="1250" dirty="0">
                <a:solidFill>
                  <a:srgbClr val="5C7370"/>
                </a:solidFill>
                <a:latin typeface="Segoe UI" pitchFamily="34" charset="0"/>
                <a:ea typeface="Segoe UI" pitchFamily="34" charset="-122"/>
                <a:cs typeface="Segoe UI" pitchFamily="34" charset="-120"/>
              </a:rPr>
              <a:t>Đau cổ vai gáy, tê bì tay, mất ngủ chức năng do ngồi 8–10 tiếng/ngày. Có khả năng chi trả nhưng bận rộn, cần dịch vụ nhanh, tiện.</a:t>
            </a:r>
            <a:endParaRPr lang="en-US" sz="1550" dirty="0"/>
          </a:p>
        </ns0:txBody>
      </ns0:sp>
      <ns0:sp>
        <ns0:nvSpPr>
          <ns0:cNvPr id="14" name="Shape 12"/>
          <ns0:cNvSpPr/>
          <ns0:nvPr/>
        </ns0:nvSpPr>
        <ns0:spPr>
          <a:xfrm>
            <a:off x="1188720" y="4507992"/>
            <a:ext cx="5852160" cy="0"/>
          </a:xfrm>
          <a:prstGeom prst="line">
            <a:avLst/>
          </a:prstGeom>
          <a:noFill/>
          <a:ln w="9525">
            <a:solidFill>
              <a:srgbClr val="DCEBE6"/>
            </a:solidFill>
            <a:prstDash val="solid"/>
          </a:ln>
        </ns0:spPr>
      </ns0:sp>
      <ns0:sp>
        <ns0:nvSpPr>
          <ns0:cNvPr id="15" name="Shape 13"/>
          <ns0:cNvSpPr/>
          <ns0:nvPr/>
        </ns0:nvSpPr>
        <ns0:spPr>
          <a:xfrm>
            <a:off x="502920" y="4800600"/>
            <a:ext cx="475488" cy="475488"/>
          </a:xfrm>
          <a:prstGeom prst="ellipse">
            <a:avLst/>
          </a:prstGeom>
          <a:solidFill>
            <a:srgbClr val="FDEBDD"/>
          </a:solidFill>
          <a:ln/>
        </ns0:spPr>
      </ns0:sp>
      <ns0:sp>
        <ns0:nvSpPr>
          <ns0:cNvPr id="16" name="Text 14"/>
          <ns0:cNvSpPr/>
          <ns0:nvPr/>
        </ns0:nvSpPr>
        <ns0:spPr>
          <a:xfrm>
            <a:off x="502920" y="4800600"/>
            <a:ext cx="475488" cy="475488"/>
          </a:xfrm>
          <a:prstGeom prst="rect">
            <a:avLst/>
          </a:prstGeom>
          <a:noFill/>
          <a:ln/>
        </ns0:spPr>
        <ns0:txBody>
          <a:bodyPr wrap="square" lIns="0" tIns="0" rIns="0" bIns="0" rtlCol="0" anchor="ctr"/>
          <a:lstStyle/>
          <a:p>
            <a:pPr algn="ctr" indent="0" marL="0">
              <a:buNone/>
            </a:pPr>
            <a:r>
              <a:rPr lang="en-US" sz="1800" b="1" dirty="0">
                <a:solidFill>
                  <a:srgbClr val="E8590C"/>
                </a:solidFill>
                <a:latin typeface="Segoe UI" pitchFamily="34" charset="0"/>
                <a:ea typeface="Segoe UI" pitchFamily="34" charset="-122"/>
                <a:cs typeface="Segoe UI" pitchFamily="34" charset="-120"/>
              </a:rPr>
              <a:t>3</a:t>
            </a:r>
            <a:endParaRPr lang="en-US" sz="1800" dirty="0"/>
          </a:p>
        </ns0:txBody>
      </ns0:sp>
      <ns0:sp>
        <ns0:nvSpPr>
          <ns0:cNvPr id="17" name="Text 15"/>
          <ns0:cNvSpPr/>
          <ns0:nvPr/>
        </ns0:nvSpPr>
        <ns0:spPr>
          <a:xfrm>
            <a:off x="1188720" y="4700016"/>
            <a:ext cx="5989320" cy="1371600"/>
          </a:xfrm>
          <a:prstGeom prst="rect">
            <a:avLst/>
          </a:prstGeom>
          <a:noFill/>
          <a:ln/>
        </ns0:spPr>
        <ns0:txBody>
          <a:bodyPr wrap="square" lIns="0" tIns="0" rIns="0" bIns="0" rtlCol="0" anchor="t"/>
          <a:lstStyle/>
          <a:p>
            <a:pPr indent="0" marL="0">
              <a:lnSpc>
                <a:spcPct val="112000"/>
              </a:lnSpc>
              <a:spcAft>
                <a:spcPts val="500"/>
              </a:spcAft>
              <a:buNone/>
            </a:pPr>
            <a:r>
              <a:rPr lang="en-US" sz="1550" b="1" dirty="0">
                <a:solidFill>
                  <a:srgbClr val="16302B"/>
                </a:solidFill>
                <a:latin typeface="Segoe UI" pitchFamily="34" charset="0"/>
                <a:ea typeface="Segoe UI" pitchFamily="34" charset="-122"/>
                <a:cs typeface="Segoe UI" pitchFamily="34" charset="-120"/>
              </a:rPr>
              <a:t>Người cao tuổi</a:t>
            </a:r>
            <a:endParaRPr lang="en-US" sz="1550" dirty="0"/>
          </a:p>
          <a:p>
            <a:pPr indent="0" marL="0">
              <a:lnSpc>
                <a:spcPct val="112000"/>
              </a:lnSpc>
              <a:spcAft>
                <a:spcPts val="500"/>
              </a:spcAft>
              <a:buNone/>
            </a:pPr>
            <a:r>
              <a:rPr lang="en-US" sz="1250" dirty="0">
                <a:solidFill>
                  <a:srgbClr val="5C7370"/>
                </a:solidFill>
                <a:latin typeface="Segoe UI" pitchFamily="34" charset="0"/>
                <a:ea typeface="Segoe UI" pitchFamily="34" charset="-122"/>
                <a:cs typeface="Segoe UI" pitchFamily="34" charset="-120"/>
              </a:rPr>
              <a:t>Bình quân 3,5–4 bệnh mạn tính cùng lúc. Tin dùng y học cổ truyền nhưng đi lại khó khăn, cần người đến tận nơi.</a:t>
            </a:r>
            <a:endParaRPr lang="en-US" sz="1550" dirty="0"/>
          </a:p>
        </ns0:txBody>
      </ns0:sp>
      <ns0:sp>
        <ns0:nvSpPr>
          <ns0:cNvPr id="18" name="Shape 16"/>
          <ns0:cNvSpPr/>
          <ns0:nvPr/>
        </ns0:nvSpPr>
        <ns0:spPr>
          <a:xfrm>
            <a:off x="7452360" y="1664208"/>
            <a:ext cx="4206240" cy="4553712"/>
          </a:xfrm>
          <a:prstGeom prst="roundRect">
            <a:avLst>
              <a:gd name="adj" fmla="val 2609"/>
            </a:avLst>
          </a:prstGeom>
          <a:solidFill>
            <a:srgbClr val="0B3B34"/>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9" name="Text 17"/>
          <ns0:cNvSpPr/>
          <ns0:nvPr/>
        </ns0:nvSpPr>
        <ns0:spPr>
          <a:xfrm>
            <a:off x="7772400" y="1883664"/>
            <a:ext cx="3566160" cy="274320"/>
          </a:xfrm>
          <a:prstGeom prst="rect">
            <a:avLst/>
          </a:prstGeom>
          <a:noFill/>
          <a:ln/>
        </ns0:spPr>
        <ns0:txBody>
          <a:bodyPr wrap="square" lIns="0" tIns="0" rIns="0" bIns="0" rtlCol="0" anchor="ctr"/>
          <a:lstStyle/>
          <a:p>
            <a:pPr indent="0" marL="0">
              <a:buNone/>
            </a:pPr>
            <a:r>
              <a:rPr lang="en-US" sz="1150" b="1" spc="250" kern="0" dirty="0">
                <a:solidFill>
                  <a:srgbClr val="9ED9CC"/>
                </a:solidFill>
                <a:latin typeface="Segoe UI" pitchFamily="34" charset="0"/>
                <a:ea typeface="Segoe UI" pitchFamily="34" charset="-122"/>
                <a:cs typeface="Segoe UI" pitchFamily="34" charset="-120"/>
              </a:rPr>
              <a:t>VÌ SAO LÀ BÂY GIỜ?</a:t>
            </a:r>
            <a:endParaRPr lang="en-US" sz="1150" dirty="0"/>
          </a:p>
        </ns0:txBody>
      </ns0:sp>
      <ns0:sp>
        <ns0:nvSpPr>
          <ns0:cNvPr id="20" name="Text 18"/>
          <ns0:cNvSpPr/>
          <ns0:nvPr/>
        </ns0:nvSpPr>
        <ns0:spPr>
          <a:xfrm>
            <a:off x="7772400" y="2231136"/>
            <a:ext cx="3566160" cy="548640"/>
          </a:xfrm>
          <a:prstGeom prst="rect">
            <a:avLst/>
          </a:prstGeom>
          <a:noFill/>
          <a:ln/>
        </ns0:spPr>
        <ns0:txBody>
          <a:bodyPr wrap="square" lIns="0" tIns="0" rIns="0" bIns="0" rtlCol="0" anchor="ctr"/>
          <a:lstStyle/>
          <a:p>
            <a:pPr indent="0" marL="0">
              <a:buNone/>
            </a:pPr>
            <a:r>
              <a:rPr lang="en-US" sz="3600" b="1" dirty="0">
                <a:solidFill>
                  <a:srgbClr val="F7965A"/>
                </a:solidFill>
                <a:latin typeface="Segoe UI" pitchFamily="34" charset="0"/>
                <a:ea typeface="Segoe UI" pitchFamily="34" charset="-122"/>
                <a:cs typeface="Segoe UI" pitchFamily="34" charset="-120"/>
              </a:rPr>
              <a:t>16,1 triệu</a:t>
            </a:r>
            <a:endParaRPr lang="en-US" sz="3600" dirty="0"/>
          </a:p>
        </ns0:txBody>
      </ns0:sp>
      <ns0:sp>
        <ns0:nvSpPr>
          <ns0:cNvPr id="21" name="Text 19"/>
          <ns0:cNvSpPr/>
          <ns0:nvPr/>
        </ns0:nvSpPr>
        <ns0:spPr>
          <a:xfrm>
            <a:off x="7772400" y="2798064"/>
            <a:ext cx="3566160" cy="530352"/>
          </a:xfrm>
          <a:prstGeom prst="rect">
            <a:avLst/>
          </a:prstGeom>
          <a:noFill/>
          <a:ln/>
        </ns0:spPr>
        <ns0:txBody>
          <a:bodyPr wrap="square" lIns="0" tIns="0" rIns="0" bIns="0" rtlCol="0" anchor="ctr"/>
          <a:lstStyle/>
          <a:p>
            <a:pPr indent="0" marL="0">
              <a:lnSpc>
                <a:spcPct val="112000"/>
              </a:lnSpc>
              <a:buNone/>
            </a:pPr>
            <a:r>
              <a:rPr lang="en-US" sz="1100" dirty="0">
                <a:solidFill>
                  <a:srgbClr val="B9D8D0"/>
                </a:solidFill>
                <a:latin typeface="Segoe UI" pitchFamily="34" charset="0"/>
                <a:ea typeface="Segoe UI" pitchFamily="34" charset="-122"/>
                <a:cs typeface="Segoe UI" pitchFamily="34" charset="-120"/>
              </a:rPr>
              <a:t>người Việt trên 60 tuổi (2025) — hơn 16% dân số</a:t>
            </a:r>
            <a:endParaRPr lang="en-US" sz="1100" dirty="0"/>
          </a:p>
        </ns0:txBody>
      </ns0:sp>
      <ns0:sp>
        <ns0:nvSpPr>
          <ns0:cNvPr id="22" name="Text 20"/>
          <ns0:cNvSpPr/>
          <ns0:nvPr/>
        </ns0:nvSpPr>
        <ns0:spPr>
          <a:xfrm>
            <a:off x="7772400" y="3602736"/>
            <a:ext cx="3566160" cy="548640"/>
          </a:xfrm>
          <a:prstGeom prst="rect">
            <a:avLst/>
          </a:prstGeom>
          <a:noFill/>
          <a:ln/>
        </ns0:spPr>
        <ns0: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94,4 triệu</a:t>
            </a:r>
            <a:endParaRPr lang="en-US" sz="3200" dirty="0"/>
          </a:p>
        </ns0:txBody>
      </ns0:sp>
      <ns0:sp>
        <ns0:nvSpPr>
          <ns0:cNvPr id="23" name="Text 21"/>
          <ns0:cNvSpPr/>
          <ns0:nvPr/>
        </ns0:nvSpPr>
        <ns0:spPr>
          <a:xfrm>
            <a:off x="7772400" y="4169664"/>
            <a:ext cx="3566160" cy="530352"/>
          </a:xfrm>
          <a:prstGeom prst="rect">
            <a:avLst/>
          </a:prstGeom>
          <a:noFill/>
          <a:ln/>
        </ns0:spPr>
        <ns0:txBody>
          <a:bodyPr wrap="square" lIns="0" tIns="0" rIns="0" bIns="0" rtlCol="0" anchor="ctr"/>
          <a:lstStyle/>
          <a:p>
            <a:pPr indent="0" marL="0">
              <a:lnSpc>
                <a:spcPct val="112000"/>
              </a:lnSpc>
              <a:buNone/>
            </a:pPr>
            <a:r>
              <a:rPr lang="en-US" sz="1100" dirty="0">
                <a:solidFill>
                  <a:srgbClr val="B9D8D0"/>
                </a:solidFill>
                <a:latin typeface="Segoe UI" pitchFamily="34" charset="0"/>
                <a:ea typeface="Segoe UI" pitchFamily="34" charset="-122"/>
                <a:cs typeface="Segoe UI" pitchFamily="34" charset="-120"/>
              </a:rPr>
              <a:t>lượt khám BHYT 6 tháng đầu 2026 — hệ thống khám chữa bệnh chạy hết công suất</a:t>
            </a:r>
            <a:endParaRPr lang="en-US" sz="1100" dirty="0"/>
          </a:p>
        </ns0:txBody>
      </ns0:sp>
      <ns0:sp>
        <ns0:nvSpPr>
          <ns0:cNvPr id="24" name="Text 22"/>
          <ns0:cNvSpPr/>
          <ns0:nvPr/>
        </ns0:nvSpPr>
        <ns0:spPr>
          <a:xfrm>
            <a:off x="7772400" y="4919472"/>
            <a:ext cx="3566160" cy="548640"/>
          </a:xfrm>
          <a:prstGeom prst="rect">
            <a:avLst/>
          </a:prstGeom>
          <a:noFill/>
          <a:ln/>
        </ns0:spPr>
        <ns0: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3,5–4 bệnh</a:t>
            </a:r>
            <a:endParaRPr lang="en-US" sz="3200" dirty="0"/>
          </a:p>
        </ns0:txBody>
      </ns0:sp>
      <ns0:sp>
        <ns0:nvSpPr>
          <ns0:cNvPr id="25" name="Text 23"/>
          <ns0:cNvSpPr/>
          <ns0:nvPr/>
        </ns0:nvSpPr>
        <ns0:spPr>
          <a:xfrm>
            <a:off x="7772400" y="5486400"/>
            <a:ext cx="3566160" cy="530352"/>
          </a:xfrm>
          <a:prstGeom prst="rect">
            <a:avLst/>
          </a:prstGeom>
          <a:noFill/>
          <a:ln/>
        </ns0:spPr>
        <ns0:txBody>
          <a:bodyPr wrap="square" lIns="0" tIns="0" rIns="0" bIns="0" rtlCol="0" anchor="ctr"/>
          <a:lstStyle/>
          <a:p>
            <a:pPr indent="0" marL="0">
              <a:lnSpc>
                <a:spcPct val="112000"/>
              </a:lnSpc>
              <a:buNone/>
            </a:pPr>
            <a:r>
              <a:rPr lang="en-US" sz="1100" dirty="0">
                <a:solidFill>
                  <a:srgbClr val="B9D8D0"/>
                </a:solidFill>
                <a:latin typeface="Segoe UI" pitchFamily="34" charset="0"/>
                <a:ea typeface="Segoe UI" pitchFamily="34" charset="-122"/>
                <a:cs typeface="Segoe UI" pitchFamily="34" charset="-120"/>
              </a:rPr>
              <a:t>mạn tính bình quân mỗi lần nhập viện của người cao tuổi</a:t>
            </a:r>
            <a:endParaRPr lang="en-US" sz="1100" dirty="0"/>
          </a:p>
        </ns0:txBody>
      </ns0:sp>
      <ns0:sp>
        <ns0:nvSpPr>
          <ns0:cNvPr id="26" name="Text 24"/>
          <ns0:cNvSpPr/>
          <ns0:nvPr/>
        </ns0:nvSpPr>
        <ns0:spPr>
          <a:xfrm>
            <a:off x="502920" y="647395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Nguồn: </a:t>
            </a:r>
            <a:r>
              <a:rPr lang="en-US" sz="1050" u="sng" dirty="0">
                <a:solidFill>
                  <a:srgbClr val="0E7C6B"/>
                </a:solidFill>
                <a:latin typeface="Segoe UI" pitchFamily="34" charset="0"/>
                <a:ea typeface="Segoe UI" pitchFamily="34" charset="-122"/>
                <a:cs typeface="Segoe UI" pitchFamily="34" charset="-120"/>
                <a:hlinkClick ns2:id="rId1" invalidUrl="" action="" tgtFrame="" tooltip="" history="1" highlightClick="0" endSnd="0">
                  <a:extLst>
                    <a:ext uri="{A12FA001-AC4F-418D-AE19-62706E023703}">
                      <ns3:hlinkClr val="tx"/>
                    </a:ext>
                  </a:extLst>
                </a:hlinkClick>
              </a:rPr>
              <a:t>Tuổi Trẻ, 31/5/2025</a:t>
            </a:r>
            <a:r>
              <a:rPr lang="en-US" sz="1050" i="1" dirty="0">
                <a:solidFill>
                  <a:srgbClr val="5C7370"/>
                </a:solidFill>
                <a:latin typeface="Segoe UI" pitchFamily="34" charset="0"/>
                <a:ea typeface="Segoe UI" pitchFamily="34" charset="-122"/>
                <a:cs typeface="Segoe UI" pitchFamily="34" charset="-120"/>
              </a:rPr>
              <a:t>  ·  </a:t>
            </a:r>
            <a:r>
              <a:rPr lang="en-US" sz="1050" u="sng" dirty="0">
                <a:solidFill>
                  <a:srgbClr val="0E7C6B"/>
                </a:solidFill>
                <a:latin typeface="Segoe UI" pitchFamily="34" charset="0"/>
                <a:ea typeface="Segoe UI" pitchFamily="34" charset="-122"/>
                <a:cs typeface="Segoe UI" pitchFamily="34" charset="-120"/>
                <a:hlinkClick ns2:id="rId2" invalidUrl="" action="" tgtFrame="" tooltip="" history="1" highlightClick="0" endSnd="0">
                  <a:extLst>
                    <a:ext uri="{A12FA001-AC4F-418D-AE19-62706E023703}">
                      <ns3:hlinkClr val="tx"/>
                    </a:ext>
                  </a:extLst>
                </a:hlinkClick>
              </a:rPr>
              <a:t>Tuổi Trẻ — già hóa nhanh nhất châu Á</a:t>
            </a:r>
            <a:r>
              <a:rPr lang="en-US" sz="1050" i="1" dirty="0">
                <a:solidFill>
                  <a:srgbClr val="5C7370"/>
                </a:solidFill>
                <a:latin typeface="Segoe UI" pitchFamily="34" charset="0"/>
                <a:ea typeface="Segoe UI" pitchFamily="34" charset="-122"/>
                <a:cs typeface="Segoe UI" pitchFamily="34" charset="-120"/>
              </a:rPr>
              <a:t>  ·  Lượt khám BHYT: nhóm tổng hợp, 2026</a:t>
            </a:r>
            <a:endParaRPr lang="en-US" sz="10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86"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16" fill="hold">
                      <ns0:stCondLst>
                        <ns0:cond delay="indefinite"/>
                      </ns0:stCondLst>
                      <ns0:childTnLst>
                        <ns0:par>
                          <ns0:cTn id="17" fill="hold">
                            <ns0:stCondLst>
                              <ns0:cond delay="0"/>
                            </ns0:stCondLst>
                            <ns0:childTnLst>
                              <ns0:par>
                                <ns0:cTn id="18" presetID="42" presetClass="entr" presetSubtype="0" fill="hold" grpId="0" nodeType="clickEffect">
                                  <ns0:stCondLst>
                                    <ns0:cond delay="0"/>
                                  </ns0:stCondLst>
                                  <ns0:childTnLst>
                                    <ns0:set>
                                      <ns0:cBhvr>
                                        <ns0:cTn id="19" dur="1" fill="hold">
                                          <ns0:stCondLst>
                                            <ns0:cond delay="0"/>
                                          </ns0:stCondLst>
                                        </ns0:cTn>
                                        <ns0:tgtEl>
                                          <ns0:spTgt spid="10"/>
                                        </ns0:tgtEl>
                                        <ns0:attrNameLst>
                                          <ns0:attrName>style.visibility</ns0:attrName>
                                        </ns0:attrNameLst>
                                      </ns0:cBhvr>
                                      <ns0:to>
                                        <ns0:strVal val="visible"/>
                                      </ns0:to>
                                    </ns0:set>
                                    <ns0:animEffect transition="in" filter="fade">
                                      <ns0:cBhvr>
                                        <ns0:cTn id="20" dur="500"/>
                                        <ns0:tgtEl>
                                          <ns0:spTgt spid="10"/>
                                        </ns0:tgtEl>
                                      </ns0:cBhvr>
                                    </ns0:animEffect>
                                    <ns0:anim calcmode="lin" valueType="num">
                                      <ns0:cBhvr additive="base">
                                        <ns0:cTn id="21"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2" presetID="42" presetClass="entr" presetSubtype="0" fill="hold" grpId="0" nodeType="withEffect">
                                  <ns0:stCondLst>
                                    <ns0:cond delay="100"/>
                                  </ns0:stCondLst>
                                  <ns0:childTnLst>
                                    <ns0:set>
                                      <ns0:cBhvr>
                                        <ns0:cTn id="23" dur="1" fill="hold">
                                          <ns0:stCondLst>
                                            <ns0:cond delay="0"/>
                                          </ns0:stCondLst>
                                        </ns0:cTn>
                                        <ns0:tgtEl>
                                          <ns0:spTgt spid="11"/>
                                        </ns0:tgtEl>
                                        <ns0:attrNameLst>
                                          <ns0:attrName>style.visibility</ns0:attrName>
                                        </ns0:attrNameLst>
                                      </ns0:cBhvr>
                                      <ns0:to>
                                        <ns0:strVal val="visible"/>
                                      </ns0:to>
                                    </ns0:set>
                                    <ns0:animEffect transition="in" filter="fade">
                                      <ns0:cBhvr>
                                        <ns0:cTn id="24" dur="500"/>
                                        <ns0:tgtEl>
                                          <ns0:spTgt spid="11"/>
                                        </ns0:tgtEl>
                                      </ns0:cBhvr>
                                    </ns0:animEffect>
                                    <ns0:anim calcmode="lin" valueType="num">
                                      <ns0:cBhvr additive="base">
                                        <ns0:cTn id="25"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26" presetID="42" presetClass="entr" presetSubtype="0" fill="hold" grpId="0" nodeType="withEffect">
                                  <ns0:stCondLst>
                                    <ns0:cond delay="20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3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34" fill="hold">
                      <ns0:stCondLst>
                        <ns0:cond delay="indefinite"/>
                      </ns0:stCondLst>
                      <ns0:childTnLst>
                        <ns0:par>
                          <ns0:cTn id="35" fill="hold">
                            <ns0:stCondLst>
                              <ns0:cond delay="0"/>
                            </ns0:stCondLst>
                            <ns0:childTnLst>
                              <ns0:par>
                                <ns0:cTn id="36" presetID="42" presetClass="entr" presetSubtype="0" fill="hold" grpId="0" nodeType="clickEffect">
                                  <ns0:stCondLst>
                                    <ns0:cond delay="0"/>
                                  </ns0:stCondLst>
                                  <ns0:childTnLst>
                                    <ns0:set>
                                      <ns0:cBhvr>
                                        <ns0:cTn id="37" dur="1" fill="hold">
                                          <ns0:stCondLst>
                                            <ns0:cond delay="0"/>
                                          </ns0:stCondLst>
                                        </ns0:cTn>
                                        <ns0:tgtEl>
                                          <ns0:spTgt spid="14"/>
                                        </ns0:tgtEl>
                                        <ns0:attrNameLst>
                                          <ns0:attrName>style.visibility</ns0:attrName>
                                        </ns0:attrNameLst>
                                      </ns0:cBhvr>
                                      <ns0:to>
                                        <ns0:strVal val="visible"/>
                                      </ns0:to>
                                    </ns0:set>
                                    <ns0:animEffect transition="in" filter="fade">
                                      <ns0:cBhvr>
                                        <ns0:cTn id="38" dur="500"/>
                                        <ns0:tgtEl>
                                          <ns0:spTgt spid="14"/>
                                        </ns0:tgtEl>
                                      </ns0:cBhvr>
                                    </ns0:animEffect>
                                    <ns0:anim calcmode="lin" valueType="num">
                                      <ns0:cBhvr additive="base">
                                        <ns0:cTn id="39"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40" presetID="42" presetClass="entr" presetSubtype="0" fill="hold" grpId="0" nodeType="withEffect">
                                  <ns0:stCondLst>
                                    <ns0:cond delay="100"/>
                                  </ns0:stCondLst>
                                  <ns0:childTnLst>
                                    <ns0:set>
                                      <ns0:cBhvr>
                                        <ns0:cTn id="41" dur="1" fill="hold">
                                          <ns0:stCondLst>
                                            <ns0:cond delay="0"/>
                                          </ns0:stCondLst>
                                        </ns0:cTn>
                                        <ns0:tgtEl>
                                          <ns0:spTgt spid="15"/>
                                        </ns0:tgtEl>
                                        <ns0:attrNameLst>
                                          <ns0:attrName>style.visibility</ns0:attrName>
                                        </ns0:attrNameLst>
                                      </ns0:cBhvr>
                                      <ns0:to>
                                        <ns0:strVal val="visible"/>
                                      </ns0:to>
                                    </ns0:set>
                                    <ns0:animEffect transition="in" filter="fade">
                                      <ns0:cBhvr>
                                        <ns0:cTn id="42" dur="500"/>
                                        <ns0:tgtEl>
                                          <ns0:spTgt spid="15"/>
                                        </ns0:tgtEl>
                                      </ns0:cBhvr>
                                    </ns0:animEffect>
                                    <ns0:anim calcmode="lin" valueType="num">
                                      <ns0:cBhvr additive="base">
                                        <ns0:cTn id="43"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4" presetID="42" presetClass="entr" presetSubtype="0" fill="hold" grpId="0" nodeType="withEffect">
                                  <ns0:stCondLst>
                                    <ns0:cond delay="200"/>
                                  </ns0:stCondLst>
                                  <ns0:childTnLst>
                                    <ns0:set>
                                      <ns0:cBhvr>
                                        <ns0:cTn id="45" dur="1" fill="hold">
                                          <ns0:stCondLst>
                                            <ns0:cond delay="0"/>
                                          </ns0:stCondLst>
                                        </ns0:cTn>
                                        <ns0:tgtEl>
                                          <ns0:spTgt spid="16"/>
                                        </ns0:tgtEl>
                                        <ns0:attrNameLst>
                                          <ns0:attrName>style.visibility</ns0:attrName>
                                        </ns0:attrNameLst>
                                      </ns0:cBhvr>
                                      <ns0:to>
                                        <ns0:strVal val="visible"/>
                                      </ns0:to>
                                    </ns0:set>
                                    <ns0:animEffect transition="in" filter="fade">
                                      <ns0:cBhvr>
                                        <ns0:cTn id="46" dur="500"/>
                                        <ns0:tgtEl>
                                          <ns0:spTgt spid="16"/>
                                        </ns0:tgtEl>
                                      </ns0:cBhvr>
                                    </ns0:animEffect>
                                    <ns0:anim calcmode="lin" valueType="num">
                                      <ns0:cBhvr additive="base">
                                        <ns0:cTn id="47"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par>
                                <ns0:cTn id="48" presetID="42" presetClass="entr" presetSubtype="0" fill="hold" grpId="0" nodeType="withEffect">
                                  <ns0:stCondLst>
                                    <ns0:cond delay="300"/>
                                  </ns0:stCondLst>
                                  <ns0:childTnLst>
                                    <ns0:set>
                                      <ns0:cBhvr>
                                        <ns0:cTn id="49" dur="1" fill="hold">
                                          <ns0:stCondLst>
                                            <ns0:cond delay="0"/>
                                          </ns0:stCondLst>
                                        </ns0:cTn>
                                        <ns0:tgtEl>
                                          <ns0:spTgt spid="17"/>
                                        </ns0:tgtEl>
                                        <ns0:attrNameLst>
                                          <ns0:attrName>style.visibility</ns0:attrName>
                                        </ns0:attrNameLst>
                                      </ns0:cBhvr>
                                      <ns0:to>
                                        <ns0:strVal val="visible"/>
                                      </ns0:to>
                                    </ns0:set>
                                    <ns0:animEffect transition="in" filter="fade">
                                      <ns0:cBhvr>
                                        <ns0:cTn id="50" dur="500"/>
                                        <ns0:tgtEl>
                                          <ns0:spTgt spid="17"/>
                                        </ns0:tgtEl>
                                      </ns0:cBhvr>
                                    </ns0:animEffect>
                                    <ns0:anim calcmode="lin" valueType="num">
                                      <ns0:cBhvr additive="base">
                                        <ns0:cTn id="51"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52" fill="hold">
                      <ns0:stCondLst>
                        <ns0:cond delay="indefinite"/>
                      </ns0:stCondLst>
                      <ns0:childTnLst>
                        <ns0:par>
                          <ns0:cTn id="53" fill="hold">
                            <ns0:stCondLst>
                              <ns0:cond delay="0"/>
                            </ns0:stCondLst>
                            <ns0:childTnLst>
                              <ns0:par>
                                <ns0:cTn id="54" presetID="42" presetClass="entr" presetSubtype="0" fill="hold" grpId="0" nodeType="clickEffect">
                                  <ns0:stCondLst>
                                    <ns0:cond delay="0"/>
                                  </ns0:stCondLst>
                                  <ns0:childTnLst>
                                    <ns0:set>
                                      <ns0:cBhvr>
                                        <ns0:cTn id="55" dur="1" fill="hold">
                                          <ns0:stCondLst>
                                            <ns0:cond delay="0"/>
                                          </ns0:stCondLst>
                                        </ns0:cTn>
                                        <ns0:tgtEl>
                                          <ns0:spTgt spid="18"/>
                                        </ns0:tgtEl>
                                        <ns0:attrNameLst>
                                          <ns0:attrName>style.visibility</ns0:attrName>
                                        </ns0:attrNameLst>
                                      </ns0:cBhvr>
                                      <ns0:to>
                                        <ns0:strVal val="visible"/>
                                      </ns0:to>
                                    </ns0:set>
                                    <ns0:animEffect transition="in" filter="fade">
                                      <ns0:cBhvr>
                                        <ns0:cTn id="56" dur="500"/>
                                        <ns0:tgtEl>
                                          <ns0:spTgt spid="18"/>
                                        </ns0:tgtEl>
                                      </ns0:cBhvr>
                                    </ns0:animEffect>
                                    <ns0:anim calcmode="lin" valueType="num">
                                      <ns0:cBhvr additive="base">
                                        <ns0:cTn id="57"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8" presetID="42" presetClass="entr" presetSubtype="0" fill="hold" grpId="0" nodeType="withEffect">
                                  <ns0:stCondLst>
                                    <ns0:cond delay="150"/>
                                  </ns0:stCondLst>
                                  <ns0:childTnLst>
                                    <ns0:set>
                                      <ns0:cBhvr>
                                        <ns0:cTn id="59" dur="1" fill="hold">
                                          <ns0:stCondLst>
                                            <ns0:cond delay="0"/>
                                          </ns0:stCondLst>
                                        </ns0:cTn>
                                        <ns0:tgtEl>
                                          <ns0:spTgt spid="19"/>
                                        </ns0:tgtEl>
                                        <ns0:attrNameLst>
                                          <ns0:attrName>style.visibility</ns0:attrName>
                                        </ns0:attrNameLst>
                                      </ns0:cBhvr>
                                      <ns0:to>
                                        <ns0:strVal val="visible"/>
                                      </ns0:to>
                                    </ns0:set>
                                    <ns0:animEffect transition="in" filter="fade">
                                      <ns0:cBhvr>
                                        <ns0:cTn id="60" dur="500"/>
                                        <ns0:tgtEl>
                                          <ns0:spTgt spid="19"/>
                                        </ns0:tgtEl>
                                      </ns0:cBhvr>
                                    </ns0:animEffect>
                                    <ns0:anim calcmode="lin" valueType="num">
                                      <ns0:cBhvr additive="base">
                                        <ns0:cTn id="61"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2" presetID="42" presetClass="entr" presetSubtype="0" fill="hold" grpId="0" nodeType="withEffect">
                                  <ns0:stCondLst>
                                    <ns0:cond delay="300"/>
                                  </ns0:stCondLst>
                                  <ns0:childTnLst>
                                    <ns0:set>
                                      <ns0:cBhvr>
                                        <ns0:cTn id="63" dur="1" fill="hold">
                                          <ns0:stCondLst>
                                            <ns0:cond delay="0"/>
                                          </ns0:stCondLst>
                                        </ns0:cTn>
                                        <ns0:tgtEl>
                                          <ns0:spTgt spid="20"/>
                                        </ns0:tgtEl>
                                        <ns0:attrNameLst>
                                          <ns0:attrName>style.visibility</ns0:attrName>
                                        </ns0:attrNameLst>
                                      </ns0:cBhvr>
                                      <ns0:to>
                                        <ns0:strVal val="visible"/>
                                      </ns0:to>
                                    </ns0:set>
                                    <ns0:animEffect transition="in" filter="fade">
                                      <ns0:cBhvr>
                                        <ns0:cTn id="64" dur="500"/>
                                        <ns0:tgtEl>
                                          <ns0:spTgt spid="20"/>
                                        </ns0:tgtEl>
                                      </ns0:cBhvr>
                                    </ns0:animEffect>
                                    <ns0:anim calcmode="lin" valueType="num">
                                      <ns0:cBhvr additive="base">
                                        <ns0:cTn id="65"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66" presetID="42" presetClass="entr" presetSubtype="0" fill="hold" grpId="0" nodeType="withEffect">
                                  <ns0:stCondLst>
                                    <ns0:cond delay="380"/>
                                  </ns0:stCondLst>
                                  <ns0:childTnLst>
                                    <ns0:set>
                                      <ns0:cBhvr>
                                        <ns0:cTn id="67" dur="1" fill="hold">
                                          <ns0:stCondLst>
                                            <ns0:cond delay="0"/>
                                          </ns0:stCondLst>
                                        </ns0:cTn>
                                        <ns0:tgtEl>
                                          <ns0:spTgt spid="21"/>
                                        </ns0:tgtEl>
                                        <ns0:attrNameLst>
                                          <ns0:attrName>style.visibility</ns0:attrName>
                                        </ns0:attrNameLst>
                                      </ns0:cBhvr>
                                      <ns0:to>
                                        <ns0:strVal val="visible"/>
                                      </ns0:to>
                                    </ns0:set>
                                    <ns0:animEffect transition="in" filter="fade">
                                      <ns0:cBhvr>
                                        <ns0:cTn id="68" dur="500"/>
                                        <ns0:tgtEl>
                                          <ns0:spTgt spid="21"/>
                                        </ns0:tgtEl>
                                      </ns0:cBhvr>
                                    </ns0:animEffect>
                                    <ns0:anim calcmode="lin" valueType="num">
                                      <ns0:cBhvr additive="base">
                                        <ns0:cTn id="69"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par>
                                <ns0:cTn id="70" presetID="42" presetClass="entr" presetSubtype="0" fill="hold" grpId="0" nodeType="withEffect">
                                  <ns0:stCondLst>
                                    <ns0:cond delay="460"/>
                                  </ns0:stCondLst>
                                  <ns0:childTnLst>
                                    <ns0:set>
                                      <ns0:cBhvr>
                                        <ns0:cTn id="71" dur="1" fill="hold">
                                          <ns0:stCondLst>
                                            <ns0:cond delay="0"/>
                                          </ns0:stCondLst>
                                        </ns0:cTn>
                                        <ns0:tgtEl>
                                          <ns0:spTgt spid="22"/>
                                        </ns0:tgtEl>
                                        <ns0:attrNameLst>
                                          <ns0:attrName>style.visibility</ns0:attrName>
                                        </ns0:attrNameLst>
                                      </ns0:cBhvr>
                                      <ns0:to>
                                        <ns0:strVal val="visible"/>
                                      </ns0:to>
                                    </ns0:set>
                                    <ns0:animEffect transition="in" filter="fade">
                                      <ns0:cBhvr>
                                        <ns0:cTn id="72" dur="500"/>
                                        <ns0:tgtEl>
                                          <ns0:spTgt spid="22"/>
                                        </ns0:tgtEl>
                                      </ns0:cBhvr>
                                    </ns0:animEffect>
                                    <ns0:anim calcmode="lin" valueType="num">
                                      <ns0:cBhvr additive="base">
                                        <ns0:cTn id="73"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par>
                                <ns0:cTn id="74" presetID="42" presetClass="entr" presetSubtype="0" fill="hold" grpId="0" nodeType="withEffect">
                                  <ns0:stCondLst>
                                    <ns0:cond delay="54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par>
                                <ns0:cTn id="78" presetID="42" presetClass="entr" presetSubtype="0" fill="hold" grpId="0" nodeType="withEffect">
                                  <ns0:stCondLst>
                                    <ns0:cond delay="620"/>
                                  </ns0:stCondLst>
                                  <ns0:childTnLst>
                                    <ns0:set>
                                      <ns0:cBhvr>
                                        <ns0:cTn id="79" dur="1" fill="hold">
                                          <ns0:stCondLst>
                                            <ns0:cond delay="0"/>
                                          </ns0:stCondLst>
                                        </ns0:cTn>
                                        <ns0:tgtEl>
                                          <ns0:spTgt spid="24"/>
                                        </ns0:tgtEl>
                                        <ns0:attrNameLst>
                                          <ns0:attrName>style.visibility</ns0:attrName>
                                        </ns0:attrNameLst>
                                      </ns0:cBhvr>
                                      <ns0:to>
                                        <ns0:strVal val="visible"/>
                                      </ns0:to>
                                    </ns0:set>
                                    <ns0:animEffect transition="in" filter="fade">
                                      <ns0:cBhvr>
                                        <ns0:cTn id="80" dur="500"/>
                                        <ns0:tgtEl>
                                          <ns0:spTgt spid="24"/>
                                        </ns0:tgtEl>
                                      </ns0:cBhvr>
                                    </ns0:animEffect>
                                    <ns0:anim calcmode="lin" valueType="num">
                                      <ns0:cBhvr additive="base">
                                        <ns0:cTn id="81" dur="500" fill="hold"/>
                                        <ns0:tgtEl>
                                          <ns0:spTgt spid="24"/>
                                        </ns0:tgtEl>
                                        <ns0:attrNameLst>
                                          <ns0:attrName>ppt_y</ns0:attrName>
                                        </ns0:attrNameLst>
                                      </ns0:cBhvr>
                                      <ns0:tavLst>
                                        <ns0:tav tm="0">
                                          <ns0:val>
                                            <ns0:strVal val="#ppt_y+0.018"/>
                                          </ns0:val>
                                        </ns0:tav>
                                        <ns0:tav tm="100000">
                                          <ns0:val>
                                            <ns0:strVal val="#ppt_y"/>
                                          </ns0:val>
                                        </ns0:tav>
                                      </ns0:tavLst>
                                    </ns0:anim>
                                  </ns0:childTnLst>
                                </ns0:cTn>
                              </ns0:par>
                              <ns0:par>
                                <ns0:cTn id="82" presetID="42" presetClass="entr" presetSubtype="0" fill="hold" grpId="0" nodeType="withEffect">
                                  <ns0:stCondLst>
                                    <ns0:cond delay="700"/>
                                  </ns0:stCondLst>
                                  <ns0:childTnLst>
                                    <ns0:set>
                                      <ns0:cBhvr>
                                        <ns0:cTn id="83" dur="1" fill="hold">
                                          <ns0:stCondLst>
                                            <ns0:cond delay="0"/>
                                          </ns0:stCondLst>
                                        </ns0:cTn>
                                        <ns0:tgtEl>
                                          <ns0:spTgt spid="25"/>
                                        </ns0:tgtEl>
                                        <ns0:attrNameLst>
                                          <ns0:attrName>style.visibility</ns0:attrName>
                                        </ns0:attrNameLst>
                                      </ns0:cBhvr>
                                      <ns0:to>
                                        <ns0:strVal val="visible"/>
                                      </ns0:to>
                                    </ns0:set>
                                    <ns0:animEffect transition="in" filter="fade">
                                      <ns0:cBhvr>
                                        <ns0:cTn id="84" dur="500"/>
                                        <ns0:tgtEl>
                                          <ns0:spTgt spid="25"/>
                                        </ns0:tgtEl>
                                      </ns0:cBhvr>
                                    </ns0:animEffect>
                                    <ns0:anim calcmode="lin" valueType="num">
                                      <ns0:cBhvr additive="base">
                                        <ns0:cTn id="85" dur="500" fill="hold"/>
                                        <ns0:tgtEl>
                                          <ns0:spTgt spid="25"/>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P spid="24" grpId="0"/>
      <ns0:bldP spid="25" grpId="0"/>
    </ns0:bldLst>
  </ns0:timing>
</ns0:sld>
</file>

<file path=ppt/slides/slide3.xml><?xml version="1.0" encoding="utf-8"?>
<ns0:sld xmlns:a="http://schemas.openxmlformats.org/drawingml/2006/main" xmlns:ns0="http://schemas.openxmlformats.org/presentationml/2006/main" xmlns:ns2="http://schemas.openxmlformats.org/drawingml/2006/chart" xmlns:ns3="http://schemas.openxmlformats.org/officeDocument/2006/relationships" xmlns:ns4="http://schemas.microsoft.com/office/drawing/2018/hyperlinkcolor">
  <ns0:cSld name="Slide 3">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CƠ HỘI THỊ TRƯỜNG</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Chi tiêu sức khỏe tăng đều — Việt Nam là “ngôi sao tăng trưởng” wellness của châu Á</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03</a:t>
            </a:r>
            <a:endParaRPr lang="en-US" sz="1050" dirty="0"/>
          </a:p>
        </ns0:txBody>
      </ns0:sp>
      <ns0:sp>
        <ns0:nvSpPr>
          <ns0:cNvPr id="7" name="Shape 5"/>
          <ns0:cNvSpPr/>
          <ns0:nvPr/>
        </ns0:nvSpPr>
        <ns0:spPr>
          <a:xfrm>
            <a:off x="502920" y="1737360"/>
            <a:ext cx="5943600" cy="4434840"/>
          </a:xfrm>
          <a:prstGeom prst="roundRect">
            <a:avLst>
              <a:gd name="adj" fmla="val 1856"/>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Text 6"/>
          <ns0:cNvSpPr/>
          <ns0:nvPr/>
        </ns0:nvSpPr>
        <ns0:spPr>
          <a:xfrm>
            <a:off x="822960" y="1938528"/>
            <a:ext cx="5303520" cy="320040"/>
          </a:xfrm>
          <a:prstGeom prst="rect">
            <a:avLst/>
          </a:prstGeom>
          <a:noFill/>
          <a:ln/>
        </ns0:spPr>
        <ns0:txBody>
          <a:bodyPr wrap="square" lIns="0" tIns="0" rIns="0" bIns="0" rtlCol="0" anchor="ctr"/>
          <a:lstStyle/>
          <a:p>
            <a:pPr indent="0" marL="0">
              <a:buNone/>
            </a:pPr>
            <a:r>
              <a:rPr lang="en-US" sz="1400" b="1" dirty="0">
                <a:solidFill>
                  <a:srgbClr val="16302B"/>
                </a:solidFill>
                <a:latin typeface="Segoe UI" pitchFamily="34" charset="0"/>
                <a:ea typeface="Segoe UI" pitchFamily="34" charset="-122"/>
                <a:cs typeface="Segoe UI" pitchFamily="34" charset="-120"/>
              </a:rPr>
              <a:t>Chi tiêu y tế Việt Nam (tỷ USD)</a:t>
            </a:r>
            <a:endParaRPr lang="en-US" sz="1400" dirty="0"/>
          </a:p>
        </ns0:txBody>
      </ns0:sp>
      <ns0:graphicFrame>
        <ns0:nvGraphicFramePr>
          <ns0:cNvPr id="9" name="Chart 0" descr=""/>
          <ns0:cNvGraphicFramePr/>
          <ns0:nvPr/>
        </ns0:nvGraphicFramePr>
        <ns0:xfrm>
          <a:off x="777240" y="2331720"/>
          <a:ext cx="5394960" cy="3520440"/>
        </ns0:xfrm>
        <a:graphic>
          <a:graphicData uri="http://schemas.openxmlformats.org/drawingml/2006/chart">
            <ns2:chart ns3:id="rId1"/>
          </a:graphicData>
        </a:graphic>
      </ns0:graphicFrame>
      <ns0:sp>
        <ns0:nvSpPr>
          <ns0:cNvPr id="10" name="Shape 7"/>
          <ns0:cNvSpPr/>
          <ns0:nvPr/>
        </ns0:nvSpPr>
        <ns0:spPr>
          <a:xfrm>
            <a:off x="6812280" y="1737360"/>
            <a:ext cx="4873752" cy="1371600"/>
          </a:xfrm>
          <a:prstGeom prst="roundRect">
            <a:avLst>
              <a:gd name="adj" fmla="val 6000"/>
            </a:avLst>
          </a:prstGeom>
          <a:solidFill>
            <a:srgbClr val="F4FAF8"/>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1" name="Text 8"/>
          <ns0:cNvSpPr/>
          <ns0:nvPr/>
        </ns0:nvSpPr>
        <ns0:spPr>
          <a:xfrm>
            <a:off x="7086600" y="1865376"/>
            <a:ext cx="4389120" cy="914400"/>
          </a:xfrm>
          <a:prstGeom prst="rect">
            <a:avLst/>
          </a:prstGeom>
          <a:noFill/>
          <a:ln/>
        </ns0:spPr>
        <ns0:txBody>
          <a:bodyPr wrap="square" lIns="0" tIns="0" rIns="0" bIns="0" rtlCol="0" anchor="t"/>
          <a:lstStyle/>
          <a:p>
            <a:pPr indent="0" marL="0">
              <a:lnSpc>
                <a:spcPct val="110000"/>
              </a:lnSpc>
              <a:buNone/>
            </a:pPr>
            <a:r>
              <a:rPr lang="en-US" sz="2500" b="1" dirty="0">
                <a:solidFill>
                  <a:srgbClr val="E8590C"/>
                </a:solidFill>
                <a:latin typeface="Segoe UI" pitchFamily="34" charset="0"/>
                <a:ea typeface="Segoe UI" pitchFamily="34" charset="-122"/>
                <a:cs typeface="Segoe UI" pitchFamily="34" charset="-120"/>
              </a:rPr>
              <a:t>6.300 tỷ USD   </a:t>
            </a:r>
            <a:r>
              <a:rPr lang="en-US" sz="1150" dirty="0">
                <a:solidFill>
                  <a:srgbClr val="5C7370"/>
                </a:solidFill>
                <a:latin typeface="Segoe UI" pitchFamily="34" charset="0"/>
                <a:ea typeface="Segoe UI" pitchFamily="34" charset="-122"/>
                <a:cs typeface="Segoe UI" pitchFamily="34" charset="-120"/>
              </a:rPr>
              <a:t>quy mô kinh tế wellness toàn cầu (2023) — tăng nhanh hơn GDP thế giới</a:t>
            </a:r>
            <a:endParaRPr lang="en-US" sz="2500" dirty="0"/>
          </a:p>
        </ns0:txBody>
      </ns0:sp>
      <ns0:sp>
        <ns0:nvSpPr>
          <ns0:cNvPr id="12" name="Text 9"/>
          <ns0:cNvSpPr/>
          <ns0:nvPr/>
        </ns0:nvSpPr>
        <ns0:spPr>
          <a:xfrm>
            <a:off x="7086600" y="2770632"/>
            <a:ext cx="4389120" cy="256032"/>
          </a:xfrm>
          <a:prstGeom prst="rect">
            <a:avLst/>
          </a:prstGeom>
          <a:noFill/>
          <a:ln/>
        </ns0:spPr>
        <ns0:txBody>
          <a:bodyPr wrap="square" lIns="0" tIns="0" rIns="0" bIns="0" rtlCol="0" anchor="ctr"/>
          <a:lstStyle/>
          <a:p>
            <a:pPr indent="0" marL="0">
              <a:buNone/>
            </a:pPr>
            <a:r>
              <a:rPr lang="en-US" sz="1000" i="1" dirty="0">
                <a:solidFill>
                  <a:srgbClr val="0E7C6B"/>
                </a:solidFill>
                <a:latin typeface="Segoe UI" pitchFamily="34" charset="0"/>
                <a:ea typeface="Segoe UI" pitchFamily="34" charset="-122"/>
                <a:cs typeface="Segoe UI" pitchFamily="34" charset="-120"/>
              </a:rPr>
              <a:t>Nguồn: </a:t>
            </a:r>
            <a:r>
              <a:rPr lang="en-US" sz="1000" u="sng" dirty="0">
                <a:solidFill>
                  <a:srgbClr val="0E7C6B"/>
                </a:solidFill>
                <a:latin typeface="Segoe UI" pitchFamily="34" charset="0"/>
                <a:ea typeface="Segoe UI" pitchFamily="34" charset="-122"/>
                <a:cs typeface="Segoe UI" pitchFamily="34" charset="-120"/>
                <a:hlinkClick ns3:id="rId2" invalidUrl="" action="" tgtFrame="" tooltip="" history="1" highlightClick="0" endSnd="0">
                  <a:extLst>
                    <a:ext uri="{A12FA001-AC4F-418D-AE19-62706E023703}">
                      <ns4:hlinkClr val="tx"/>
                    </a:ext>
                  </a:extLst>
                </a:hlinkClick>
              </a:rPr>
              <a:t>Global Wellness Institute, 2024</a:t>
            </a:r>
            <a:endParaRPr lang="en-US" sz="1000" dirty="0"/>
          </a:p>
        </ns0:txBody>
      </ns0:sp>
      <ns0:sp>
        <ns0:nvSpPr>
          <ns0:cNvPr id="13" name="Shape 10"/>
          <ns0:cNvSpPr/>
          <ns0:nvPr/>
        </ns0:nvSpPr>
        <ns0:spPr>
          <a:xfrm>
            <a:off x="6812280" y="3273552"/>
            <a:ext cx="4873752" cy="1371600"/>
          </a:xfrm>
          <a:prstGeom prst="roundRect">
            <a:avLst>
              <a:gd name="adj" fmla="val 6000"/>
            </a:avLst>
          </a:prstGeom>
          <a:solidFill>
            <a:srgbClr val="F4FAF8"/>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4" name="Text 11"/>
          <ns0:cNvSpPr/>
          <ns0:nvPr/>
        </ns0:nvSpPr>
        <ns0:spPr>
          <a:xfrm>
            <a:off x="7086600" y="3401568"/>
            <a:ext cx="4389120" cy="914400"/>
          </a:xfrm>
          <a:prstGeom prst="rect">
            <a:avLst/>
          </a:prstGeom>
          <a:noFill/>
          <a:ln/>
        </ns0:spPr>
        <ns0:txBody>
          <a:bodyPr wrap="square" lIns="0" tIns="0" rIns="0" bIns="0" rtlCol="0" anchor="t"/>
          <a:lstStyle/>
          <a:p>
            <a:pPr indent="0" marL="0">
              <a:lnSpc>
                <a:spcPct val="110000"/>
              </a:lnSpc>
              <a:buNone/>
            </a:pPr>
            <a:r>
              <a:rPr lang="en-US" sz="2500" b="1" dirty="0">
                <a:solidFill>
                  <a:srgbClr val="E8590C"/>
                </a:solidFill>
                <a:latin typeface="Segoe UI" pitchFamily="34" charset="0"/>
                <a:ea typeface="Segoe UI" pitchFamily="34" charset="-122"/>
                <a:cs typeface="Segoe UI" pitchFamily="34" charset="-120"/>
              </a:rPr>
              <a:t>+15,6%/năm   </a:t>
            </a:r>
            <a:r>
              <a:rPr lang="en-US" sz="1150" dirty="0">
                <a:solidFill>
                  <a:srgbClr val="5C7370"/>
                </a:solidFill>
                <a:latin typeface="Segoe UI" pitchFamily="34" charset="0"/>
                <a:ea typeface="Segoe UI" pitchFamily="34" charset="-122"/>
                <a:cs typeface="Segoe UI" pitchFamily="34" charset="-120"/>
              </a:rPr>
              <a:t>tăng trưởng wellness của Việt Nam — cao nhất châu Á, trước Ấn Độ (8,1%) và Trung Quốc (7,6%)</a:t>
            </a:r>
            <a:endParaRPr lang="en-US" sz="2500" dirty="0"/>
          </a:p>
        </ns0:txBody>
      </ns0:sp>
      <ns0:sp>
        <ns0:nvSpPr>
          <ns0:cNvPr id="15" name="Text 12"/>
          <ns0:cNvSpPr/>
          <ns0:nvPr/>
        </ns0:nvSpPr>
        <ns0:spPr>
          <a:xfrm>
            <a:off x="7086600" y="4306824"/>
            <a:ext cx="4389120" cy="256032"/>
          </a:xfrm>
          <a:prstGeom prst="rect">
            <a:avLst/>
          </a:prstGeom>
          <a:noFill/>
          <a:ln/>
        </ns0:spPr>
        <ns0:txBody>
          <a:bodyPr wrap="square" lIns="0" tIns="0" rIns="0" bIns="0" rtlCol="0" anchor="ctr"/>
          <a:lstStyle/>
          <a:p>
            <a:pPr indent="0" marL="0">
              <a:buNone/>
            </a:pPr>
            <a:r>
              <a:rPr lang="en-US" sz="1000" i="1" dirty="0">
                <a:solidFill>
                  <a:srgbClr val="0E7C6B"/>
                </a:solidFill>
                <a:latin typeface="Segoe UI" pitchFamily="34" charset="0"/>
                <a:ea typeface="Segoe UI" pitchFamily="34" charset="-122"/>
                <a:cs typeface="Segoe UI" pitchFamily="34" charset="-120"/>
              </a:rPr>
              <a:t>Nguồn: </a:t>
            </a:r>
            <a:r>
              <a:rPr lang="en-US" sz="1000" u="sng" dirty="0">
                <a:solidFill>
                  <a:srgbClr val="0E7C6B"/>
                </a:solidFill>
                <a:latin typeface="Segoe UI" pitchFamily="34" charset="0"/>
                <a:ea typeface="Segoe UI" pitchFamily="34" charset="-122"/>
                <a:cs typeface="Segoe UI" pitchFamily="34" charset="-120"/>
                <a:hlinkClick ns3:id="rId3" invalidUrl="" action="" tgtFrame="" tooltip="" history="1" highlightClick="0" endSnd="0">
                  <a:extLst>
                    <a:ext uri="{A12FA001-AC4F-418D-AE19-62706E023703}">
                      <ns4:hlinkClr val="tx"/>
                    </a:ext>
                  </a:extLst>
                </a:hlinkClick>
              </a:rPr>
              <a:t>GWI Wellness Economy Monitor</a:t>
            </a:r>
            <a:endParaRPr lang="en-US" sz="1000" dirty="0"/>
          </a:p>
        </ns0:txBody>
      </ns0:sp>
      <ns0:sp>
        <ns0:nvSpPr>
          <ns0:cNvPr id="16" name="Shape 13"/>
          <ns0:cNvSpPr/>
          <ns0:nvPr/>
        </ns0:nvSpPr>
        <ns0:spPr>
          <a:xfrm>
            <a:off x="6812280" y="4809744"/>
            <a:ext cx="4873752" cy="1371600"/>
          </a:xfrm>
          <a:prstGeom prst="roundRect">
            <a:avLst>
              <a:gd name="adj" fmla="val 6000"/>
            </a:avLst>
          </a:prstGeom>
          <a:solidFill>
            <a:srgbClr val="F4FAF8"/>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7" name="Text 14"/>
          <ns0:cNvSpPr/>
          <ns0:nvPr/>
        </ns0:nvSpPr>
        <ns0:spPr>
          <a:xfrm>
            <a:off x="7086600" y="4937760"/>
            <a:ext cx="4389120" cy="914400"/>
          </a:xfrm>
          <a:prstGeom prst="rect">
            <a:avLst/>
          </a:prstGeom>
          <a:noFill/>
          <a:ln/>
        </ns0:spPr>
        <ns0:txBody>
          <a:bodyPr wrap="square" lIns="0" tIns="0" rIns="0" bIns="0" rtlCol="0" anchor="t"/>
          <a:lstStyle/>
          <a:p>
            <a:pPr indent="0" marL="0">
              <a:lnSpc>
                <a:spcPct val="110000"/>
              </a:lnSpc>
              <a:buNone/>
            </a:pPr>
            <a:r>
              <a:rPr lang="en-US" sz="2500" b="1" dirty="0">
                <a:solidFill>
                  <a:srgbClr val="E8590C"/>
                </a:solidFill>
                <a:latin typeface="Segoe UI" pitchFamily="34" charset="0"/>
                <a:ea typeface="Segoe UI" pitchFamily="34" charset="-122"/>
                <a:cs typeface="Segoe UI" pitchFamily="34" charset="-120"/>
              </a:rPr>
              <a:t>1,4 tỷ USD   </a:t>
            </a:r>
            <a:r>
              <a:rPr lang="en-US" sz="1150" dirty="0">
                <a:solidFill>
                  <a:srgbClr val="5C7370"/>
                </a:solidFill>
                <a:latin typeface="Segoe UI" pitchFamily="34" charset="0"/>
                <a:ea typeface="Segoe UI" pitchFamily="34" charset="-122"/>
                <a:cs typeface="Segoe UI" pitchFamily="34" charset="-120"/>
              </a:rPr>
              <a:t>doanh thu spa Việt Nam 2023 — top 20 thị trường toàn cầu, từ 850 triệu USD (2019)</a:t>
            </a:r>
            <a:endParaRPr lang="en-US" sz="2500" dirty="0"/>
          </a:p>
        </ns0:txBody>
      </ns0:sp>
      <ns0:sp>
        <ns0:nvSpPr>
          <ns0:cNvPr id="18" name="Text 15"/>
          <ns0:cNvSpPr/>
          <ns0:nvPr/>
        </ns0:nvSpPr>
        <ns0:spPr>
          <a:xfrm>
            <a:off x="7086600" y="5843016"/>
            <a:ext cx="4389120" cy="256032"/>
          </a:xfrm>
          <a:prstGeom prst="rect">
            <a:avLst/>
          </a:prstGeom>
          <a:noFill/>
          <a:ln/>
        </ns0:spPr>
        <ns0:txBody>
          <a:bodyPr wrap="square" lIns="0" tIns="0" rIns="0" bIns="0" rtlCol="0" anchor="ctr"/>
          <a:lstStyle/>
          <a:p>
            <a:pPr indent="0" marL="0">
              <a:buNone/>
            </a:pPr>
            <a:r>
              <a:rPr lang="en-US" sz="1000" i="1" dirty="0">
                <a:solidFill>
                  <a:srgbClr val="0E7C6B"/>
                </a:solidFill>
                <a:latin typeface="Segoe UI" pitchFamily="34" charset="0"/>
                <a:ea typeface="Segoe UI" pitchFamily="34" charset="-122"/>
                <a:cs typeface="Segoe UI" pitchFamily="34" charset="-120"/>
              </a:rPr>
              <a:t>Nguồn: </a:t>
            </a:r>
            <a:r>
              <a:rPr lang="en-US" sz="1000" u="sng" dirty="0">
                <a:solidFill>
                  <a:srgbClr val="0E7C6B"/>
                </a:solidFill>
                <a:latin typeface="Segoe UI" pitchFamily="34" charset="0"/>
                <a:ea typeface="Segoe UI" pitchFamily="34" charset="-122"/>
                <a:cs typeface="Segoe UI" pitchFamily="34" charset="-120"/>
                <a:hlinkClick ns3:id="rId4" invalidUrl="" action="" tgtFrame="" tooltip="" history="1" highlightClick="0" endSnd="0">
                  <a:extLst>
                    <a:ext uri="{A12FA001-AC4F-418D-AE19-62706E023703}">
                      <ns4:hlinkClr val="tx"/>
                    </a:ext>
                  </a:extLst>
                </a:hlinkClick>
              </a:rPr>
              <a:t>Nikkei Asia, 1/2025</a:t>
            </a:r>
            <a:endParaRPr lang="en-US" sz="1000" dirty="0"/>
          </a:p>
        </ns0:txBody>
      </ns0:sp>
      <ns0:sp>
        <ns0:nvSpPr>
          <ns0:cNvPr id="19" name="Text 16"/>
          <ns0:cNvSpPr/>
          <ns0:nvPr/>
        </ns0:nvSpPr>
        <ns0:spPr>
          <a:xfrm>
            <a:off x="502920" y="638251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Nguồn: </a:t>
            </a:r>
            <a:r>
              <a:rPr lang="en-US" sz="1050" u="sng" dirty="0">
                <a:solidFill>
                  <a:srgbClr val="0E7C6B"/>
                </a:solidFill>
                <a:latin typeface="Segoe UI" pitchFamily="34" charset="0"/>
                <a:ea typeface="Segoe UI" pitchFamily="34" charset="-122"/>
                <a:cs typeface="Segoe UI" pitchFamily="34" charset="-120"/>
                <a:hlinkClick ns3:id="rId5" invalidUrl="" action="" tgtFrame="" tooltip="" history="1" highlightClick="0" endSnd="0">
                  <a:extLst>
                    <a:ext uri="{A12FA001-AC4F-418D-AE19-62706E023703}">
                      <ns4:hlinkClr val="tx"/>
                    </a:ext>
                  </a:extLst>
                </a:hlinkClick>
              </a:rPr>
              <a:t>VnExpress, 24/12/2025</a:t>
            </a:r>
            <a:r>
              <a:rPr lang="en-US" sz="1050" i="1" dirty="0">
                <a:solidFill>
                  <a:srgbClr val="5C7370"/>
                </a:solidFill>
                <a:latin typeface="Segoe UI" pitchFamily="34" charset="0"/>
                <a:ea typeface="Segoe UI" pitchFamily="34" charset="-122"/>
                <a:cs typeface="Segoe UI" pitchFamily="34" charset="-120"/>
              </a:rPr>
              <a:t> (chi tiêu y tế)  ·  GWI 2024  ·  Nikkei Asia</a:t>
            </a:r>
            <a:endParaRPr lang="en-US" sz="10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58"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16" fill="hold">
                      <ns0:stCondLst>
                        <ns0:cond delay="indefinite"/>
                      </ns0:stCondLst>
                      <ns0:childTnLst>
                        <ns0:par>
                          <ns0:cTn id="17" fill="hold">
                            <ns0:stCondLst>
                              <ns0:cond delay="0"/>
                            </ns0:stCondLst>
                            <ns0:childTnLst>
                              <ns0:par>
                                <ns0:cTn id="18" presetID="42" presetClass="entr" presetSubtype="0" fill="hold" grpId="0" nodeType="clickEffect">
                                  <ns0:stCondLst>
                                    <ns0:cond delay="0"/>
                                  </ns0:stCondLst>
                                  <ns0:childTnLst>
                                    <ns0:set>
                                      <ns0:cBhvr>
                                        <ns0:cTn id="19" dur="1" fill="hold">
                                          <ns0:stCondLst>
                                            <ns0:cond delay="0"/>
                                          </ns0:stCondLst>
                                        </ns0:cTn>
                                        <ns0:tgtEl>
                                          <ns0:spTgt spid="10"/>
                                        </ns0:tgtEl>
                                        <ns0:attrNameLst>
                                          <ns0:attrName>style.visibility</ns0:attrName>
                                        </ns0:attrNameLst>
                                      </ns0:cBhvr>
                                      <ns0:to>
                                        <ns0:strVal val="visible"/>
                                      </ns0:to>
                                    </ns0:set>
                                    <ns0:animEffect transition="in" filter="fade">
                                      <ns0:cBhvr>
                                        <ns0:cTn id="20" dur="500"/>
                                        <ns0:tgtEl>
                                          <ns0:spTgt spid="10"/>
                                        </ns0:tgtEl>
                                      </ns0:cBhvr>
                                    </ns0:animEffect>
                                    <ns0:anim calcmode="lin" valueType="num">
                                      <ns0:cBhvr additive="base">
                                        <ns0:cTn id="21"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2" presetID="42" presetClass="entr" presetSubtype="0" fill="hold" grpId="0" nodeType="withEffect">
                                  <ns0:stCondLst>
                                    <ns0:cond delay="100"/>
                                  </ns0:stCondLst>
                                  <ns0:childTnLst>
                                    <ns0:set>
                                      <ns0:cBhvr>
                                        <ns0:cTn id="23" dur="1" fill="hold">
                                          <ns0:stCondLst>
                                            <ns0:cond delay="0"/>
                                          </ns0:stCondLst>
                                        </ns0:cTn>
                                        <ns0:tgtEl>
                                          <ns0:spTgt spid="11"/>
                                        </ns0:tgtEl>
                                        <ns0:attrNameLst>
                                          <ns0:attrName>style.visibility</ns0:attrName>
                                        </ns0:attrNameLst>
                                      </ns0:cBhvr>
                                      <ns0:to>
                                        <ns0:strVal val="visible"/>
                                      </ns0:to>
                                    </ns0:set>
                                    <ns0:animEffect transition="in" filter="fade">
                                      <ns0:cBhvr>
                                        <ns0:cTn id="24" dur="500"/>
                                        <ns0:tgtEl>
                                          <ns0:spTgt spid="11"/>
                                        </ns0:tgtEl>
                                      </ns0:cBhvr>
                                    </ns0:animEffect>
                                    <ns0:anim calcmode="lin" valueType="num">
                                      <ns0:cBhvr additive="base">
                                        <ns0:cTn id="25"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26" presetID="42" presetClass="entr" presetSubtype="0" fill="hold" grpId="0" nodeType="withEffect">
                                  <ns0:stCondLst>
                                    <ns0:cond delay="20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30" fill="hold">
                      <ns0:stCondLst>
                        <ns0:cond delay="indefinite"/>
                      </ns0:stCondLst>
                      <ns0:childTnLst>
                        <ns0:par>
                          <ns0:cTn id="31" fill="hold">
                            <ns0:stCondLst>
                              <ns0:cond delay="0"/>
                            </ns0:stCondLst>
                            <ns0:childTnLst>
                              <ns0:par>
                                <ns0:cTn id="32" presetID="42" presetClass="entr" presetSubtype="0" fill="hold" grpId="0" nodeType="clickEffect">
                                  <ns0:stCondLst>
                                    <ns0:cond delay="0"/>
                                  </ns0:stCondLst>
                                  <ns0:childTnLst>
                                    <ns0:set>
                                      <ns0:cBhvr>
                                        <ns0:cTn id="33" dur="1" fill="hold">
                                          <ns0:stCondLst>
                                            <ns0:cond delay="0"/>
                                          </ns0:stCondLst>
                                        </ns0:cTn>
                                        <ns0:tgtEl>
                                          <ns0:spTgt spid="13"/>
                                        </ns0:tgtEl>
                                        <ns0:attrNameLst>
                                          <ns0:attrName>style.visibility</ns0:attrName>
                                        </ns0:attrNameLst>
                                      </ns0:cBhvr>
                                      <ns0:to>
                                        <ns0:strVal val="visible"/>
                                      </ns0:to>
                                    </ns0:set>
                                    <ns0:animEffect transition="in" filter="fade">
                                      <ns0:cBhvr>
                                        <ns0:cTn id="34" dur="500"/>
                                        <ns0:tgtEl>
                                          <ns0:spTgt spid="13"/>
                                        </ns0:tgtEl>
                                      </ns0:cBhvr>
                                    </ns0:animEffect>
                                    <ns0:anim calcmode="lin" valueType="num">
                                      <ns0:cBhvr additive="base">
                                        <ns0:cTn id="35"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6" presetID="42" presetClass="entr" presetSubtype="0" fill="hold" grpId="0" nodeType="withEffect">
                                  <ns0:stCondLst>
                                    <ns0:cond delay="100"/>
                                  </ns0:stCondLst>
                                  <ns0:childTnLst>
                                    <ns0:set>
                                      <ns0:cBhvr>
                                        <ns0:cTn id="37" dur="1" fill="hold">
                                          <ns0:stCondLst>
                                            <ns0:cond delay="0"/>
                                          </ns0:stCondLst>
                                        </ns0:cTn>
                                        <ns0:tgtEl>
                                          <ns0:spTgt spid="14"/>
                                        </ns0:tgtEl>
                                        <ns0:attrNameLst>
                                          <ns0:attrName>style.visibility</ns0:attrName>
                                        </ns0:attrNameLst>
                                      </ns0:cBhvr>
                                      <ns0:to>
                                        <ns0:strVal val="visible"/>
                                      </ns0:to>
                                    </ns0:set>
                                    <ns0:animEffect transition="in" filter="fade">
                                      <ns0:cBhvr>
                                        <ns0:cTn id="38" dur="500"/>
                                        <ns0:tgtEl>
                                          <ns0:spTgt spid="14"/>
                                        </ns0:tgtEl>
                                      </ns0:cBhvr>
                                    </ns0:animEffect>
                                    <ns0:anim calcmode="lin" valueType="num">
                                      <ns0:cBhvr additive="base">
                                        <ns0:cTn id="39"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40" presetID="42" presetClass="entr" presetSubtype="0" fill="hold" grpId="0" nodeType="withEffect">
                                  <ns0:stCondLst>
                                    <ns0:cond delay="200"/>
                                  </ns0:stCondLst>
                                  <ns0:childTnLst>
                                    <ns0:set>
                                      <ns0:cBhvr>
                                        <ns0:cTn id="41" dur="1" fill="hold">
                                          <ns0:stCondLst>
                                            <ns0:cond delay="0"/>
                                          </ns0:stCondLst>
                                        </ns0:cTn>
                                        <ns0:tgtEl>
                                          <ns0:spTgt spid="15"/>
                                        </ns0:tgtEl>
                                        <ns0:attrNameLst>
                                          <ns0:attrName>style.visibility</ns0:attrName>
                                        </ns0:attrNameLst>
                                      </ns0:cBhvr>
                                      <ns0:to>
                                        <ns0:strVal val="visible"/>
                                      </ns0:to>
                                    </ns0:set>
                                    <ns0:animEffect transition="in" filter="fade">
                                      <ns0:cBhvr>
                                        <ns0:cTn id="42" dur="500"/>
                                        <ns0:tgtEl>
                                          <ns0:spTgt spid="15"/>
                                        </ns0:tgtEl>
                                      </ns0:cBhvr>
                                    </ns0:animEffect>
                                    <ns0:anim calcmode="lin" valueType="num">
                                      <ns0:cBhvr additive="base">
                                        <ns0:cTn id="43"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44" fill="hold">
                      <ns0:stCondLst>
                        <ns0:cond delay="indefinite"/>
                      </ns0:stCondLst>
                      <ns0:childTnLst>
                        <ns0:par>
                          <ns0:cTn id="45" fill="hold">
                            <ns0:stCondLst>
                              <ns0:cond delay="0"/>
                            </ns0:stCondLst>
                            <ns0:childTnLst>
                              <ns0:par>
                                <ns0:cTn id="46" presetID="42" presetClass="entr" presetSubtype="0" fill="hold" grpId="0" nodeType="clickEffect">
                                  <ns0:stCondLst>
                                    <ns0:cond delay="0"/>
                                  </ns0:stCondLst>
                                  <ns0:childTnLst>
                                    <ns0:set>
                                      <ns0:cBhvr>
                                        <ns0:cTn id="47" dur="1" fill="hold">
                                          <ns0:stCondLst>
                                            <ns0:cond delay="0"/>
                                          </ns0:stCondLst>
                                        </ns0:cTn>
                                        <ns0:tgtEl>
                                          <ns0:spTgt spid="16"/>
                                        </ns0:tgtEl>
                                        <ns0:attrNameLst>
                                          <ns0:attrName>style.visibility</ns0:attrName>
                                        </ns0:attrNameLst>
                                      </ns0:cBhvr>
                                      <ns0:to>
                                        <ns0:strVal val="visible"/>
                                      </ns0:to>
                                    </ns0:set>
                                    <ns0:animEffect transition="in" filter="fade">
                                      <ns0:cBhvr>
                                        <ns0:cTn id="48" dur="500"/>
                                        <ns0:tgtEl>
                                          <ns0:spTgt spid="16"/>
                                        </ns0:tgtEl>
                                      </ns0:cBhvr>
                                    </ns0:animEffect>
                                    <ns0:anim calcmode="lin" valueType="num">
                                      <ns0:cBhvr additive="base">
                                        <ns0:cTn id="49"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par>
                                <ns0:cTn id="50" presetID="42" presetClass="entr" presetSubtype="0" fill="hold" grpId="0" nodeType="withEffect">
                                  <ns0:stCondLst>
                                    <ns0:cond delay="100"/>
                                  </ns0:stCondLst>
                                  <ns0:childTnLst>
                                    <ns0:set>
                                      <ns0:cBhvr>
                                        <ns0:cTn id="51" dur="1" fill="hold">
                                          <ns0:stCondLst>
                                            <ns0:cond delay="0"/>
                                          </ns0:stCondLst>
                                        </ns0:cTn>
                                        <ns0:tgtEl>
                                          <ns0:spTgt spid="17"/>
                                        </ns0:tgtEl>
                                        <ns0:attrNameLst>
                                          <ns0:attrName>style.visibility</ns0:attrName>
                                        </ns0:attrNameLst>
                                      </ns0:cBhvr>
                                      <ns0:to>
                                        <ns0:strVal val="visible"/>
                                      </ns0:to>
                                    </ns0:set>
                                    <ns0:animEffect transition="in" filter="fade">
                                      <ns0:cBhvr>
                                        <ns0:cTn id="52" dur="500"/>
                                        <ns0:tgtEl>
                                          <ns0:spTgt spid="17"/>
                                        </ns0:tgtEl>
                                      </ns0:cBhvr>
                                    </ns0:animEffect>
                                    <ns0:anim calcmode="lin" valueType="num">
                                      <ns0:cBhvr additive="base">
                                        <ns0:cTn id="53"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54" presetID="42" presetClass="entr" presetSubtype="0" fill="hold" grpId="0" nodeType="withEffect">
                                  <ns0:stCondLst>
                                    <ns0:cond delay="200"/>
                                  </ns0:stCondLst>
                                  <ns0:childTnLst>
                                    <ns0:set>
                                      <ns0:cBhvr>
                                        <ns0:cTn id="55" dur="1" fill="hold">
                                          <ns0:stCondLst>
                                            <ns0:cond delay="0"/>
                                          </ns0:stCondLst>
                                        </ns0:cTn>
                                        <ns0:tgtEl>
                                          <ns0:spTgt spid="18"/>
                                        </ns0:tgtEl>
                                        <ns0:attrNameLst>
                                          <ns0:attrName>style.visibility</ns0:attrName>
                                        </ns0:attrNameLst>
                                      </ns0:cBhvr>
                                      <ns0:to>
                                        <ns0:strVal val="visible"/>
                                      </ns0:to>
                                    </ns0:set>
                                    <ns0:animEffect transition="in" filter="fade">
                                      <ns0:cBhvr>
                                        <ns0:cTn id="56" dur="500"/>
                                        <ns0:tgtEl>
                                          <ns0:spTgt spid="18"/>
                                        </ns0:tgtEl>
                                      </ns0:cBhvr>
                                    </ns0:animEffect>
                                    <ns0:anim calcmode="lin" valueType="num">
                                      <ns0:cBhvr additive="base">
                                        <ns0:cTn id="57"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Graphic spid="9" grpId="0">
        <ns0:bldAsOne/>
      </ns0:bldGraphic>
      <ns0:bldP spid="10" grpId="0"/>
      <ns0:bldP spid="11" grpId="0"/>
      <ns0:bldP spid="12" grpId="0"/>
      <ns0:bldP spid="13" grpId="0"/>
      <ns0:bldP spid="14" grpId="0"/>
      <ns0:bldP spid="15" grpId="0"/>
      <ns0:bldP spid="16" grpId="0"/>
      <ns0:bldP spid="17" grpId="0"/>
      <ns0:bldP spid="18" grpId="0"/>
    </ns0:bldLst>
  </ns0:timing>
</ns0:sld>
</file>

<file path=ppt/slides/slide4.xml><?xml version="1.0" encoding="utf-8"?>
<ns0:sld xmlns:a="http://schemas.openxmlformats.org/drawingml/2006/main" xmlns:ns0="http://schemas.openxmlformats.org/presentationml/2006/main" xmlns:ns2="http://schemas.openxmlformats.org/officeDocument/2006/relationships" xmlns:ns3="http://schemas.microsoft.com/office/drawing/2018/hyperlinkcolor">
  <ns0:cSld name="Slide 4">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KHÁCH HÀNG MỤC TIÊU</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Ba nhóm khách, một nhu cầu chung: chạm trị liệu định kỳ, thuận tiện và đáng tin</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04</a:t>
            </a:r>
            <a:endParaRPr lang="en-US" sz="1050" dirty="0"/>
          </a:p>
        </ns0:txBody>
      </ns0:sp>
      <ns0:sp>
        <ns0:nvSpPr>
          <ns0:cNvPr id="7" name="Shape 5"/>
          <ns0:cNvSpPr/>
          <ns0:nvPr/>
        </ns0:nvSpPr>
        <ns0:spPr>
          <a:xfrm>
            <a:off x="502920" y="1783080"/>
            <a:ext cx="3593592" cy="3017520"/>
          </a:xfrm>
          <a:prstGeom prst="roundRect">
            <a:avLst>
              <a:gd name="adj" fmla="val 2727"/>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Shape 6"/>
          <ns0:cNvSpPr/>
          <ns0:nvPr/>
        </ns0:nvSpPr>
        <ns0:spPr>
          <a:xfrm>
            <a:off x="758952" y="2011680"/>
            <a:ext cx="1078992" cy="310896"/>
          </a:xfrm>
          <a:prstGeom prst="roundRect">
            <a:avLst>
              <a:gd name="adj" fmla="val 50000"/>
            </a:avLst>
          </a:prstGeom>
          <a:solidFill>
            <a:srgbClr val="E8F5F1"/>
          </a:solidFill>
          <a:ln/>
        </ns0:spPr>
      </ns0:sp>
      <ns0:sp>
        <ns0:nvSpPr>
          <ns0:cNvPr id="9" name="Text 7"/>
          <ns0:cNvSpPr/>
          <ns0:nvPr/>
        </ns0:nvSpPr>
        <ns0:spPr>
          <a:xfrm>
            <a:off x="758952" y="2011680"/>
            <a:ext cx="1078992" cy="310896"/>
          </a:xfrm>
          <a:prstGeom prst="rect">
            <a:avLst/>
          </a:prstGeom>
          <a:noFill/>
          <a:ln/>
        </ns0:spPr>
        <ns0:txBody>
          <a:bodyPr wrap="square" lIns="0" tIns="0" rIns="0" bIns="0" rtlCol="0" anchor="ctr"/>
          <a:lstStyle/>
          <a:p>
            <a:pPr algn="ctr" indent="0" marL="0">
              <a:buNone/>
            </a:pPr>
            <a:r>
              <a:rPr lang="en-US" sz="1000" b="1" dirty="0">
                <a:solidFill>
                  <a:srgbClr val="0E7C6B"/>
                </a:solidFill>
                <a:latin typeface="Segoe UI" pitchFamily="34" charset="0"/>
                <a:ea typeface="Segoe UI" pitchFamily="34" charset="-122"/>
                <a:cs typeface="Segoe UI" pitchFamily="34" charset="-120"/>
              </a:rPr>
              <a:t>Nhóm chính</a:t>
            </a:r>
            <a:endParaRPr lang="en-US" sz="1000" dirty="0"/>
          </a:p>
        </ns0:txBody>
      </ns0:sp>
      <ns0:sp>
        <ns0:nvSpPr>
          <ns0:cNvPr id="10" name="Text 8"/>
          <ns0:cNvSpPr/>
          <ns0:nvPr/>
        </ns0:nvSpPr>
        <ns0:spPr>
          <a:xfrm>
            <a:off x="758952" y="2432304"/>
            <a:ext cx="3108960" cy="365760"/>
          </a:xfrm>
          <a:prstGeom prst="rect">
            <a:avLst/>
          </a:prstGeom>
          <a:noFill/>
          <a:ln/>
        </ns0:spPr>
        <ns0:txBody>
          <a:bodyPr wrap="square" lIns="0" tIns="0" rIns="0" bIns="0" rtlCol="0" anchor="ctr"/>
          <a:lstStyle/>
          <a:p>
            <a:pPr indent="0" marL="0">
              <a:buNone/>
            </a:pPr>
            <a:r>
              <a:rPr lang="en-US" sz="1500" b="1" dirty="0">
                <a:solidFill>
                  <a:srgbClr val="16302B"/>
                </a:solidFill>
                <a:latin typeface="Segoe UI" pitchFamily="34" charset="0"/>
                <a:ea typeface="Segoe UI" pitchFamily="34" charset="-122"/>
                <a:cs typeface="Segoe UI" pitchFamily="34" charset="-120"/>
              </a:rPr>
              <a:t>TRUNG NIÊN 40–60 TUỔI</a:t>
            </a:r>
            <a:endParaRPr lang="en-US" sz="1500" dirty="0"/>
          </a:p>
        </ns0:txBody>
      </ns0:sp>
      <ns0:sp>
        <ns0:nvSpPr>
          <ns0:cNvPr id="11" name="Text 9"/>
          <ns0:cNvSpPr/>
          <ns0:nvPr/>
        </ns0:nvSpPr>
        <ns0:spPr>
          <a:xfrm>
            <a:off x="758952" y="2871216"/>
            <a:ext cx="3154680" cy="1828800"/>
          </a:xfrm>
          <a:prstGeom prst="rect">
            <a:avLst/>
          </a:prstGeom>
          <a:noFill/>
          <a:ln/>
        </ns0:spPr>
        <ns0:txBody>
          <a:bodyPr wrap="square" lIns="0" tIns="0" rIns="0" bIns="0" rtlCol="0" anchor="t"/>
          <a:lstStyle/>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Thu nhập ổn định nhất, bắt đầu đau nhức cơ – xương khớp</a:t>
            </a:r>
            <a:endParaRPr lang="en-US" sz="1150" dirty="0"/>
          </a:p>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Người quyết định dịch vụ cho cả cha mẹ già</a:t>
            </a:r>
            <a:endParaRPr lang="en-US" sz="1150" dirty="0"/>
          </a:p>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Chuộng gói định kỳ — tiếp cận qua Zalo, Facebook, giới thiệu</a:t>
            </a:r>
            <a:endParaRPr lang="en-US" sz="1150" dirty="0"/>
          </a:p>
        </ns0:txBody>
      </ns0:sp>
      <ns0:sp>
        <ns0:nvSpPr>
          <ns0:cNvPr id="12" name="Shape 10"/>
          <ns0:cNvSpPr/>
          <ns0:nvPr/>
        </ns0:nvSpPr>
        <ns0:spPr>
          <a:xfrm>
            <a:off x="4279392" y="1783080"/>
            <a:ext cx="3593592" cy="3017520"/>
          </a:xfrm>
          <a:prstGeom prst="roundRect">
            <a:avLst>
              <a:gd name="adj" fmla="val 2727"/>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3" name="Shape 11"/>
          <ns0:cNvSpPr/>
          <ns0:nvPr/>
        </ns0:nvSpPr>
        <ns0:spPr>
          <a:xfrm>
            <a:off x="4535424" y="2011680"/>
            <a:ext cx="1078992" cy="310896"/>
          </a:xfrm>
          <a:prstGeom prst="roundRect">
            <a:avLst>
              <a:gd name="adj" fmla="val 50000"/>
            </a:avLst>
          </a:prstGeom>
          <a:solidFill>
            <a:srgbClr val="F4FAF8"/>
          </a:solidFill>
          <a:ln/>
        </ns0:spPr>
      </ns0:sp>
      <ns0:sp>
        <ns0:nvSpPr>
          <ns0:cNvPr id="14" name="Text 12"/>
          <ns0:cNvSpPr/>
          <ns0:nvPr/>
        </ns0:nvSpPr>
        <ns0:spPr>
          <a:xfrm>
            <a:off x="4535424" y="2011680"/>
            <a:ext cx="1078992" cy="310896"/>
          </a:xfrm>
          <a:prstGeom prst="rect">
            <a:avLst/>
          </a:prstGeom>
          <a:noFill/>
          <a:ln/>
        </ns0:spPr>
        <ns0:txBody>
          <a:bodyPr wrap="square" lIns="0" tIns="0" rIns="0" bIns="0" rtlCol="0" anchor="ctr"/>
          <a:lstStyle/>
          <a:p>
            <a:pPr algn="ctr" indent="0" marL="0">
              <a:buNone/>
            </a:pPr>
            <a:r>
              <a:rPr lang="en-US" sz="1000" b="1" dirty="0">
                <a:solidFill>
                  <a:srgbClr val="2AA88F"/>
                </a:solidFill>
                <a:latin typeface="Segoe UI" pitchFamily="34" charset="0"/>
                <a:ea typeface="Segoe UI" pitchFamily="34" charset="-122"/>
                <a:cs typeface="Segoe UI" pitchFamily="34" charset="-120"/>
              </a:rPr>
              <a:t>Nhóm phụ</a:t>
            </a:r>
            <a:endParaRPr lang="en-US" sz="1000" dirty="0"/>
          </a:p>
        </ns0:txBody>
      </ns0:sp>
      <ns0:sp>
        <ns0:nvSpPr>
          <ns0:cNvPr id="15" name="Text 13"/>
          <ns0:cNvSpPr/>
          <ns0:nvPr/>
        </ns0:nvSpPr>
        <ns0:spPr>
          <a:xfrm>
            <a:off x="4535424" y="2432304"/>
            <a:ext cx="3108960" cy="365760"/>
          </a:xfrm>
          <a:prstGeom prst="rect">
            <a:avLst/>
          </a:prstGeom>
          <a:noFill/>
          <a:ln/>
        </ns0:spPr>
        <ns0:txBody>
          <a:bodyPr wrap="square" lIns="0" tIns="0" rIns="0" bIns="0" rtlCol="0" anchor="ctr"/>
          <a:lstStyle/>
          <a:p>
            <a:pPr indent="0" marL="0">
              <a:buNone/>
            </a:pPr>
            <a:r>
              <a:rPr lang="en-US" sz="1500" b="1" dirty="0">
                <a:solidFill>
                  <a:srgbClr val="16302B"/>
                </a:solidFill>
                <a:latin typeface="Segoe UI" pitchFamily="34" charset="0"/>
                <a:ea typeface="Segoe UI" pitchFamily="34" charset="-122"/>
                <a:cs typeface="Segoe UI" pitchFamily="34" charset="-120"/>
              </a:rPr>
              <a:t>NHÂN VIÊN VĂN PHÒNG</a:t>
            </a:r>
            <a:endParaRPr lang="en-US" sz="1500" dirty="0"/>
          </a:p>
        </ns0:txBody>
      </ns0:sp>
      <ns0:sp>
        <ns0:nvSpPr>
          <ns0:cNvPr id="16" name="Text 14"/>
          <ns0:cNvSpPr/>
          <ns0:nvPr/>
        </ns0:nvSpPr>
        <ns0:spPr>
          <a:xfrm>
            <a:off x="4535424" y="2871216"/>
            <a:ext cx="3154680" cy="1828800"/>
          </a:xfrm>
          <a:prstGeom prst="rect">
            <a:avLst/>
          </a:prstGeom>
          <a:noFill/>
          <a:ln/>
        </ns0:spPr>
        <ns0:txBody>
          <a:bodyPr wrap="square" lIns="0" tIns="0" rIns="0" bIns="0" rtlCol="0" anchor="t"/>
          <a:lstStyle/>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Đau cổ vai gáy nghề nghiệp, bận rộn</a:t>
            </a:r>
            <a:endParaRPr lang="en-US" sz="1150" dirty="0"/>
          </a:p>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Mua lẻ ban đầu, chuyển dần sang gói combo</a:t>
            </a:r>
            <a:endParaRPr lang="en-US" sz="1150" dirty="0"/>
          </a:p>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Cần khung giờ sớm – tối và phục vụ nhanh</a:t>
            </a:r>
            <a:endParaRPr lang="en-US" sz="1150" dirty="0"/>
          </a:p>
        </ns0:txBody>
      </ns0:sp>
      <ns0:sp>
        <ns0:nvSpPr>
          <ns0:cNvPr id="17" name="Shape 15"/>
          <ns0:cNvSpPr/>
          <ns0:nvPr/>
        </ns0:nvSpPr>
        <ns0:spPr>
          <a:xfrm>
            <a:off x="8055864" y="1783080"/>
            <a:ext cx="3593592" cy="3017520"/>
          </a:xfrm>
          <a:prstGeom prst="roundRect">
            <a:avLst>
              <a:gd name="adj" fmla="val 2727"/>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8" name="Shape 16"/>
          <ns0:cNvSpPr/>
          <ns0:nvPr/>
        </ns0:nvSpPr>
        <ns0:spPr>
          <a:xfrm>
            <a:off x="8311896" y="2011680"/>
            <a:ext cx="1078992" cy="310896"/>
          </a:xfrm>
          <a:prstGeom prst="roundRect">
            <a:avLst>
              <a:gd name="adj" fmla="val 50000"/>
            </a:avLst>
          </a:prstGeom>
          <a:solidFill>
            <a:srgbClr val="FDEBDD"/>
          </a:solidFill>
          <a:ln/>
        </ns0:spPr>
      </ns0:sp>
      <ns0:sp>
        <ns0:nvSpPr>
          <ns0:cNvPr id="19" name="Text 17"/>
          <ns0:cNvSpPr/>
          <ns0:nvPr/>
        </ns0:nvSpPr>
        <ns0:spPr>
          <a:xfrm>
            <a:off x="8311896" y="2011680"/>
            <a:ext cx="1078992" cy="310896"/>
          </a:xfrm>
          <a:prstGeom prst="rect">
            <a:avLst/>
          </a:prstGeom>
          <a:noFill/>
          <a:ln/>
        </ns0:spPr>
        <ns0:txBody>
          <a:bodyPr wrap="square" lIns="0" tIns="0" rIns="0" bIns="0" rtlCol="0" anchor="ctr"/>
          <a:lstStyle/>
          <a:p>
            <a:pPr algn="ctr" indent="0" marL="0">
              <a:buNone/>
            </a:pPr>
            <a:r>
              <a:rPr lang="en-US" sz="1000" b="1" dirty="0">
                <a:solidFill>
                  <a:srgbClr val="E8590C"/>
                </a:solidFill>
                <a:latin typeface="Segoe UI" pitchFamily="34" charset="0"/>
                <a:ea typeface="Segoe UI" pitchFamily="34" charset="-122"/>
                <a:cs typeface="Segoe UI" pitchFamily="34" charset="-120"/>
              </a:rPr>
              <a:t>Nhóm phụ</a:t>
            </a:r>
            <a:endParaRPr lang="en-US" sz="1000" dirty="0"/>
          </a:p>
        </ns0:txBody>
      </ns0:sp>
      <ns0:sp>
        <ns0:nvSpPr>
          <ns0:cNvPr id="20" name="Text 18"/>
          <ns0:cNvSpPr/>
          <ns0:nvPr/>
        </ns0:nvSpPr>
        <ns0:spPr>
          <a:xfrm>
            <a:off x="8311896" y="2432304"/>
            <a:ext cx="3108960" cy="365760"/>
          </a:xfrm>
          <a:prstGeom prst="rect">
            <a:avLst/>
          </a:prstGeom>
          <a:noFill/>
          <a:ln/>
        </ns0:spPr>
        <ns0:txBody>
          <a:bodyPr wrap="square" lIns="0" tIns="0" rIns="0" bIns="0" rtlCol="0" anchor="ctr"/>
          <a:lstStyle/>
          <a:p>
            <a:pPr indent="0" marL="0">
              <a:buNone/>
            </a:pPr>
            <a:r>
              <a:rPr lang="en-US" sz="1500" b="1" dirty="0">
                <a:solidFill>
                  <a:srgbClr val="16302B"/>
                </a:solidFill>
                <a:latin typeface="Segoe UI" pitchFamily="34" charset="0"/>
                <a:ea typeface="Segoe UI" pitchFamily="34" charset="-122"/>
                <a:cs typeface="Segoe UI" pitchFamily="34" charset="-120"/>
              </a:rPr>
              <a:t>NGƯỜI CAO TUỔI</a:t>
            </a:r>
            <a:endParaRPr lang="en-US" sz="1500" dirty="0"/>
          </a:p>
        </ns0:txBody>
      </ns0:sp>
      <ns0:sp>
        <ns0:nvSpPr>
          <ns0:cNvPr id="21" name="Text 19"/>
          <ns0:cNvSpPr/>
          <ns0:nvPr/>
        </ns0:nvSpPr>
        <ns0:spPr>
          <a:xfrm>
            <a:off x="8311896" y="2871216"/>
            <a:ext cx="3154680" cy="1828800"/>
          </a:xfrm>
          <a:prstGeom prst="rect">
            <a:avLst/>
          </a:prstGeom>
          <a:noFill/>
          <a:ln/>
        </ns0:spPr>
        <ns0:txBody>
          <a:bodyPr wrap="square" lIns="0" tIns="0" rIns="0" bIns="0" rtlCol="0" anchor="t"/>
          <a:lstStyle/>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Nhiều bệnh mạn tính, khó di chuyển</a:t>
            </a:r>
            <a:endParaRPr lang="en-US" sz="1150" dirty="0"/>
          </a:p>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Tin tưởng y học cổ truyền từ lâu</a:t>
            </a:r>
            <a:endParaRPr lang="en-US" sz="1150" dirty="0"/>
          </a:p>
          <a:p>
            <a:pPr marL="152400" indent="-152400">
              <a:lnSpc>
                <a:spcPct val="112000"/>
              </a:lnSpc>
              <a:spcAft>
                <a:spcPts val="700"/>
              </a:spcAft>
              <a:buSzPct val="100000"/>
              <a:buChar char="▸"/>
            </a:pPr>
            <a:r>
              <a:rPr lang="en-US" sz="1150" dirty="0">
                <a:solidFill>
                  <a:srgbClr val="5C7370"/>
                </a:solidFill>
                <a:latin typeface="Segoe UI" pitchFamily="34" charset="0"/>
                <a:ea typeface="Segoe UI" pitchFamily="34" charset="-122"/>
                <a:cs typeface="Segoe UI" pitchFamily="34" charset="-120"/>
              </a:rPr>
              <a:t>Con cháu đặt và thanh toán hộ — trung thành cao nếu buổi đầu an toàn</a:t>
            </a:r>
            <a:endParaRPr lang="en-US" sz="1150" dirty="0"/>
          </a:p>
        </ns0:txBody>
      </ns0:sp>
      <ns0:sp>
        <ns0:nvSpPr>
          <ns0:cNvPr id="22" name="Shape 20"/>
          <ns0:cNvSpPr/>
          <ns0:nvPr/>
        </ns0:nvSpPr>
        <ns0:spPr>
          <a:xfrm>
            <a:off x="0" y="5349240"/>
            <a:ext cx="12188952" cy="685800"/>
          </a:xfrm>
          <a:prstGeom prst="rect">
            <a:avLst/>
          </a:prstGeom>
          <a:solidFill>
            <a:srgbClr val="E8F5F1"/>
          </a:solidFill>
          <a:ln/>
        </ns0:spPr>
      </ns0:sp>
      <ns0:sp>
        <ns0:nvSpPr>
          <ns0:cNvPr id="23" name="Text 21"/>
          <ns0:cNvSpPr/>
          <ns0:nvPr/>
        </ns0:nvSpPr>
        <ns0:spPr>
          <a:xfrm>
            <a:off x="502920" y="5349240"/>
            <a:ext cx="11183112" cy="685800"/>
          </a:xfrm>
          <a:prstGeom prst="rect">
            <a:avLst/>
          </a:prstGeom>
          <a:noFill/>
          <a:ln/>
        </ns0:spPr>
        <ns0:txBody>
          <a:bodyPr wrap="square" lIns="0" tIns="0" rIns="0" bIns="0" rtlCol="0" anchor="ctr"/>
          <a:lstStyle/>
          <a:p>
            <a:pPr indent="0" marL="0">
              <a:buNone/>
            </a:pPr>
            <a:r>
              <a:rPr lang="en-US" sz="1350" b="1" dirty="0">
                <a:solidFill>
                  <a:srgbClr val="16302B"/>
                </a:solidFill>
                <a:latin typeface="Segoe UI" pitchFamily="34" charset="0"/>
                <a:ea typeface="Segoe UI" pitchFamily="34" charset="-122"/>
                <a:cs typeface="Segoe UI" pitchFamily="34" charset="-120"/>
              </a:rPr>
              <a:t>Khả năng chi trả:  </a:t>
            </a:r>
            <a:r>
              <a:rPr lang="en-US" sz="1350" dirty="0">
                <a:solidFill>
                  <a:srgbClr val="16302B"/>
                </a:solidFill>
                <a:latin typeface="Segoe UI" pitchFamily="34" charset="0"/>
                <a:ea typeface="Segoe UI" pitchFamily="34" charset="-122"/>
                <a:cs typeface="Segoe UI" pitchFamily="34" charset="-120"/>
              </a:rPr>
              <a:t>thu nhập bình quân đầu người 2025 đạt 5,9 triệu đồng/tháng (+9,3% so với 2024) — mức giá 120.000–320.000 đ/phiên nằm trong tầm chi trả định kỳ của nhóm mục tiêu.  </a:t>
            </a:r>
            <a:r>
              <a:rPr lang="en-US" sz="1100" u="sng" dirty="0">
                <a:solidFill>
                  <a:srgbClr val="0E7C6B"/>
                </a:solidFill>
                <a:latin typeface="Segoe UI" pitchFamily="34" charset="0"/>
                <a:ea typeface="Segoe UI" pitchFamily="34" charset="-122"/>
                <a:cs typeface="Segoe UI" pitchFamily="34" charset="-120"/>
                <a:hlinkClick ns2:id="rId1" invalidUrl="" action="" tgtFrame="" tooltip="" history="1" highlightClick="0" endSnd="0">
                  <a:extLst>
                    <a:ext uri="{A12FA001-AC4F-418D-AE19-62706E023703}">
                      <ns3:hlinkClr val="tx"/>
                    </a:ext>
                  </a:extLst>
                </a:hlinkClick>
              </a:rPr>
              <a:t>Nguồn: Tổng cục Thống kê (gso.gov.vn)</a:t>
            </a:r>
            <a:endParaRPr lang="en-US" sz="13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78"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400"/>
                                  </ns0:stCondLst>
                                  <ns0:childTnLst>
                                    <ns0:set>
                                      <ns0:cBhvr>
                                        <ns0:cTn id="21" dur="1" fill="hold">
                                          <ns0:stCondLst>
                                            <ns0:cond delay="0"/>
                                          </ns0:stCondLst>
                                        </ns0:cTn>
                                        <ns0:tgtEl>
                                          <ns0:spTgt spid="11"/>
                                        </ns0:tgtEl>
                                        <ns0:attrNameLst>
                                          <ns0:attrName>style.visibility</ns0:attrName>
                                        </ns0:attrNameLst>
                                      </ns0:cBhvr>
                                      <ns0:to>
                                        <ns0:strVal val="visible"/>
                                      </ns0:to>
                                    </ns0:set>
                                    <ns0:animEffect transition="in" filter="fade">
                                      <ns0:cBhvr>
                                        <ns0:cTn id="22" dur="500"/>
                                        <ns0:tgtEl>
                                          <ns0:spTgt spid="11"/>
                                        </ns0:tgtEl>
                                      </ns0:cBhvr>
                                    </ns0:animEffect>
                                    <ns0:anim calcmode="lin" valueType="num">
                                      <ns0:cBhvr additive="base">
                                        <ns0:cTn id="2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4" fill="hold">
                      <ns0:stCondLst>
                        <ns0:cond delay="indefinite"/>
                      </ns0:stCondLst>
                      <ns0:childTnLst>
                        <ns0:par>
                          <ns0:cTn id="25" fill="hold">
                            <ns0:stCondLst>
                              <ns0:cond delay="0"/>
                            </ns0:stCondLst>
                            <ns0:childTnLst>
                              <ns0:par>
                                <ns0:cTn id="26" presetID="42" presetClass="entr" presetSubtype="0" fill="hold" grpId="0" nodeType="clickEffect">
                                  <ns0:stCondLst>
                                    <ns0:cond delay="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1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2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38" presetID="42" presetClass="entr" presetSubtype="0" fill="hold" grpId="0" nodeType="withEffect">
                                  <ns0:stCondLst>
                                    <ns0:cond delay="300"/>
                                  </ns0:stCondLst>
                                  <ns0:childTnLst>
                                    <ns0:set>
                                      <ns0:cBhvr>
                                        <ns0:cTn id="39" dur="1" fill="hold">
                                          <ns0:stCondLst>
                                            <ns0:cond delay="0"/>
                                          </ns0:stCondLst>
                                        </ns0:cTn>
                                        <ns0:tgtEl>
                                          <ns0:spTgt spid="15"/>
                                        </ns0:tgtEl>
                                        <ns0:attrNameLst>
                                          <ns0:attrName>style.visibility</ns0:attrName>
                                        </ns0:attrNameLst>
                                      </ns0:cBhvr>
                                      <ns0:to>
                                        <ns0:strVal val="visible"/>
                                      </ns0:to>
                                    </ns0:set>
                                    <ns0:animEffect transition="in" filter="fade">
                                      <ns0:cBhvr>
                                        <ns0:cTn id="40" dur="500"/>
                                        <ns0:tgtEl>
                                          <ns0:spTgt spid="15"/>
                                        </ns0:tgtEl>
                                      </ns0:cBhvr>
                                    </ns0:animEffect>
                                    <ns0:anim calcmode="lin" valueType="num">
                                      <ns0:cBhvr additive="base">
                                        <ns0:cTn id="4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2" presetID="42" presetClass="entr" presetSubtype="0" fill="hold" grpId="0" nodeType="withEffect">
                                  <ns0:stCondLst>
                                    <ns0:cond delay="400"/>
                                  </ns0:stCondLst>
                                  <ns0:childTnLst>
                                    <ns0:set>
                                      <ns0:cBhvr>
                                        <ns0:cTn id="43" dur="1" fill="hold">
                                          <ns0:stCondLst>
                                            <ns0:cond delay="0"/>
                                          </ns0:stCondLst>
                                        </ns0:cTn>
                                        <ns0:tgtEl>
                                          <ns0:spTgt spid="16"/>
                                        </ns0:tgtEl>
                                        <ns0:attrNameLst>
                                          <ns0:attrName>style.visibility</ns0:attrName>
                                        </ns0:attrNameLst>
                                      </ns0:cBhvr>
                                      <ns0:to>
                                        <ns0:strVal val="visible"/>
                                      </ns0:to>
                                    </ns0:set>
                                    <ns0:animEffect transition="in" filter="fade">
                                      <ns0:cBhvr>
                                        <ns0:cTn id="44" dur="500"/>
                                        <ns0:tgtEl>
                                          <ns0:spTgt spid="16"/>
                                        </ns0:tgtEl>
                                      </ns0:cBhvr>
                                    </ns0:animEffect>
                                    <ns0:anim calcmode="lin" valueType="num">
                                      <ns0:cBhvr additive="base">
                                        <ns0:cTn id="4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46" fill="hold">
                      <ns0:stCondLst>
                        <ns0:cond delay="indefinite"/>
                      </ns0:stCondLst>
                      <ns0:childTnLst>
                        <ns0:par>
                          <ns0:cTn id="47" fill="hold">
                            <ns0:stCondLst>
                              <ns0:cond delay="0"/>
                            </ns0:stCondLst>
                            <ns0:childTnLst>
                              <ns0:par>
                                <ns0:cTn id="48" presetID="42" presetClass="entr" presetSubtype="0" fill="hold" grpId="0" nodeType="clickEffect">
                                  <ns0:stCondLst>
                                    <ns0:cond delay="0"/>
                                  </ns0:stCondLst>
                                  <ns0:childTnLst>
                                    <ns0:set>
                                      <ns0:cBhvr>
                                        <ns0:cTn id="49" dur="1" fill="hold">
                                          <ns0:stCondLst>
                                            <ns0:cond delay="0"/>
                                          </ns0:stCondLst>
                                        </ns0:cTn>
                                        <ns0:tgtEl>
                                          <ns0:spTgt spid="17"/>
                                        </ns0:tgtEl>
                                        <ns0:attrNameLst>
                                          <ns0:attrName>style.visibility</ns0:attrName>
                                        </ns0:attrNameLst>
                                      </ns0:cBhvr>
                                      <ns0:to>
                                        <ns0:strVal val="visible"/>
                                      </ns0:to>
                                    </ns0:set>
                                    <ns0:animEffect transition="in" filter="fade">
                                      <ns0:cBhvr>
                                        <ns0:cTn id="50" dur="500"/>
                                        <ns0:tgtEl>
                                          <ns0:spTgt spid="17"/>
                                        </ns0:tgtEl>
                                      </ns0:cBhvr>
                                    </ns0:animEffect>
                                    <ns0:anim calcmode="lin" valueType="num">
                                      <ns0:cBhvr additive="base">
                                        <ns0:cTn id="51"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52" presetID="42" presetClass="entr" presetSubtype="0" fill="hold" grpId="0" nodeType="withEffect">
                                  <ns0:stCondLst>
                                    <ns0:cond delay="10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200"/>
                                  </ns0:stCondLst>
                                  <ns0:childTnLst>
                                    <ns0:set>
                                      <ns0:cBhvr>
                                        <ns0:cTn id="57" dur="1" fill="hold">
                                          <ns0:stCondLst>
                                            <ns0:cond delay="0"/>
                                          </ns0:stCondLst>
                                        </ns0:cTn>
                                        <ns0:tgtEl>
                                          <ns0:spTgt spid="19"/>
                                        </ns0:tgtEl>
                                        <ns0:attrNameLst>
                                          <ns0:attrName>style.visibility</ns0:attrName>
                                        </ns0:attrNameLst>
                                      </ns0:cBhvr>
                                      <ns0:to>
                                        <ns0:strVal val="visible"/>
                                      </ns0:to>
                                    </ns0:set>
                                    <ns0:animEffect transition="in" filter="fade">
                                      <ns0:cBhvr>
                                        <ns0:cTn id="58" dur="500"/>
                                        <ns0:tgtEl>
                                          <ns0:spTgt spid="19"/>
                                        </ns0:tgtEl>
                                      </ns0:cBhvr>
                                    </ns0:animEffect>
                                    <ns0:anim calcmode="lin" valueType="num">
                                      <ns0:cBhvr additive="base">
                                        <ns0:cTn id="59"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300"/>
                                  </ns0:stCondLst>
                                  <ns0:childTnLst>
                                    <ns0:set>
                                      <ns0:cBhvr>
                                        <ns0:cTn id="61" dur="1" fill="hold">
                                          <ns0:stCondLst>
                                            <ns0:cond delay="0"/>
                                          </ns0:stCondLst>
                                        </ns0:cTn>
                                        <ns0:tgtEl>
                                          <ns0:spTgt spid="20"/>
                                        </ns0:tgtEl>
                                        <ns0:attrNameLst>
                                          <ns0:attrName>style.visibility</ns0:attrName>
                                        </ns0:attrNameLst>
                                      </ns0:cBhvr>
                                      <ns0:to>
                                        <ns0:strVal val="visible"/>
                                      </ns0:to>
                                    </ns0:set>
                                    <ns0:animEffect transition="in" filter="fade">
                                      <ns0:cBhvr>
                                        <ns0:cTn id="62" dur="500"/>
                                        <ns0:tgtEl>
                                          <ns0:spTgt spid="20"/>
                                        </ns0:tgtEl>
                                      </ns0:cBhvr>
                                    </ns0:animEffect>
                                    <ns0:anim calcmode="lin" valueType="num">
                                      <ns0:cBhvr additive="base">
                                        <ns0:cTn id="63"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64" presetID="42" presetClass="entr" presetSubtype="0" fill="hold" grpId="0" nodeType="withEffect">
                                  <ns0:stCondLst>
                                    <ns0:cond delay="400"/>
                                  </ns0:stCondLst>
                                  <ns0:childTnLst>
                                    <ns0:set>
                                      <ns0:cBhvr>
                                        <ns0:cTn id="65" dur="1" fill="hold">
                                          <ns0:stCondLst>
                                            <ns0:cond delay="0"/>
                                          </ns0:stCondLst>
                                        </ns0:cTn>
                                        <ns0:tgtEl>
                                          <ns0:spTgt spid="21"/>
                                        </ns0:tgtEl>
                                        <ns0:attrNameLst>
                                          <ns0:attrName>style.visibility</ns0:attrName>
                                        </ns0:attrNameLst>
                                      </ns0:cBhvr>
                                      <ns0:to>
                                        <ns0:strVal val="visible"/>
                                      </ns0:to>
                                    </ns0:set>
                                    <ns0:animEffect transition="in" filter="fade">
                                      <ns0:cBhvr>
                                        <ns0:cTn id="66" dur="500"/>
                                        <ns0:tgtEl>
                                          <ns0:spTgt spid="21"/>
                                        </ns0:tgtEl>
                                      </ns0:cBhvr>
                                    </ns0:animEffect>
                                    <ns0:anim calcmode="lin" valueType="num">
                                      <ns0:cBhvr additive="base">
                                        <ns0:cTn id="67"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68" fill="hold">
                      <ns0:stCondLst>
                        <ns0:cond delay="indefinite"/>
                      </ns0:stCondLst>
                      <ns0:childTnLst>
                        <ns0:par>
                          <ns0:cTn id="69" fill="hold">
                            <ns0:stCondLst>
                              <ns0:cond delay="0"/>
                            </ns0:stCondLst>
                            <ns0:childTnLst>
                              <ns0:par>
                                <ns0:cTn id="70" presetID="42" presetClass="entr" presetSubtype="0" fill="hold" grpId="0" nodeType="clickEffect">
                                  <ns0:stCondLst>
                                    <ns0:cond delay="0"/>
                                  </ns0:stCondLst>
                                  <ns0:childTnLst>
                                    <ns0:set>
                                      <ns0:cBhvr>
                                        <ns0:cTn id="71" dur="1" fill="hold">
                                          <ns0:stCondLst>
                                            <ns0:cond delay="0"/>
                                          </ns0:stCondLst>
                                        </ns0:cTn>
                                        <ns0:tgtEl>
                                          <ns0:spTgt spid="22"/>
                                        </ns0:tgtEl>
                                        <ns0:attrNameLst>
                                          <ns0:attrName>style.visibility</ns0:attrName>
                                        </ns0:attrNameLst>
                                      </ns0:cBhvr>
                                      <ns0:to>
                                        <ns0:strVal val="visible"/>
                                      </ns0:to>
                                    </ns0:set>
                                    <ns0:animEffect transition="in" filter="fade">
                                      <ns0:cBhvr>
                                        <ns0:cTn id="72" dur="500"/>
                                        <ns0:tgtEl>
                                          <ns0:spTgt spid="22"/>
                                        </ns0:tgtEl>
                                      </ns0:cBhvr>
                                    </ns0:animEffect>
                                    <ns0:anim calcmode="lin" valueType="num">
                                      <ns0:cBhvr additive="base">
                                        <ns0:cTn id="73"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par>
                                <ns0:cTn id="74" presetID="42" presetClass="entr" presetSubtype="0" fill="hold" grpId="0" nodeType="withEffect">
                                  <ns0:stCondLst>
                                    <ns0:cond delay="10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Lst>
  </ns0:timing>
</ns0:sld>
</file>

<file path=ppt/slides/slide5.xml><?xml version="1.0" encoding="utf-8"?>
<ns0:sld xmlns:a="http://schemas.openxmlformats.org/drawingml/2006/main" xmlns:ns0="http://schemas.openxmlformats.org/presentationml/2006/main" xmlns:ns2="http://schemas.openxmlformats.org/officeDocument/2006/relationships" xmlns:ns3="http://schemas.microsoft.com/office/drawing/2018/hyperlinkcolor">
  <ns0:cSld name="Slide 5">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GIẢI PHÁP CARETOUCH</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Trị liệu cổ truyền có kiểm chứng — giá phải chăng, phục vụ tận giường, tận nhà</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05</a:t>
            </a:r>
            <a:endParaRPr lang="en-US" sz="1050" dirty="0"/>
          </a:p>
        </ns0:txBody>
      </ns0:sp>
      <ns0:sp>
        <ns0:nvSpPr>
          <ns0:cNvPr id="7" name="Shape 5"/>
          <ns0:cNvSpPr/>
          <ns0:nvPr/>
        </ns0:nvSpPr>
        <ns0:spPr>
          <a:xfrm>
            <a:off x="502920" y="1783080"/>
            <a:ext cx="5760720" cy="4343400"/>
          </a:xfrm>
          <a:prstGeom prst="roundRect">
            <a:avLst>
              <a:gd name="adj" fmla="val 1895"/>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Shape 6"/>
          <ns0:cNvSpPr/>
          <ns0:nvPr/>
        </ns0:nvSpPr>
        <ns0:spPr>
          <a:xfrm>
            <a:off x="1005840" y="2057400"/>
            <a:ext cx="0" cy="3291840"/>
          </a:xfrm>
          <a:prstGeom prst="line">
            <a:avLst/>
          </a:prstGeom>
          <a:noFill/>
          <a:ln w="19050">
            <a:solidFill>
              <a:srgbClr val="DCEBE6"/>
            </a:solidFill>
            <a:prstDash val="solid"/>
          </a:ln>
        </ns0:spPr>
      </ns0:sp>
      <ns0:sp>
        <ns0:nvSpPr>
          <ns0:cNvPr id="9" name="Shape 7"/>
          <ns0:cNvSpPr/>
          <ns0:nvPr/>
        </ns0:nvSpPr>
        <ns0:spPr>
          <a:xfrm>
            <a:off x="1005840" y="5349240"/>
            <a:ext cx="4846320" cy="0"/>
          </a:xfrm>
          <a:prstGeom prst="line">
            <a:avLst/>
          </a:prstGeom>
          <a:noFill/>
          <a:ln w="19050">
            <a:solidFill>
              <a:srgbClr val="DCEBE6"/>
            </a:solidFill>
            <a:prstDash val="solid"/>
          </a:ln>
        </ns0:spPr>
      </ns0:sp>
      <ns0:sp>
        <ns0:nvSpPr>
          <ns0:cNvPr id="10" name="Text 8"/>
          <ns0:cNvSpPr/>
          <ns0:nvPr/>
        </ns0:nvSpPr>
        <ns0:spPr>
          <a:xfrm>
            <a:off x="594360" y="1801368"/>
            <a:ext cx="1280160" cy="237744"/>
          </a:xfrm>
          <a:prstGeom prst="rect">
            <a:avLst/>
          </a:prstGeom>
          <a:noFill/>
          <a:ln/>
        </ns0:spPr>
        <ns0:txBody>
          <a:bodyPr wrap="square" lIns="0" tIns="0" rIns="0" bIns="0" rtlCol="0" anchor="ctr"/>
          <a:lstStyle/>
          <a:p>
            <a:pPr indent="0" marL="0">
              <a:buNone/>
            </a:pPr>
            <a:r>
              <a:rPr lang="en-US" sz="1050" dirty="0">
                <a:solidFill>
                  <a:srgbClr val="5C7370"/>
                </a:solidFill>
                <a:latin typeface="Segoe UI" pitchFamily="34" charset="0"/>
                <a:ea typeface="Segoe UI" pitchFamily="34" charset="-122"/>
                <a:cs typeface="Segoe UI" pitchFamily="34" charset="-120"/>
              </a:rPr>
              <a:t>Giá cao ↑</a:t>
            </a:r>
            <a:endParaRPr lang="en-US" sz="1050" dirty="0"/>
          </a:p>
        </ns0:txBody>
      </ns0:sp>
      <ns0:sp>
        <ns0:nvSpPr>
          <ns0:cNvPr id="11" name="Text 9"/>
          <ns0:cNvSpPr/>
          <ns0:nvPr/>
        </ns0:nvSpPr>
        <ns0:spPr>
          <a:xfrm>
            <a:off x="4114800" y="5422392"/>
            <a:ext cx="1737360" cy="237744"/>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Chuyên môn trị liệu →</a:t>
            </a:r>
            <a:endParaRPr lang="en-US" sz="1050" dirty="0"/>
          </a:p>
        </ns0:txBody>
      </ns0:sp>
      <ns0:sp>
        <ns0:nvSpPr>
          <ns0:cNvPr id="12" name="Shape 10"/>
          <ns0:cNvSpPr/>
          <ns0:nvPr/>
        </ns0:nvSpPr>
        <ns0:spPr>
          <a:xfrm>
            <a:off x="1554480" y="4288536"/>
            <a:ext cx="1005840" cy="566928"/>
          </a:xfrm>
          <a:prstGeom prst="ellipse">
            <a:avLst/>
          </a:prstGeom>
          <a:solidFill>
            <a:srgbClr val="C9D8D3"/>
          </a:solidFill>
          <a:ln/>
          <a:effectLst>
            <a:outerShdw sx="100000" sy="100000" kx="0" ky="0" algn="bl" rotWithShape="0" blurRad="63500" dist="12700" dir="5400000">
              <a:srgbClr val="0B3B34">
                <a:alpha val="9000"/>
              </a:srgbClr>
            </a:outerShdw>
          </a:effectLst>
        </ns0:spPr>
      </ns0:sp>
      <ns0:sp>
        <ns0:nvSpPr>
          <ns0:cNvPr id="13" name="Text 11"/>
          <ns0:cNvSpPr/>
          <ns0:nvPr/>
        </ns0:nvSpPr>
        <ns0:spPr>
          <a:xfrm>
            <a:off x="1097280" y="4892040"/>
            <a:ext cx="1920240" cy="274320"/>
          </a:xfrm>
          <a:prstGeom prst="rect">
            <a:avLst/>
          </a:prstGeom>
          <a:noFill/>
          <a:ln/>
        </ns0:spPr>
        <ns0:txBody>
          <a:bodyPr wrap="square" lIns="0" tIns="0" rIns="0" bIns="0" rtlCol="0" anchor="ctr"/>
          <a:lstStyle/>
          <a:p>
            <a:pPr algn="ctr" indent="0" marL="0">
              <a:buNone/>
            </a:pPr>
            <a:r>
              <a:rPr lang="en-US" sz="1050" b="1" dirty="0">
                <a:solidFill>
                  <a:srgbClr val="5C7370"/>
                </a:solidFill>
                <a:latin typeface="Segoe UI" pitchFamily="34" charset="0"/>
                <a:ea typeface="Segoe UI" pitchFamily="34" charset="-122"/>
                <a:cs typeface="Segoe UI" pitchFamily="34" charset="-120"/>
              </a:rPr>
              <a:t>Quán massage nhỏ</a:t>
            </a:r>
            <a:endParaRPr lang="en-US" sz="1050" dirty="0"/>
          </a:p>
        </ns0:txBody>
      </ns0:sp>
      <ns0:sp>
        <ns0:nvSpPr>
          <ns0:cNvPr id="14" name="Shape 12"/>
          <ns0:cNvSpPr/>
          <ns0:nvPr/>
        </ns0:nvSpPr>
        <ns0:spPr>
          <a:xfrm>
            <a:off x="1805940" y="2313432"/>
            <a:ext cx="1143000" cy="621792"/>
          </a:xfrm>
          <a:prstGeom prst="ellipse">
            <a:avLst/>
          </a:prstGeom>
          <a:solidFill>
            <a:srgbClr val="9ED9CC"/>
          </a:solidFill>
          <a:ln/>
          <a:effectLst>
            <a:outerShdw sx="100000" sy="100000" kx="0" ky="0" algn="bl" rotWithShape="0" blurRad="63500" dist="12700" dir="5400000">
              <a:srgbClr val="0B3B34">
                <a:alpha val="9000"/>
              </a:srgbClr>
            </a:outerShdw>
          </a:effectLst>
        </ns0:spPr>
      </ns0:sp>
      <ns0:sp>
        <ns0:nvSpPr>
          <ns0:cNvPr id="15" name="Text 13"/>
          <ns0:cNvSpPr/>
          <ns0:nvPr/>
        </ns0:nvSpPr>
        <ns0:spPr>
          <a:xfrm>
            <a:off x="1417320" y="2971800"/>
            <a:ext cx="1920240" cy="274320"/>
          </a:xfrm>
          <a:prstGeom prst="rect">
            <a:avLst/>
          </a:prstGeom>
          <a:noFill/>
          <a:ln/>
        </ns0:spPr>
        <ns0:txBody>
          <a:bodyPr wrap="square" lIns="0" tIns="0" rIns="0" bIns="0" rtlCol="0" anchor="ctr"/>
          <a:lstStyle/>
          <a:p>
            <a:pPr algn="ctr" indent="0" marL="0">
              <a:buNone/>
            </a:pPr>
            <a:r>
              <a:rPr lang="en-US" sz="1050" b="1" dirty="0">
                <a:solidFill>
                  <a:srgbClr val="5C7370"/>
                </a:solidFill>
                <a:latin typeface="Segoe UI" pitchFamily="34" charset="0"/>
                <a:ea typeface="Segoe UI" pitchFamily="34" charset="-122"/>
                <a:cs typeface="Segoe UI" pitchFamily="34" charset="-120"/>
              </a:rPr>
              <a:t>Spa cao cấp (thư giãn)</a:t>
            </a:r>
            <a:endParaRPr lang="en-US" sz="1050" dirty="0"/>
          </a:p>
        </ns0:txBody>
      </ns0:sp>
      <ns0:sp>
        <ns0:nvSpPr>
          <ns0:cNvPr id="16" name="Shape 14"/>
          <ns0:cNvSpPr/>
          <ns0:nvPr/>
        </ns0:nvSpPr>
        <ns0:spPr>
          <a:xfrm>
            <a:off x="4549140" y="4178808"/>
            <a:ext cx="1051560" cy="548640"/>
          </a:xfrm>
          <a:prstGeom prst="ellipse">
            <a:avLst/>
          </a:prstGeom>
          <a:solidFill>
            <a:srgbClr val="C9D8D3"/>
          </a:solidFill>
          <a:ln/>
          <a:effectLst>
            <a:outerShdw sx="100000" sy="100000" kx="0" ky="0" algn="bl" rotWithShape="0" blurRad="63500" dist="12700" dir="5400000">
              <a:srgbClr val="0B3B34">
                <a:alpha val="9000"/>
              </a:srgbClr>
            </a:outerShdw>
          </a:effectLst>
        </ns0:spPr>
      </ns0:sp>
      <ns0:sp>
        <ns0:nvSpPr>
          <ns0:cNvPr id="17" name="Text 15"/>
          <ns0:cNvSpPr/>
          <ns0:nvPr/>
        </ns0:nvSpPr>
        <ns0:spPr>
          <a:xfrm>
            <a:off x="4114800" y="4764024"/>
            <a:ext cx="1920240" cy="274320"/>
          </a:xfrm>
          <a:prstGeom prst="rect">
            <a:avLst/>
          </a:prstGeom>
          <a:noFill/>
          <a:ln/>
        </ns0:spPr>
        <ns0:txBody>
          <a:bodyPr wrap="square" lIns="0" tIns="0" rIns="0" bIns="0" rtlCol="0" anchor="ctr"/>
          <a:lstStyle/>
          <a:p>
            <a:pPr algn="ctr" indent="0" marL="0">
              <a:buNone/>
            </a:pPr>
            <a:r>
              <a:rPr lang="en-US" sz="1050" b="1" dirty="0">
                <a:solidFill>
                  <a:srgbClr val="5C7370"/>
                </a:solidFill>
                <a:latin typeface="Segoe UI" pitchFamily="34" charset="0"/>
                <a:ea typeface="Segoe UI" pitchFamily="34" charset="-122"/>
                <a:cs typeface="Segoe UI" pitchFamily="34" charset="-120"/>
              </a:rPr>
              <a:t>Tại nhà tự phát</a:t>
            </a:r>
            <a:endParaRPr lang="en-US" sz="1050" dirty="0"/>
          </a:p>
        </ns0:txBody>
      </ns0:sp>
      <ns0:sp>
        <ns0:nvSpPr>
          <ns0:cNvPr id="18" name="Shape 16"/>
          <ns0:cNvSpPr/>
          <ns0:nvPr/>
        </ns0:nvSpPr>
        <ns0:spPr>
          <a:xfrm>
            <a:off x="4069080" y="2679192"/>
            <a:ext cx="1554480" cy="868680"/>
          </a:xfrm>
          <a:prstGeom prst="ellipse">
            <a:avLst/>
          </a:prstGeom>
          <a:solidFill>
            <a:srgbClr val="E8590C"/>
          </a:solidFill>
          <a:ln w="25400">
            <a:solidFill>
              <a:srgbClr val="FFFFFF"/>
            </a:solidFill>
            <a:prstDash val="solid"/>
          </a:ln>
          <a:effectLst>
            <a:outerShdw sx="100000" sy="100000" kx="0" ky="0" algn="bl" rotWithShape="0" blurRad="101600" dist="25400" dir="5400000">
              <a:srgbClr val="0B3B34">
                <a:alpha val="13000"/>
              </a:srgbClr>
            </a:outerShdw>
          </a:effectLst>
        </ns0:spPr>
      </ns0:sp>
      <ns0:sp>
        <ns0:nvSpPr>
          <ns0:cNvPr id="19" name="Text 17"/>
          <ns0:cNvSpPr/>
          <ns0:nvPr/>
        </ns0:nvSpPr>
        <ns0:spPr>
          <a:xfrm>
            <a:off x="4069080" y="2679192"/>
            <a:ext cx="1554480" cy="868680"/>
          </a:xfrm>
          <a:prstGeom prst="rect">
            <a:avLst/>
          </a:prstGeom>
          <a:noFill/>
          <a:ln/>
        </ns0:spPr>
        <ns0:txBody>
          <a:bodyPr wrap="square" lIns="0" tIns="0" rIns="0" bIns="0" rtlCol="0" anchor="ctr"/>
          <a:lstStyle/>
          <a:p>
            <a:pPr algn="ctr" indent="0" marL="0">
              <a:buNone/>
            </a:pPr>
            <a:r>
              <a:rPr lang="en-US" sz="1250" b="1" dirty="0">
                <a:solidFill>
                  <a:srgbClr val="FFFFFF"/>
                </a:solidFill>
                <a:latin typeface="Segoe UI" pitchFamily="34" charset="0"/>
                <a:ea typeface="Segoe UI" pitchFamily="34" charset="-122"/>
                <a:cs typeface="Segoe UI" pitchFamily="34" charset="-120"/>
              </a:rPr>
              <a:t>CareTouch</a:t>
            </a:r>
            <a:endParaRPr lang="en-US" sz="1250" dirty="0"/>
          </a:p>
        </ns0:txBody>
      </ns0:sp>
      <ns0:sp>
        <ns0:nvSpPr>
          <ns0:cNvPr id="20" name="Text 18"/>
          <ns0:cNvSpPr/>
          <ns0:nvPr/>
        </ns0:nvSpPr>
        <ns0:spPr>
          <a:xfrm>
            <a:off x="3291840" y="3648456"/>
            <a:ext cx="3108960" cy="274320"/>
          </a:xfrm>
          <a:prstGeom prst="rect">
            <a:avLst/>
          </a:prstGeom>
          <a:noFill/>
          <a:ln/>
        </ns0:spPr>
        <ns0:txBody>
          <a:bodyPr wrap="square" lIns="0" tIns="0" rIns="0" bIns="0" rtlCol="0" anchor="ctr"/>
          <a:lstStyle/>
          <a:p>
            <a:pPr algn="ctr" indent="0" marL="0">
              <a:buNone/>
            </a:pPr>
            <a:r>
              <a:rPr lang="en-US" sz="1050" b="1" dirty="0">
                <a:solidFill>
                  <a:srgbClr val="E8590C"/>
                </a:solidFill>
                <a:latin typeface="Segoe UI" pitchFamily="34" charset="0"/>
                <a:ea typeface="Segoe UI" pitchFamily="34" charset="-122"/>
                <a:cs typeface="Segoe UI" pitchFamily="34" charset="-120"/>
              </a:rPr>
              <a:t>trị liệu cổ truyền · giá phải chăng</a:t>
            </a:r>
            <a:endParaRPr lang="en-US" sz="1050" dirty="0"/>
          </a:p>
        </ns0:txBody>
      </ns0:sp>
      <ns0:sp>
        <ns0:nvSpPr>
          <ns0:cNvPr id="21" name="Shape 19"/>
          <ns0:cNvSpPr/>
          <ns0:nvPr/>
        </ns0:nvSpPr>
        <ns0:spPr>
          <a:xfrm>
            <a:off x="6629400" y="1783080"/>
            <a:ext cx="457200" cy="457200"/>
          </a:xfrm>
          <a:prstGeom prst="roundRect">
            <a:avLst>
              <a:gd name="adj" fmla="val 24000"/>
            </a:avLst>
          </a:prstGeom>
          <a:solidFill>
            <a:srgbClr val="E8F5F1"/>
          </a:solidFill>
          <a:ln/>
        </ns0:spPr>
      </ns0:sp>
      <ns0:sp>
        <ns0:nvSpPr>
          <ns0:cNvPr id="22" name="Text 20"/>
          <ns0:cNvSpPr/>
          <ns0:nvPr/>
        </ns0:nvSpPr>
        <ns0:spPr>
          <a:xfrm>
            <a:off x="6629400" y="1783080"/>
            <a:ext cx="457200" cy="457200"/>
          </a:xfrm>
          <a:prstGeom prst="rect">
            <a:avLst/>
          </a:prstGeom>
          <a:noFill/>
          <a:ln/>
        </ns0:spPr>
        <ns0:txBody>
          <a:bodyPr wrap="square" lIns="0" tIns="0" rIns="0" bIns="0" rtlCol="0" anchor="ctr"/>
          <a:lstStyle/>
          <a:p>
            <a:pPr algn="ctr" indent="0" marL="0">
              <a:buNone/>
            </a:pPr>
            <a:r>
              <a:rPr lang="en-US" sz="1600" b="1" dirty="0">
                <a:solidFill>
                  <a:srgbClr val="0E7C6B"/>
                </a:solidFill>
                <a:latin typeface="Segoe UI" pitchFamily="34" charset="0"/>
                <a:ea typeface="Segoe UI" pitchFamily="34" charset="-122"/>
                <a:cs typeface="Segoe UI" pitchFamily="34" charset="-120"/>
              </a:rPr>
              <a:t>1</a:t>
            </a:r>
            <a:endParaRPr lang="en-US" sz="1600" dirty="0"/>
          </a:p>
        </ns0:txBody>
      </ns0:sp>
      <ns0:sp>
        <ns0:nvSpPr>
          <ns0:cNvPr id="23" name="Text 21"/>
          <ns0:cNvSpPr/>
          <ns0:nvPr/>
        </ns0:nvSpPr>
        <ns0:spPr>
          <a:xfrm>
            <a:off x="7269480" y="1746504"/>
            <a:ext cx="4434840" cy="1097280"/>
          </a:xfrm>
          <a:prstGeom prst="rect">
            <a:avLst/>
          </a:prstGeom>
          <a:noFill/>
          <a:ln/>
        </ns0:spPr>
        <ns0:txBody>
          <a:bodyPr wrap="square" lIns="0" tIns="0" rIns="0" bIns="0" rtlCol="0" anchor="t"/>
          <a:lstStyle/>
          <a:p>
            <a:pPr indent="0" marL="0">
              <a:lnSpc>
                <a:spcPct val="110000"/>
              </a:lnSpc>
              <a:spcAft>
                <a:spcPts val="300"/>
              </a:spcAft>
              <a:buNone/>
            </a:pPr>
            <a:r>
              <a:rPr lang="en-US" sz="1450" b="1" dirty="0">
                <a:solidFill>
                  <a:srgbClr val="16302B"/>
                </a:solidFill>
                <a:latin typeface="Segoe UI" pitchFamily="34" charset="0"/>
                <a:ea typeface="Segoe UI" pitchFamily="34" charset="-122"/>
                <a:cs typeface="Segoe UI" pitchFamily="34" charset="-120"/>
              </a:rPr>
              <a:t>Tận giường – tận nhà</a:t>
            </a:r>
            <a:endParaRPr lang="en-US" sz="1450" dirty="0"/>
          </a:p>
          <a:p>
            <a:pPr indent="0" marL="0">
              <a:lnSpc>
                <a:spcPct val="110000"/>
              </a:lnSpc>
              <a:spcAft>
                <a:spcPts val="300"/>
              </a:spcAft>
              <a:buNone/>
            </a:pPr>
            <a:r>
              <a:rPr lang="en-US" sz="1150" dirty="0">
                <a:solidFill>
                  <a:srgbClr val="5C7370"/>
                </a:solidFill>
                <a:latin typeface="Segoe UI" pitchFamily="34" charset="0"/>
                <a:ea typeface="Segoe UI" pitchFamily="34" charset="-122"/>
                <a:cs typeface="Segoe UI" pitchFamily="34" charset="-120"/>
              </a:rPr>
              <a:t>Mang theo đệm, dầu xoa, khăn sạch; khách cao tuổi không cần ai đưa đón.</a:t>
            </a:r>
            <a:endParaRPr lang="en-US" sz="1450" dirty="0"/>
          </a:p>
        </ns0:txBody>
      </ns0:sp>
      <ns0:sp>
        <ns0:nvSpPr>
          <ns0:cNvPr id="24" name="Shape 22"/>
          <ns0:cNvSpPr/>
          <ns0:nvPr/>
        </ns0:nvSpPr>
        <ns0:spPr>
          <a:xfrm>
            <a:off x="6629400" y="2898648"/>
            <a:ext cx="457200" cy="457200"/>
          </a:xfrm>
          <a:prstGeom prst="roundRect">
            <a:avLst>
              <a:gd name="adj" fmla="val 24000"/>
            </a:avLst>
          </a:prstGeom>
          <a:solidFill>
            <a:srgbClr val="FDEBDD"/>
          </a:solidFill>
          <a:ln/>
        </ns0:spPr>
      </ns0:sp>
      <ns0:sp>
        <ns0:nvSpPr>
          <ns0:cNvPr id="25" name="Text 23"/>
          <ns0:cNvSpPr/>
          <ns0:nvPr/>
        </ns0:nvSpPr>
        <ns0:spPr>
          <a:xfrm>
            <a:off x="6629400" y="2898648"/>
            <a:ext cx="457200" cy="457200"/>
          </a:xfrm>
          <a:prstGeom prst="rect">
            <a:avLst/>
          </a:prstGeom>
          <a:noFill/>
          <a:ln/>
        </ns0:spPr>
        <ns0:txBody>
          <a:bodyPr wrap="square" lIns="0" tIns="0" rIns="0" bIns="0" rtlCol="0" anchor="ctr"/>
          <a:lstStyle/>
          <a:p>
            <a:pPr algn="ctr" indent="0" marL="0">
              <a:buNone/>
            </a:pPr>
            <a:r>
              <a:rPr lang="en-US" sz="1600" b="1" dirty="0">
                <a:solidFill>
                  <a:srgbClr val="E8590C"/>
                </a:solidFill>
                <a:latin typeface="Segoe UI" pitchFamily="34" charset="0"/>
                <a:ea typeface="Segoe UI" pitchFamily="34" charset="-122"/>
                <a:cs typeface="Segoe UI" pitchFamily="34" charset="-120"/>
              </a:rPr>
              <a:t>2</a:t>
            </a:r>
            <a:endParaRPr lang="en-US" sz="1600" dirty="0"/>
          </a:p>
        </ns0:txBody>
      </ns0:sp>
      <ns0:sp>
        <ns0:nvSpPr>
          <ns0:cNvPr id="26" name="Text 24"/>
          <ns0:cNvSpPr/>
          <ns0:nvPr/>
        </ns0:nvSpPr>
        <ns0:spPr>
          <a:xfrm>
            <a:off x="7269480" y="2862072"/>
            <a:ext cx="4434840" cy="1097280"/>
          </a:xfrm>
          <a:prstGeom prst="rect">
            <a:avLst/>
          </a:prstGeom>
          <a:noFill/>
          <a:ln/>
        </ns0:spPr>
        <ns0:txBody>
          <a:bodyPr wrap="square" lIns="0" tIns="0" rIns="0" bIns="0" rtlCol="0" anchor="t"/>
          <a:lstStyle/>
          <a:p>
            <a:pPr indent="0" marL="0">
              <a:lnSpc>
                <a:spcPct val="110000"/>
              </a:lnSpc>
              <a:spcAft>
                <a:spcPts val="300"/>
              </a:spcAft>
              <a:buNone/>
            </a:pPr>
            <a:r>
              <a:rPr lang="en-US" sz="1450" b="1" dirty="0">
                <a:solidFill>
                  <a:srgbClr val="16302B"/>
                </a:solidFill>
                <a:latin typeface="Segoe UI" pitchFamily="34" charset="0"/>
                <a:ea typeface="Segoe UI" pitchFamily="34" charset="-122"/>
                <a:cs typeface="Segoe UI" pitchFamily="34" charset="-120"/>
              </a:rPr>
              <a:t>Khảo sát thể trạng trước buổi trị liệu</a:t>
            </a:r>
            <a:endParaRPr lang="en-US" sz="1450" dirty="0"/>
          </a:p>
          <a:p>
            <a:pPr indent="0" marL="0">
              <a:lnSpc>
                <a:spcPct val="110000"/>
              </a:lnSpc>
              <a:spcAft>
                <a:spcPts val="300"/>
              </a:spcAft>
              <a:buNone/>
            </a:pPr>
            <a:r>
              <a:rPr lang="en-US" sz="1150" dirty="0">
                <a:solidFill>
                  <a:srgbClr val="5C7370"/>
                </a:solidFill>
                <a:latin typeface="Segoe UI" pitchFamily="34" charset="0"/>
                <a:ea typeface="Segoe UI" pitchFamily="34" charset="-122"/>
                <a:cs typeface="Segoe UI" pitchFamily="34" charset="-120"/>
              </a:rPr>
              <a:t>Mỗi buổi bắt đầu bằng hỏi bệnh nền, đo huyết áp — không an toàn thì không thực hiện.</a:t>
            </a:r>
            <a:endParaRPr lang="en-US" sz="1450" dirty="0"/>
          </a:p>
        </ns0:txBody>
      </ns0:sp>
      <ns0:sp>
        <ns0:nvSpPr>
          <ns0:cNvPr id="27" name="Shape 25"/>
          <ns0:cNvSpPr/>
          <ns0:nvPr/>
        </ns0:nvSpPr>
        <ns0:spPr>
          <a:xfrm>
            <a:off x="6629400" y="4014216"/>
            <a:ext cx="457200" cy="457200"/>
          </a:xfrm>
          <a:prstGeom prst="roundRect">
            <a:avLst>
              <a:gd name="adj" fmla="val 24000"/>
            </a:avLst>
          </a:prstGeom>
          <a:solidFill>
            <a:srgbClr val="E8F5F1"/>
          </a:solidFill>
          <a:ln/>
        </ns0:spPr>
      </ns0:sp>
      <ns0:sp>
        <ns0:nvSpPr>
          <ns0:cNvPr id="28" name="Text 26"/>
          <ns0:cNvSpPr/>
          <ns0:nvPr/>
        </ns0:nvSpPr>
        <ns0:spPr>
          <a:xfrm>
            <a:off x="6629400" y="4014216"/>
            <a:ext cx="457200" cy="457200"/>
          </a:xfrm>
          <a:prstGeom prst="rect">
            <a:avLst/>
          </a:prstGeom>
          <a:noFill/>
          <a:ln/>
        </ns0:spPr>
        <ns0:txBody>
          <a:bodyPr wrap="square" lIns="0" tIns="0" rIns="0" bIns="0" rtlCol="0" anchor="ctr"/>
          <a:lstStyle/>
          <a:p>
            <a:pPr algn="ctr" indent="0" marL="0">
              <a:buNone/>
            </a:pPr>
            <a:r>
              <a:rPr lang="en-US" sz="1600" b="1" dirty="0">
                <a:solidFill>
                  <a:srgbClr val="0E7C6B"/>
                </a:solidFill>
                <a:latin typeface="Segoe UI" pitchFamily="34" charset="0"/>
                <a:ea typeface="Segoe UI" pitchFamily="34" charset="-122"/>
                <a:cs typeface="Segoe UI" pitchFamily="34" charset="-120"/>
              </a:rPr>
              <a:t>3</a:t>
            </a:r>
            <a:endParaRPr lang="en-US" sz="1600" dirty="0"/>
          </a:p>
        </ns0:txBody>
      </ns0:sp>
      <ns0:sp>
        <ns0:nvSpPr>
          <ns0:cNvPr id="29" name="Text 27"/>
          <ns0:cNvSpPr/>
          <ns0:nvPr/>
        </ns0:nvSpPr>
        <ns0:spPr>
          <a:xfrm>
            <a:off x="7269480" y="3977640"/>
            <a:ext cx="4434840" cy="1097280"/>
          </a:xfrm>
          <a:prstGeom prst="rect">
            <a:avLst/>
          </a:prstGeom>
          <a:noFill/>
          <a:ln/>
        </ns0:spPr>
        <ns0:txBody>
          <a:bodyPr wrap="square" lIns="0" tIns="0" rIns="0" bIns="0" rtlCol="0" anchor="t"/>
          <a:lstStyle/>
          <a:p>
            <a:pPr indent="0" marL="0">
              <a:lnSpc>
                <a:spcPct val="110000"/>
              </a:lnSpc>
              <a:spcAft>
                <a:spcPts val="300"/>
              </a:spcAft>
              <a:buNone/>
            </a:pPr>
            <a:r>
              <a:rPr lang="en-US" sz="1450" b="1" dirty="0">
                <a:solidFill>
                  <a:srgbClr val="16302B"/>
                </a:solidFill>
                <a:latin typeface="Segoe UI" pitchFamily="34" charset="0"/>
                <a:ea typeface="Segoe UI" pitchFamily="34" charset="-122"/>
                <a:cs typeface="Segoe UI" pitchFamily="34" charset="-120"/>
              </a:rPr>
              <a:t>Giá niêm yết minh bạch</a:t>
            </a:r>
            <a:endParaRPr lang="en-US" sz="1450" dirty="0"/>
          </a:p>
          <a:p>
            <a:pPr indent="0" marL="0">
              <a:lnSpc>
                <a:spcPct val="110000"/>
              </a:lnSpc>
              <a:spcAft>
                <a:spcPts val="300"/>
              </a:spcAft>
              <a:buNone/>
            </a:pPr>
            <a:r>
              <a:rPr lang="en-US" sz="1150" dirty="0">
                <a:solidFill>
                  <a:srgbClr val="5C7370"/>
                </a:solidFill>
                <a:latin typeface="Segoe UI" pitchFamily="34" charset="0"/>
                <a:ea typeface="Segoe UI" pitchFamily="34" charset="-122"/>
                <a:cs typeface="Segoe UI" pitchFamily="34" charset="-120"/>
              </a:rPr>
              <a:t>Bảng giá công khai, không phát sinh chi phí; combo tiết kiệm 15–20%.</a:t>
            </a:r>
            <a:endParaRPr lang="en-US" sz="1450" dirty="0"/>
          </a:p>
        </ns0:txBody>
      </ns0:sp>
      <ns0:sp>
        <ns0:nvSpPr>
          <ns0:cNvPr id="30" name="Shape 28"/>
          <ns0:cNvSpPr/>
          <ns0:nvPr/>
        </ns0:nvSpPr>
        <ns0:spPr>
          <a:xfrm>
            <a:off x="6629400" y="5129784"/>
            <a:ext cx="457200" cy="457200"/>
          </a:xfrm>
          <a:prstGeom prst="roundRect">
            <a:avLst>
              <a:gd name="adj" fmla="val 24000"/>
            </a:avLst>
          </a:prstGeom>
          <a:solidFill>
            <a:srgbClr val="E8F5F1"/>
          </a:solidFill>
          <a:ln/>
        </ns0:spPr>
      </ns0:sp>
      <ns0:sp>
        <ns0:nvSpPr>
          <ns0:cNvPr id="31" name="Text 29"/>
          <ns0:cNvSpPr/>
          <ns0:nvPr/>
        </ns0:nvSpPr>
        <ns0:spPr>
          <a:xfrm>
            <a:off x="6629400" y="5129784"/>
            <a:ext cx="457200" cy="457200"/>
          </a:xfrm>
          <a:prstGeom prst="rect">
            <a:avLst/>
          </a:prstGeom>
          <a:noFill/>
          <a:ln/>
        </ns0:spPr>
        <ns0:txBody>
          <a:bodyPr wrap="square" lIns="0" tIns="0" rIns="0" bIns="0" rtlCol="0" anchor="ctr"/>
          <a:lstStyle/>
          <a:p>
            <a:pPr algn="ctr" indent="0" marL="0">
              <a:buNone/>
            </a:pPr>
            <a:r>
              <a:rPr lang="en-US" sz="1600" b="1" dirty="0">
                <a:solidFill>
                  <a:srgbClr val="0E7C6B"/>
                </a:solidFill>
                <a:latin typeface="Segoe UI" pitchFamily="34" charset="0"/>
                <a:ea typeface="Segoe UI" pitchFamily="34" charset="-122"/>
                <a:cs typeface="Segoe UI" pitchFamily="34" charset="-120"/>
              </a:rPr>
              <a:t>4</a:t>
            </a:r>
            <a:endParaRPr lang="en-US" sz="1600" dirty="0"/>
          </a:p>
        </ns0:txBody>
      </ns0:sp>
      <ns0:sp>
        <ns0:nvSpPr>
          <ns0:cNvPr id="32" name="Text 30"/>
          <ns0:cNvSpPr/>
          <ns0:nvPr/>
        </ns0:nvSpPr>
        <ns0:spPr>
          <a:xfrm>
            <a:off x="7269480" y="5093208"/>
            <a:ext cx="4434840" cy="1097280"/>
          </a:xfrm>
          <a:prstGeom prst="rect">
            <a:avLst/>
          </a:prstGeom>
          <a:noFill/>
          <a:ln/>
        </ns0:spPr>
        <ns0:txBody>
          <a:bodyPr wrap="square" lIns="0" tIns="0" rIns="0" bIns="0" rtlCol="0" anchor="t"/>
          <a:lstStyle/>
          <a:p>
            <a:pPr indent="0" marL="0">
              <a:lnSpc>
                <a:spcPct val="110000"/>
              </a:lnSpc>
              <a:spcAft>
                <a:spcPts val="300"/>
              </a:spcAft>
              <a:buNone/>
            </a:pPr>
            <a:r>
              <a:rPr lang="en-US" sz="1450" b="1" dirty="0">
                <a:solidFill>
                  <a:srgbClr val="16302B"/>
                </a:solidFill>
                <a:latin typeface="Segoe UI" pitchFamily="34" charset="0"/>
                <a:ea typeface="Segoe UI" pitchFamily="34" charset="-122"/>
                <a:cs typeface="Segoe UI" pitchFamily="34" charset="-120"/>
              </a:rPr>
              <a:t>Sổ sức khỏe cá nhân</a:t>
            </a:r>
            <a:endParaRPr lang="en-US" sz="1450" dirty="0"/>
          </a:p>
          <a:p>
            <a:pPr indent="0" marL="0">
              <a:lnSpc>
                <a:spcPct val="110000"/>
              </a:lnSpc>
              <a:spcAft>
                <a:spcPts val="300"/>
              </a:spcAft>
              <a:buNone/>
            </a:pPr>
            <a:r>
              <a:rPr lang="en-US" sz="1150" dirty="0">
                <a:solidFill>
                  <a:srgbClr val="5C7370"/>
                </a:solidFill>
                <a:latin typeface="Segoe UI" pitchFamily="34" charset="0"/>
                <a:ea typeface="Segoe UI" pitchFamily="34" charset="-122"/>
                <a:cs typeface="Segoe UI" pitchFamily="34" charset="-120"/>
              </a:rPr>
              <a:t>Ghi nhận phản ứng sau mỗi buổi — liệu trình liên tục, không rời rạc.</a:t>
            </a:r>
            <a:endParaRPr lang="en-US" sz="1450" dirty="0"/>
          </a:p>
        </ns0:txBody>
      </ns0:sp>
      <ns0:sp>
        <ns0:nvSpPr>
          <ns0:cNvPr id="33" name="Text 31"/>
          <ns0:cNvSpPr/>
          <ns0:nvPr/>
        </ns0:nvSpPr>
        <ns0:spPr>
          <a:xfrm>
            <a:off x="502920" y="647395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Định vị dựa trên khảo sát giá công khai 2025: massage tại nhà cho người lớn tuổi 350.000–620.000 đ/phiên (</a:t>
            </a:r>
            <a:r>
              <a:rPr lang="en-US" sz="1050" u="sng" dirty="0">
                <a:solidFill>
                  <a:srgbClr val="0E7C6B"/>
                </a:solidFill>
                <a:latin typeface="Segoe UI" pitchFamily="34" charset="0"/>
                <a:ea typeface="Segoe UI" pitchFamily="34" charset="-122"/>
                <a:cs typeface="Segoe UI" pitchFamily="34" charset="-120"/>
                <a:hlinkClick ns2:id="rId1" invalidUrl="" action="" tgtFrame="" tooltip="" history="1" highlightClick="0" endSnd="0">
                  <a:extLst>
                    <a:ext uri="{A12FA001-AC4F-418D-AE19-62706E023703}">
                      <ns3:hlinkClr val="tx"/>
                    </a:ext>
                  </a:extLst>
                </a:hlinkClick>
              </a:rPr>
              <a:t>Massagenha, 7/2025</a:t>
            </a:r>
            <a:r>
              <a:rPr lang="en-US" sz="1050" i="1" dirty="0">
                <a:solidFill>
                  <a:srgbClr val="5C7370"/>
                </a:solidFill>
                <a:latin typeface="Segoe UI" pitchFamily="34" charset="0"/>
                <a:ea typeface="Segoe UI" pitchFamily="34" charset="-122"/>
                <a:cs typeface="Segoe UI" pitchFamily="34" charset="-120"/>
              </a:rPr>
              <a:t>); spa tầm trung 350.000–400.000 đ.</a:t>
            </a:r>
            <a:endParaRPr lang="en-US" sz="10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116"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400"/>
                                  </ns0:stCondLst>
                                  <ns0:childTnLst>
                                    <ns0:set>
                                      <ns0:cBhvr>
                                        <ns0:cTn id="21" dur="1" fill="hold">
                                          <ns0:stCondLst>
                                            <ns0:cond delay="0"/>
                                          </ns0:stCondLst>
                                        </ns0:cTn>
                                        <ns0:tgtEl>
                                          <ns0:spTgt spid="11"/>
                                        </ns0:tgtEl>
                                        <ns0:attrNameLst>
                                          <ns0:attrName>style.visibility</ns0:attrName>
                                        </ns0:attrNameLst>
                                      </ns0:cBhvr>
                                      <ns0:to>
                                        <ns0:strVal val="visible"/>
                                      </ns0:to>
                                    </ns0:set>
                                    <ns0:animEffect transition="in" filter="fade">
                                      <ns0:cBhvr>
                                        <ns0:cTn id="22" dur="500"/>
                                        <ns0:tgtEl>
                                          <ns0:spTgt spid="11"/>
                                        </ns0:tgtEl>
                                      </ns0:cBhvr>
                                    </ns0:animEffect>
                                    <ns0:anim calcmode="lin" valueType="num">
                                      <ns0:cBhvr additive="base">
                                        <ns0:cTn id="2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4" fill="hold">
                      <ns0:stCondLst>
                        <ns0:cond delay="indefinite"/>
                      </ns0:stCondLst>
                      <ns0:childTnLst>
                        <ns0:par>
                          <ns0:cTn id="25" fill="hold">
                            <ns0:stCondLst>
                              <ns0:cond delay="0"/>
                            </ns0:stCondLst>
                            <ns0:childTnLst>
                              <ns0:par>
                                <ns0:cTn id="26" presetID="42" presetClass="entr" presetSubtype="0" fill="hold" grpId="0" nodeType="clickEffect">
                                  <ns0:stCondLst>
                                    <ns0:cond delay="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1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2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38" presetID="42" presetClass="entr" presetSubtype="0" fill="hold" grpId="0" nodeType="withEffect">
                                  <ns0:stCondLst>
                                    <ns0:cond delay="300"/>
                                  </ns0:stCondLst>
                                  <ns0:childTnLst>
                                    <ns0:set>
                                      <ns0:cBhvr>
                                        <ns0:cTn id="39" dur="1" fill="hold">
                                          <ns0:stCondLst>
                                            <ns0:cond delay="0"/>
                                          </ns0:stCondLst>
                                        </ns0:cTn>
                                        <ns0:tgtEl>
                                          <ns0:spTgt spid="15"/>
                                        </ns0:tgtEl>
                                        <ns0:attrNameLst>
                                          <ns0:attrName>style.visibility</ns0:attrName>
                                        </ns0:attrNameLst>
                                      </ns0:cBhvr>
                                      <ns0:to>
                                        <ns0:strVal val="visible"/>
                                      </ns0:to>
                                    </ns0:set>
                                    <ns0:animEffect transition="in" filter="fade">
                                      <ns0:cBhvr>
                                        <ns0:cTn id="40" dur="500"/>
                                        <ns0:tgtEl>
                                          <ns0:spTgt spid="15"/>
                                        </ns0:tgtEl>
                                      </ns0:cBhvr>
                                    </ns0:animEffect>
                                    <ns0:anim calcmode="lin" valueType="num">
                                      <ns0:cBhvr additive="base">
                                        <ns0:cTn id="4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2" presetID="42" presetClass="entr" presetSubtype="0" fill="hold" grpId="0" nodeType="withEffect">
                                  <ns0:stCondLst>
                                    <ns0:cond delay="400"/>
                                  </ns0:stCondLst>
                                  <ns0:childTnLst>
                                    <ns0:set>
                                      <ns0:cBhvr>
                                        <ns0:cTn id="43" dur="1" fill="hold">
                                          <ns0:stCondLst>
                                            <ns0:cond delay="0"/>
                                          </ns0:stCondLst>
                                        </ns0:cTn>
                                        <ns0:tgtEl>
                                          <ns0:spTgt spid="16"/>
                                        </ns0:tgtEl>
                                        <ns0:attrNameLst>
                                          <ns0:attrName>style.visibility</ns0:attrName>
                                        </ns0:attrNameLst>
                                      </ns0:cBhvr>
                                      <ns0:to>
                                        <ns0:strVal val="visible"/>
                                      </ns0:to>
                                    </ns0:set>
                                    <ns0:animEffect transition="in" filter="fade">
                                      <ns0:cBhvr>
                                        <ns0:cTn id="44" dur="500"/>
                                        <ns0:tgtEl>
                                          <ns0:spTgt spid="16"/>
                                        </ns0:tgtEl>
                                      </ns0:cBhvr>
                                    </ns0:animEffect>
                                    <ns0:anim calcmode="lin" valueType="num">
                                      <ns0:cBhvr additive="base">
                                        <ns0:cTn id="4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par>
                                <ns0:cTn id="46" presetID="42" presetClass="entr" presetSubtype="0" fill="hold" grpId="0" nodeType="withEffect">
                                  <ns0:stCondLst>
                                    <ns0:cond delay="500"/>
                                  </ns0:stCondLst>
                                  <ns0:childTnLst>
                                    <ns0:set>
                                      <ns0:cBhvr>
                                        <ns0:cTn id="47" dur="1" fill="hold">
                                          <ns0:stCondLst>
                                            <ns0:cond delay="0"/>
                                          </ns0:stCondLst>
                                        </ns0:cTn>
                                        <ns0:tgtEl>
                                          <ns0:spTgt spid="17"/>
                                        </ns0:tgtEl>
                                        <ns0:attrNameLst>
                                          <ns0:attrName>style.visibility</ns0:attrName>
                                        </ns0:attrNameLst>
                                      </ns0:cBhvr>
                                      <ns0:to>
                                        <ns0:strVal val="visible"/>
                                      </ns0:to>
                                    </ns0:set>
                                    <ns0:animEffect transition="in" filter="fade">
                                      <ns0:cBhvr>
                                        <ns0:cTn id="48" dur="500"/>
                                        <ns0:tgtEl>
                                          <ns0:spTgt spid="17"/>
                                        </ns0:tgtEl>
                                      </ns0:cBhvr>
                                    </ns0:animEffect>
                                    <ns0:anim calcmode="lin" valueType="num">
                                      <ns0:cBhvr additive="base">
                                        <ns0:cTn id="49"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50" fill="hold">
                      <ns0:stCondLst>
                        <ns0:cond delay="indefinite"/>
                      </ns0:stCondLst>
                      <ns0:childTnLst>
                        <ns0:par>
                          <ns0:cTn id="51" fill="hold">
                            <ns0:stCondLst>
                              <ns0:cond delay="0"/>
                            </ns0:stCondLst>
                            <ns0:childTnLst>
                              <ns0:par>
                                <ns0:cTn id="52" presetID="42" presetClass="entr" presetSubtype="0" fill="hold" grpId="0" nodeType="clickEffect">
                                  <ns0:stCondLst>
                                    <ns0:cond delay="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100"/>
                                  </ns0:stCondLst>
                                  <ns0:childTnLst>
                                    <ns0:set>
                                      <ns0:cBhvr>
                                        <ns0:cTn id="57" dur="1" fill="hold">
                                          <ns0:stCondLst>
                                            <ns0:cond delay="0"/>
                                          </ns0:stCondLst>
                                        </ns0:cTn>
                                        <ns0:tgtEl>
                                          <ns0:spTgt spid="19"/>
                                        </ns0:tgtEl>
                                        <ns0:attrNameLst>
                                          <ns0:attrName>style.visibility</ns0:attrName>
                                        </ns0:attrNameLst>
                                      </ns0:cBhvr>
                                      <ns0:to>
                                        <ns0:strVal val="visible"/>
                                      </ns0:to>
                                    </ns0:set>
                                    <ns0:animEffect transition="in" filter="fade">
                                      <ns0:cBhvr>
                                        <ns0:cTn id="58" dur="500"/>
                                        <ns0:tgtEl>
                                          <ns0:spTgt spid="19"/>
                                        </ns0:tgtEl>
                                      </ns0:cBhvr>
                                    </ns0:animEffect>
                                    <ns0:anim calcmode="lin" valueType="num">
                                      <ns0:cBhvr additive="base">
                                        <ns0:cTn id="59"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250"/>
                                  </ns0:stCondLst>
                                  <ns0:childTnLst>
                                    <ns0:set>
                                      <ns0:cBhvr>
                                        <ns0:cTn id="61" dur="1" fill="hold">
                                          <ns0:stCondLst>
                                            <ns0:cond delay="0"/>
                                          </ns0:stCondLst>
                                        </ns0:cTn>
                                        <ns0:tgtEl>
                                          <ns0:spTgt spid="20"/>
                                        </ns0:tgtEl>
                                        <ns0:attrNameLst>
                                          <ns0:attrName>style.visibility</ns0:attrName>
                                        </ns0:attrNameLst>
                                      </ns0:cBhvr>
                                      <ns0:to>
                                        <ns0:strVal val="visible"/>
                                      </ns0:to>
                                    </ns0:set>
                                    <ns0:animEffect transition="in" filter="fade">
                                      <ns0:cBhvr>
                                        <ns0:cTn id="62" dur="500"/>
                                        <ns0:tgtEl>
                                          <ns0:spTgt spid="20"/>
                                        </ns0:tgtEl>
                                      </ns0:cBhvr>
                                    </ns0:animEffect>
                                    <ns0:anim calcmode="lin" valueType="num">
                                      <ns0:cBhvr additive="base">
                                        <ns0:cTn id="63"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64" fill="hold">
                      <ns0:stCondLst>
                        <ns0:cond delay="indefinite"/>
                      </ns0:stCondLst>
                      <ns0:childTnLst>
                        <ns0:par>
                          <ns0:cTn id="65" fill="hold">
                            <ns0:stCondLst>
                              <ns0:cond delay="0"/>
                            </ns0:stCondLst>
                            <ns0:childTnLst>
                              <ns0:par>
                                <ns0:cTn id="66" presetID="42" presetClass="entr" presetSubtype="0" fill="hold" grpId="0" nodeType="clickEffect">
                                  <ns0:stCondLst>
                                    <ns0:cond delay="0"/>
                                  </ns0:stCondLst>
                                  <ns0:childTnLst>
                                    <ns0:set>
                                      <ns0:cBhvr>
                                        <ns0:cTn id="67" dur="1" fill="hold">
                                          <ns0:stCondLst>
                                            <ns0:cond delay="0"/>
                                          </ns0:stCondLst>
                                        </ns0:cTn>
                                        <ns0:tgtEl>
                                          <ns0:spTgt spid="21"/>
                                        </ns0:tgtEl>
                                        <ns0:attrNameLst>
                                          <ns0:attrName>style.visibility</ns0:attrName>
                                        </ns0:attrNameLst>
                                      </ns0:cBhvr>
                                      <ns0:to>
                                        <ns0:strVal val="visible"/>
                                      </ns0:to>
                                    </ns0:set>
                                    <ns0:animEffect transition="in" filter="fade">
                                      <ns0:cBhvr>
                                        <ns0:cTn id="68" dur="500"/>
                                        <ns0:tgtEl>
                                          <ns0:spTgt spid="21"/>
                                        </ns0:tgtEl>
                                      </ns0:cBhvr>
                                    </ns0:animEffect>
                                    <ns0:anim calcmode="lin" valueType="num">
                                      <ns0:cBhvr additive="base">
                                        <ns0:cTn id="69"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par>
                                <ns0:cTn id="70" presetID="42" presetClass="entr" presetSubtype="0" fill="hold" grpId="0" nodeType="withEffect">
                                  <ns0:stCondLst>
                                    <ns0:cond delay="100"/>
                                  </ns0:stCondLst>
                                  <ns0:childTnLst>
                                    <ns0:set>
                                      <ns0:cBhvr>
                                        <ns0:cTn id="71" dur="1" fill="hold">
                                          <ns0:stCondLst>
                                            <ns0:cond delay="0"/>
                                          </ns0:stCondLst>
                                        </ns0:cTn>
                                        <ns0:tgtEl>
                                          <ns0:spTgt spid="22"/>
                                        </ns0:tgtEl>
                                        <ns0:attrNameLst>
                                          <ns0:attrName>style.visibility</ns0:attrName>
                                        </ns0:attrNameLst>
                                      </ns0:cBhvr>
                                      <ns0:to>
                                        <ns0:strVal val="visible"/>
                                      </ns0:to>
                                    </ns0:set>
                                    <ns0:animEffect transition="in" filter="fade">
                                      <ns0:cBhvr>
                                        <ns0:cTn id="72" dur="500"/>
                                        <ns0:tgtEl>
                                          <ns0:spTgt spid="22"/>
                                        </ns0:tgtEl>
                                      </ns0:cBhvr>
                                    </ns0:animEffect>
                                    <ns0:anim calcmode="lin" valueType="num">
                                      <ns0:cBhvr additive="base">
                                        <ns0:cTn id="73"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par>
                                <ns0:cTn id="74" presetID="42" presetClass="entr" presetSubtype="0" fill="hold" grpId="0" nodeType="withEffect">
                                  <ns0:stCondLst>
                                    <ns0:cond delay="20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par>
                                <ns0:cTn id="78" presetID="42" presetClass="entr" presetSubtype="0" fill="hold" grpId="0" nodeType="withEffect">
                                  <ns0:stCondLst>
                                    <ns0:cond delay="300"/>
                                  </ns0:stCondLst>
                                  <ns0:childTnLst>
                                    <ns0:set>
                                      <ns0:cBhvr>
                                        <ns0:cTn id="79" dur="1" fill="hold">
                                          <ns0:stCondLst>
                                            <ns0:cond delay="0"/>
                                          </ns0:stCondLst>
                                        </ns0:cTn>
                                        <ns0:tgtEl>
                                          <ns0:spTgt spid="24"/>
                                        </ns0:tgtEl>
                                        <ns0:attrNameLst>
                                          <ns0:attrName>style.visibility</ns0:attrName>
                                        </ns0:attrNameLst>
                                      </ns0:cBhvr>
                                      <ns0:to>
                                        <ns0:strVal val="visible"/>
                                      </ns0:to>
                                    </ns0:set>
                                    <ns0:animEffect transition="in" filter="fade">
                                      <ns0:cBhvr>
                                        <ns0:cTn id="80" dur="500"/>
                                        <ns0:tgtEl>
                                          <ns0:spTgt spid="24"/>
                                        </ns0:tgtEl>
                                      </ns0:cBhvr>
                                    </ns0:animEffect>
                                    <ns0:anim calcmode="lin" valueType="num">
                                      <ns0:cBhvr additive="base">
                                        <ns0:cTn id="81" dur="500" fill="hold"/>
                                        <ns0:tgtEl>
                                          <ns0:spTgt spid="24"/>
                                        </ns0:tgtEl>
                                        <ns0:attrNameLst>
                                          <ns0:attrName>ppt_y</ns0:attrName>
                                        </ns0:attrNameLst>
                                      </ns0:cBhvr>
                                      <ns0:tavLst>
                                        <ns0:tav tm="0">
                                          <ns0:val>
                                            <ns0:strVal val="#ppt_y+0.018"/>
                                          </ns0:val>
                                        </ns0:tav>
                                        <ns0:tav tm="100000">
                                          <ns0:val>
                                            <ns0:strVal val="#ppt_y"/>
                                          </ns0:val>
                                        </ns0:tav>
                                      </ns0:tavLst>
                                    </ns0:anim>
                                  </ns0:childTnLst>
                                </ns0:cTn>
                              </ns0:par>
                              <ns0:par>
                                <ns0:cTn id="82" presetID="42" presetClass="entr" presetSubtype="0" fill="hold" grpId="0" nodeType="withEffect">
                                  <ns0:stCondLst>
                                    <ns0:cond delay="400"/>
                                  </ns0:stCondLst>
                                  <ns0:childTnLst>
                                    <ns0:set>
                                      <ns0:cBhvr>
                                        <ns0:cTn id="83" dur="1" fill="hold">
                                          <ns0:stCondLst>
                                            <ns0:cond delay="0"/>
                                          </ns0:stCondLst>
                                        </ns0:cTn>
                                        <ns0:tgtEl>
                                          <ns0:spTgt spid="25"/>
                                        </ns0:tgtEl>
                                        <ns0:attrNameLst>
                                          <ns0:attrName>style.visibility</ns0:attrName>
                                        </ns0:attrNameLst>
                                      </ns0:cBhvr>
                                      <ns0:to>
                                        <ns0:strVal val="visible"/>
                                      </ns0:to>
                                    </ns0:set>
                                    <ns0:animEffect transition="in" filter="fade">
                                      <ns0:cBhvr>
                                        <ns0:cTn id="84" dur="500"/>
                                        <ns0:tgtEl>
                                          <ns0:spTgt spid="25"/>
                                        </ns0:tgtEl>
                                      </ns0:cBhvr>
                                    </ns0:animEffect>
                                    <ns0:anim calcmode="lin" valueType="num">
                                      <ns0:cBhvr additive="base">
                                        <ns0:cTn id="85" dur="500" fill="hold"/>
                                        <ns0:tgtEl>
                                          <ns0:spTgt spid="25"/>
                                        </ns0:tgtEl>
                                        <ns0:attrNameLst>
                                          <ns0:attrName>ppt_y</ns0:attrName>
                                        </ns0:attrNameLst>
                                      </ns0:cBhvr>
                                      <ns0:tavLst>
                                        <ns0:tav tm="0">
                                          <ns0:val>
                                            <ns0:strVal val="#ppt_y+0.018"/>
                                          </ns0:val>
                                        </ns0:tav>
                                        <ns0:tav tm="100000">
                                          <ns0:val>
                                            <ns0:strVal val="#ppt_y"/>
                                          </ns0:val>
                                        </ns0:tav>
                                      </ns0:tavLst>
                                    </ns0:anim>
                                  </ns0:childTnLst>
                                </ns0:cTn>
                              </ns0:par>
                              <ns0:par>
                                <ns0:cTn id="86" presetID="42" presetClass="entr" presetSubtype="0" fill="hold" grpId="0" nodeType="withEffect">
                                  <ns0:stCondLst>
                                    <ns0:cond delay="500"/>
                                  </ns0:stCondLst>
                                  <ns0:childTnLst>
                                    <ns0:set>
                                      <ns0:cBhvr>
                                        <ns0:cTn id="87" dur="1" fill="hold">
                                          <ns0:stCondLst>
                                            <ns0:cond delay="0"/>
                                          </ns0:stCondLst>
                                        </ns0:cTn>
                                        <ns0:tgtEl>
                                          <ns0:spTgt spid="26"/>
                                        </ns0:tgtEl>
                                        <ns0:attrNameLst>
                                          <ns0:attrName>style.visibility</ns0:attrName>
                                        </ns0:attrNameLst>
                                      </ns0:cBhvr>
                                      <ns0:to>
                                        <ns0:strVal val="visible"/>
                                      </ns0:to>
                                    </ns0:set>
                                    <ns0:animEffect transition="in" filter="fade">
                                      <ns0:cBhvr>
                                        <ns0:cTn id="88" dur="500"/>
                                        <ns0:tgtEl>
                                          <ns0:spTgt spid="26"/>
                                        </ns0:tgtEl>
                                      </ns0:cBhvr>
                                    </ns0:animEffect>
                                    <ns0:anim calcmode="lin" valueType="num">
                                      <ns0:cBhvr additive="base">
                                        <ns0:cTn id="89" dur="500" fill="hold"/>
                                        <ns0:tgtEl>
                                          <ns0:spTgt spid="2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90" fill="hold">
                      <ns0:stCondLst>
                        <ns0:cond delay="indefinite"/>
                      </ns0:stCondLst>
                      <ns0:childTnLst>
                        <ns0:par>
                          <ns0:cTn id="91" fill="hold">
                            <ns0:stCondLst>
                              <ns0:cond delay="0"/>
                            </ns0:stCondLst>
                            <ns0:childTnLst>
                              <ns0:par>
                                <ns0:cTn id="92" presetID="42" presetClass="entr" presetSubtype="0" fill="hold" grpId="0" nodeType="clickEffect">
                                  <ns0:stCondLst>
                                    <ns0:cond delay="0"/>
                                  </ns0:stCondLst>
                                  <ns0:childTnLst>
                                    <ns0:set>
                                      <ns0:cBhvr>
                                        <ns0:cTn id="93" dur="1" fill="hold">
                                          <ns0:stCondLst>
                                            <ns0:cond delay="0"/>
                                          </ns0:stCondLst>
                                        </ns0:cTn>
                                        <ns0:tgtEl>
                                          <ns0:spTgt spid="27"/>
                                        </ns0:tgtEl>
                                        <ns0:attrNameLst>
                                          <ns0:attrName>style.visibility</ns0:attrName>
                                        </ns0:attrNameLst>
                                      </ns0:cBhvr>
                                      <ns0:to>
                                        <ns0:strVal val="visible"/>
                                      </ns0:to>
                                    </ns0:set>
                                    <ns0:animEffect transition="in" filter="fade">
                                      <ns0:cBhvr>
                                        <ns0:cTn id="94" dur="500"/>
                                        <ns0:tgtEl>
                                          <ns0:spTgt spid="27"/>
                                        </ns0:tgtEl>
                                      </ns0:cBhvr>
                                    </ns0:animEffect>
                                    <ns0:anim calcmode="lin" valueType="num">
                                      <ns0:cBhvr additive="base">
                                        <ns0:cTn id="95" dur="500" fill="hold"/>
                                        <ns0:tgtEl>
                                          <ns0:spTgt spid="27"/>
                                        </ns0:tgtEl>
                                        <ns0:attrNameLst>
                                          <ns0:attrName>ppt_y</ns0:attrName>
                                        </ns0:attrNameLst>
                                      </ns0:cBhvr>
                                      <ns0:tavLst>
                                        <ns0:tav tm="0">
                                          <ns0:val>
                                            <ns0:strVal val="#ppt_y+0.018"/>
                                          </ns0:val>
                                        </ns0:tav>
                                        <ns0:tav tm="100000">
                                          <ns0:val>
                                            <ns0:strVal val="#ppt_y"/>
                                          </ns0:val>
                                        </ns0:tav>
                                      </ns0:tavLst>
                                    </ns0:anim>
                                  </ns0:childTnLst>
                                </ns0:cTn>
                              </ns0:par>
                              <ns0:par>
                                <ns0:cTn id="96" presetID="42" presetClass="entr" presetSubtype="0" fill="hold" grpId="0" nodeType="withEffect">
                                  <ns0:stCondLst>
                                    <ns0:cond delay="100"/>
                                  </ns0:stCondLst>
                                  <ns0:childTnLst>
                                    <ns0:set>
                                      <ns0:cBhvr>
                                        <ns0:cTn id="97" dur="1" fill="hold">
                                          <ns0:stCondLst>
                                            <ns0:cond delay="0"/>
                                          </ns0:stCondLst>
                                        </ns0:cTn>
                                        <ns0:tgtEl>
                                          <ns0:spTgt spid="28"/>
                                        </ns0:tgtEl>
                                        <ns0:attrNameLst>
                                          <ns0:attrName>style.visibility</ns0:attrName>
                                        </ns0:attrNameLst>
                                      </ns0:cBhvr>
                                      <ns0:to>
                                        <ns0:strVal val="visible"/>
                                      </ns0:to>
                                    </ns0:set>
                                    <ns0:animEffect transition="in" filter="fade">
                                      <ns0:cBhvr>
                                        <ns0:cTn id="98" dur="500"/>
                                        <ns0:tgtEl>
                                          <ns0:spTgt spid="28"/>
                                        </ns0:tgtEl>
                                      </ns0:cBhvr>
                                    </ns0:animEffect>
                                    <ns0:anim calcmode="lin" valueType="num">
                                      <ns0:cBhvr additive="base">
                                        <ns0:cTn id="99" dur="500" fill="hold"/>
                                        <ns0:tgtEl>
                                          <ns0:spTgt spid="28"/>
                                        </ns0:tgtEl>
                                        <ns0:attrNameLst>
                                          <ns0:attrName>ppt_y</ns0:attrName>
                                        </ns0:attrNameLst>
                                      </ns0:cBhvr>
                                      <ns0:tavLst>
                                        <ns0:tav tm="0">
                                          <ns0:val>
                                            <ns0:strVal val="#ppt_y+0.018"/>
                                          </ns0:val>
                                        </ns0:tav>
                                        <ns0:tav tm="100000">
                                          <ns0:val>
                                            <ns0:strVal val="#ppt_y"/>
                                          </ns0:val>
                                        </ns0:tav>
                                      </ns0:tavLst>
                                    </ns0:anim>
                                  </ns0:childTnLst>
                                </ns0:cTn>
                              </ns0:par>
                              <ns0:par>
                                <ns0:cTn id="100" presetID="42" presetClass="entr" presetSubtype="0" fill="hold" grpId="0" nodeType="withEffect">
                                  <ns0:stCondLst>
                                    <ns0:cond delay="200"/>
                                  </ns0:stCondLst>
                                  <ns0:childTnLst>
                                    <ns0:set>
                                      <ns0:cBhvr>
                                        <ns0:cTn id="101" dur="1" fill="hold">
                                          <ns0:stCondLst>
                                            <ns0:cond delay="0"/>
                                          </ns0:stCondLst>
                                        </ns0:cTn>
                                        <ns0:tgtEl>
                                          <ns0:spTgt spid="29"/>
                                        </ns0:tgtEl>
                                        <ns0:attrNameLst>
                                          <ns0:attrName>style.visibility</ns0:attrName>
                                        </ns0:attrNameLst>
                                      </ns0:cBhvr>
                                      <ns0:to>
                                        <ns0:strVal val="visible"/>
                                      </ns0:to>
                                    </ns0:set>
                                    <ns0:animEffect transition="in" filter="fade">
                                      <ns0:cBhvr>
                                        <ns0:cTn id="102" dur="500"/>
                                        <ns0:tgtEl>
                                          <ns0:spTgt spid="29"/>
                                        </ns0:tgtEl>
                                      </ns0:cBhvr>
                                    </ns0:animEffect>
                                    <ns0:anim calcmode="lin" valueType="num">
                                      <ns0:cBhvr additive="base">
                                        <ns0:cTn id="103" dur="500" fill="hold"/>
                                        <ns0:tgtEl>
                                          <ns0:spTgt spid="29"/>
                                        </ns0:tgtEl>
                                        <ns0:attrNameLst>
                                          <ns0:attrName>ppt_y</ns0:attrName>
                                        </ns0:attrNameLst>
                                      </ns0:cBhvr>
                                      <ns0:tavLst>
                                        <ns0:tav tm="0">
                                          <ns0:val>
                                            <ns0:strVal val="#ppt_y+0.018"/>
                                          </ns0:val>
                                        </ns0:tav>
                                        <ns0:tav tm="100000">
                                          <ns0:val>
                                            <ns0:strVal val="#ppt_y"/>
                                          </ns0:val>
                                        </ns0:tav>
                                      </ns0:tavLst>
                                    </ns0:anim>
                                  </ns0:childTnLst>
                                </ns0:cTn>
                              </ns0:par>
                              <ns0:par>
                                <ns0:cTn id="104" presetID="42" presetClass="entr" presetSubtype="0" fill="hold" grpId="0" nodeType="withEffect">
                                  <ns0:stCondLst>
                                    <ns0:cond delay="300"/>
                                  </ns0:stCondLst>
                                  <ns0:childTnLst>
                                    <ns0:set>
                                      <ns0:cBhvr>
                                        <ns0:cTn id="105" dur="1" fill="hold">
                                          <ns0:stCondLst>
                                            <ns0:cond delay="0"/>
                                          </ns0:stCondLst>
                                        </ns0:cTn>
                                        <ns0:tgtEl>
                                          <ns0:spTgt spid="30"/>
                                        </ns0:tgtEl>
                                        <ns0:attrNameLst>
                                          <ns0:attrName>style.visibility</ns0:attrName>
                                        </ns0:attrNameLst>
                                      </ns0:cBhvr>
                                      <ns0:to>
                                        <ns0:strVal val="visible"/>
                                      </ns0:to>
                                    </ns0:set>
                                    <ns0:animEffect transition="in" filter="fade">
                                      <ns0:cBhvr>
                                        <ns0:cTn id="106" dur="500"/>
                                        <ns0:tgtEl>
                                          <ns0:spTgt spid="30"/>
                                        </ns0:tgtEl>
                                      </ns0:cBhvr>
                                    </ns0:animEffect>
                                    <ns0:anim calcmode="lin" valueType="num">
                                      <ns0:cBhvr additive="base">
                                        <ns0:cTn id="107" dur="500" fill="hold"/>
                                        <ns0:tgtEl>
                                          <ns0:spTgt spid="30"/>
                                        </ns0:tgtEl>
                                        <ns0:attrNameLst>
                                          <ns0:attrName>ppt_y</ns0:attrName>
                                        </ns0:attrNameLst>
                                      </ns0:cBhvr>
                                      <ns0:tavLst>
                                        <ns0:tav tm="0">
                                          <ns0:val>
                                            <ns0:strVal val="#ppt_y+0.018"/>
                                          </ns0:val>
                                        </ns0:tav>
                                        <ns0:tav tm="100000">
                                          <ns0:val>
                                            <ns0:strVal val="#ppt_y"/>
                                          </ns0:val>
                                        </ns0:tav>
                                      </ns0:tavLst>
                                    </ns0:anim>
                                  </ns0:childTnLst>
                                </ns0:cTn>
                              </ns0:par>
                              <ns0:par>
                                <ns0:cTn id="108" presetID="42" presetClass="entr" presetSubtype="0" fill="hold" grpId="0" nodeType="withEffect">
                                  <ns0:stCondLst>
                                    <ns0:cond delay="400"/>
                                  </ns0:stCondLst>
                                  <ns0:childTnLst>
                                    <ns0:set>
                                      <ns0:cBhvr>
                                        <ns0:cTn id="109" dur="1" fill="hold">
                                          <ns0:stCondLst>
                                            <ns0:cond delay="0"/>
                                          </ns0:stCondLst>
                                        </ns0:cTn>
                                        <ns0:tgtEl>
                                          <ns0:spTgt spid="31"/>
                                        </ns0:tgtEl>
                                        <ns0:attrNameLst>
                                          <ns0:attrName>style.visibility</ns0:attrName>
                                        </ns0:attrNameLst>
                                      </ns0:cBhvr>
                                      <ns0:to>
                                        <ns0:strVal val="visible"/>
                                      </ns0:to>
                                    </ns0:set>
                                    <ns0:animEffect transition="in" filter="fade">
                                      <ns0:cBhvr>
                                        <ns0:cTn id="110" dur="500"/>
                                        <ns0:tgtEl>
                                          <ns0:spTgt spid="31"/>
                                        </ns0:tgtEl>
                                      </ns0:cBhvr>
                                    </ns0:animEffect>
                                    <ns0:anim calcmode="lin" valueType="num">
                                      <ns0:cBhvr additive="base">
                                        <ns0:cTn id="111" dur="500" fill="hold"/>
                                        <ns0:tgtEl>
                                          <ns0:spTgt spid="31"/>
                                        </ns0:tgtEl>
                                        <ns0:attrNameLst>
                                          <ns0:attrName>ppt_y</ns0:attrName>
                                        </ns0:attrNameLst>
                                      </ns0:cBhvr>
                                      <ns0:tavLst>
                                        <ns0:tav tm="0">
                                          <ns0:val>
                                            <ns0:strVal val="#ppt_y+0.018"/>
                                          </ns0:val>
                                        </ns0:tav>
                                        <ns0:tav tm="100000">
                                          <ns0:val>
                                            <ns0:strVal val="#ppt_y"/>
                                          </ns0:val>
                                        </ns0:tav>
                                      </ns0:tavLst>
                                    </ns0:anim>
                                  </ns0:childTnLst>
                                </ns0:cTn>
                              </ns0:par>
                              <ns0:par>
                                <ns0:cTn id="112" presetID="42" presetClass="entr" presetSubtype="0" fill="hold" grpId="0" nodeType="withEffect">
                                  <ns0:stCondLst>
                                    <ns0:cond delay="500"/>
                                  </ns0:stCondLst>
                                  <ns0:childTnLst>
                                    <ns0:set>
                                      <ns0:cBhvr>
                                        <ns0:cTn id="113" dur="1" fill="hold">
                                          <ns0:stCondLst>
                                            <ns0:cond delay="0"/>
                                          </ns0:stCondLst>
                                        </ns0:cTn>
                                        <ns0:tgtEl>
                                          <ns0:spTgt spid="32"/>
                                        </ns0:tgtEl>
                                        <ns0:attrNameLst>
                                          <ns0:attrName>style.visibility</ns0:attrName>
                                        </ns0:attrNameLst>
                                      </ns0:cBhvr>
                                      <ns0:to>
                                        <ns0:strVal val="visible"/>
                                      </ns0:to>
                                    </ns0:set>
                                    <ns0:animEffect transition="in" filter="fade">
                                      <ns0:cBhvr>
                                        <ns0:cTn id="114" dur="500"/>
                                        <ns0:tgtEl>
                                          <ns0:spTgt spid="32"/>
                                        </ns0:tgtEl>
                                      </ns0:cBhvr>
                                    </ns0:animEffect>
                                    <ns0:anim calcmode="lin" valueType="num">
                                      <ns0:cBhvr additive="base">
                                        <ns0:cTn id="115" dur="500" fill="hold"/>
                                        <ns0:tgtEl>
                                          <ns0:spTgt spid="3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P spid="24" grpId="0"/>
      <ns0:bldP spid="25" grpId="0"/>
      <ns0:bldP spid="26" grpId="0"/>
      <ns0:bldP spid="27" grpId="0"/>
      <ns0:bldP spid="28" grpId="0"/>
      <ns0:bldP spid="29" grpId="0"/>
      <ns0:bldP spid="30" grpId="0"/>
      <ns0:bldP spid="31" grpId="0"/>
      <ns0:bldP spid="32" grpId="0"/>
    </ns0:bldLst>
  </ns0:timing>
</ns0:sld>
</file>

<file path=ppt/slides/slide6.xml><?xml version="1.0" encoding="utf-8"?>
<ns0:sld xmlns:a="http://schemas.openxmlformats.org/drawingml/2006/main" xmlns:ns0="http://schemas.openxmlformats.org/presentationml/2006/main" xmlns:ns2="http://schemas.microsoft.com/office/powerpoint/2010/main" xmlns:ns3="http://schemas.openxmlformats.org/officeDocument/2006/relationships" xmlns:ns4="http://schemas.microsoft.com/office/drawing/2018/hyperlinkcolor">
  <ns0:cSld name="Slide 6">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SẢN PHẨM DỊCH VỤ</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Danh mục dịch vụ &amp; giá đề xuất (VNĐ/phiên)</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06</a:t>
            </a:r>
            <a:endParaRPr lang="en-US" sz="1050" dirty="0"/>
          </a:p>
        </ns0:txBody>
      </ns0:sp>
      <ns0:graphicFrame>
        <ns0:nvGraphicFramePr>
          <ns0:cNvPr id="7" name="Table 0"/>
          <ns0:cNvGraphicFramePr>
            <a:graphicFrameLocks noGrp="1"/>
          </ns0:cNvGraphicFramePr>
          <ns0:nvPr>
            <ns0:extLst>
              <ns0:ext uri="{D42A27DB-BD31-4B8C-83A1-F6EECF244321}">
                <ns2:modId val="1579011935"/>
              </ns0:ext>
            </ns0:extLst>
          </ns0:nvPr>
        </ns0:nvGraphicFramePr>
        <ns0:xfrm>
          <a:off x="502920" y="1828800"/>
          <a:ext cx="7406640" cy="914400"/>
        </ns0:xfrm>
        <a:graphic>
          <a:graphicData uri="http://schemas.openxmlformats.org/drawingml/2006/table">
            <a:tbl>
              <a:tblPr/>
              <a:tblGrid>
                <a:gridCol w="3291840"/>
                <a:gridCol w="1188720"/>
                <a:gridCol w="1463040"/>
                <a:gridCol w="1463040"/>
              </a:tblGrid>
              <a:tr h="457200">
                <a:tc>
                  <a:txBody>
                    <a:bodyPr/>
                    <a:lstStyle/>
                    <a:p>
                      <a:pPr algn="l" indent="0" marL="0">
                        <a:buNone/>
                      </a:pPr>
                      <a:r>
                        <a:rPr lang="en-US" sz="1350" b="1" dirty="0">
                          <a:solidFill>
                            <a:srgbClr val="FFFFFF"/>
                          </a:solidFill>
                          <a:latin typeface="Segoe UI" pitchFamily="34" charset="0"/>
                          <a:ea typeface="Segoe UI" pitchFamily="34" charset="-122"/>
                          <a:cs typeface="Segoe UI" pitchFamily="34" charset="-120"/>
                        </a:rPr>
                        <a:t>Dịch vụ</a:t>
                      </a:r>
                      <a:endParaRPr lang="en-US" sz="135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Thời lượng</a:t>
                      </a:r>
                      <a:endParaRPr lang="en-US" sz="135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Tại cơ sở</a:t>
                      </a:r>
                      <a:endParaRPr lang="en-US" sz="135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c>
                  <a:txBody>
                    <a:bodyPr/>
                    <a:lstStyle/>
                    <a:p>
                      <a:pPr algn="ctr" indent="0" marL="0">
                        <a:buNone/>
                      </a:pPr>
                      <a:r>
                        <a:rPr lang="en-US" sz="1350" b="1" dirty="0">
                          <a:solidFill>
                            <a:srgbClr val="FFFFFF"/>
                          </a:solidFill>
                          <a:latin typeface="Segoe UI" pitchFamily="34" charset="0"/>
                          <a:ea typeface="Segoe UI" pitchFamily="34" charset="-122"/>
                          <a:cs typeface="Segoe UI" pitchFamily="34" charset="-120"/>
                        </a:rPr>
                        <a:t>Tại nhà</a:t>
                      </a:r>
                      <a:endParaRPr lang="en-US" sz="135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r>
              <a:tr h="566928">
                <a:tc>
                  <a:txBody>
                    <a:bodyPr/>
                    <a:lstStyle/>
                    <a:p>
                      <a:pPr algn="l" indent="0" marL="0">
                        <a:buNone/>
                      </a:pPr>
                      <a:r>
                        <a:rPr lang="en-US" sz="1300" dirty="0">
                          <a:solidFill>
                            <a:srgbClr val="16302B"/>
                          </a:solidFill>
                          <a:latin typeface="Segoe UI" pitchFamily="34" charset="0"/>
                          <a:ea typeface="Segoe UI" pitchFamily="34" charset="-122"/>
                          <a:cs typeface="Segoe UI" pitchFamily="34" charset="-120"/>
                        </a:rPr>
                        <a:t>Gội đầu dưỡng sinh thảo dược</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6302B"/>
                          </a:solidFill>
                          <a:latin typeface="Segoe UI" pitchFamily="34" charset="0"/>
                          <a:ea typeface="Segoe UI" pitchFamily="34" charset="-122"/>
                          <a:cs typeface="Segoe UI" pitchFamily="34" charset="-120"/>
                        </a:rPr>
                        <a:t>45 phút</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E7C6B"/>
                          </a:solidFill>
                          <a:latin typeface="Segoe UI" pitchFamily="34" charset="0"/>
                          <a:ea typeface="Segoe UI" pitchFamily="34" charset="-122"/>
                          <a:cs typeface="Segoe UI" pitchFamily="34" charset="-120"/>
                        </a:rPr>
                        <a:t>120.000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590C"/>
                          </a:solidFill>
                          <a:latin typeface="Segoe UI" pitchFamily="34" charset="0"/>
                          <a:ea typeface="Segoe UI" pitchFamily="34" charset="-122"/>
                          <a:cs typeface="Segoe UI" pitchFamily="34" charset="-120"/>
                        </a:rPr>
                        <a:t>200.000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6302B"/>
                          </a:solidFill>
                          <a:latin typeface="Segoe UI" pitchFamily="34" charset="0"/>
                          <a:ea typeface="Segoe UI" pitchFamily="34" charset="-122"/>
                          <a:cs typeface="Segoe UI" pitchFamily="34" charset="-120"/>
                        </a:rPr>
                        <a:t>Massage cổ – vai – gáy trị liệu</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300" dirty="0">
                          <a:solidFill>
                            <a:srgbClr val="16302B"/>
                          </a:solidFill>
                          <a:latin typeface="Segoe UI" pitchFamily="34" charset="0"/>
                          <a:ea typeface="Segoe UI" pitchFamily="34" charset="-122"/>
                          <a:cs typeface="Segoe UI" pitchFamily="34" charset="-120"/>
                        </a:rPr>
                        <a:t>60 phút</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300" b="1" dirty="0">
                          <a:solidFill>
                            <a:srgbClr val="0E7C6B"/>
                          </a:solidFill>
                          <a:latin typeface="Segoe UI" pitchFamily="34" charset="0"/>
                          <a:ea typeface="Segoe UI" pitchFamily="34" charset="-122"/>
                          <a:cs typeface="Segoe UI" pitchFamily="34" charset="-120"/>
                        </a:rPr>
                        <a:t>180.000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300" b="1" dirty="0">
                          <a:solidFill>
                            <a:srgbClr val="E8590C"/>
                          </a:solidFill>
                          <a:latin typeface="Segoe UI" pitchFamily="34" charset="0"/>
                          <a:ea typeface="Segoe UI" pitchFamily="34" charset="-122"/>
                          <a:cs typeface="Segoe UI" pitchFamily="34" charset="-120"/>
                        </a:rPr>
                        <a:t>270.000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r>
              <a:tr h="566928">
                <a:tc>
                  <a:txBody>
                    <a:bodyPr/>
                    <a:lstStyle/>
                    <a:p>
                      <a:pPr algn="l" indent="0" marL="0">
                        <a:buNone/>
                      </a:pPr>
                      <a:r>
                        <a:rPr lang="en-US" sz="1300" dirty="0">
                          <a:solidFill>
                            <a:srgbClr val="16302B"/>
                          </a:solidFill>
                          <a:latin typeface="Segoe UI" pitchFamily="34" charset="0"/>
                          <a:ea typeface="Segoe UI" pitchFamily="34" charset="-122"/>
                          <a:cs typeface="Segoe UI" pitchFamily="34" charset="-120"/>
                        </a:rPr>
                        <a:t>Massage toàn thân thư giãn</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6302B"/>
                          </a:solidFill>
                          <a:latin typeface="Segoe UI" pitchFamily="34" charset="0"/>
                          <a:ea typeface="Segoe UI" pitchFamily="34" charset="-122"/>
                          <a:cs typeface="Segoe UI" pitchFamily="34" charset="-120"/>
                        </a:rPr>
                        <a:t>70 phút</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E7C6B"/>
                          </a:solidFill>
                          <a:latin typeface="Segoe UI" pitchFamily="34" charset="0"/>
                          <a:ea typeface="Segoe UI" pitchFamily="34" charset="-122"/>
                          <a:cs typeface="Segoe UI" pitchFamily="34" charset="-120"/>
                        </a:rPr>
                        <a:t>220.000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E8590C"/>
                          </a:solidFill>
                          <a:latin typeface="Segoe UI" pitchFamily="34" charset="0"/>
                          <a:ea typeface="Segoe UI" pitchFamily="34" charset="-122"/>
                          <a:cs typeface="Segoe UI" pitchFamily="34" charset="-120"/>
                        </a:rPr>
                        <a:t>320.000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6302B"/>
                          </a:solidFill>
                          <a:latin typeface="Segoe UI" pitchFamily="34" charset="0"/>
                          <a:ea typeface="Segoe UI" pitchFamily="34" charset="-122"/>
                          <a:cs typeface="Segoe UI" pitchFamily="34" charset="-120"/>
                        </a:rPr>
                        <a:t>Bấm huyệt – đả thông kinh lạc</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300" dirty="0">
                          <a:solidFill>
                            <a:srgbClr val="16302B"/>
                          </a:solidFill>
                          <a:latin typeface="Segoe UI" pitchFamily="34" charset="0"/>
                          <a:ea typeface="Segoe UI" pitchFamily="34" charset="-122"/>
                          <a:cs typeface="Segoe UI" pitchFamily="34" charset="-120"/>
                        </a:rPr>
                        <a:t>60 phút</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300" b="1" dirty="0">
                          <a:solidFill>
                            <a:srgbClr val="0E7C6B"/>
                          </a:solidFill>
                          <a:latin typeface="Segoe UI" pitchFamily="34" charset="0"/>
                          <a:ea typeface="Segoe UI" pitchFamily="34" charset="-122"/>
                          <a:cs typeface="Segoe UI" pitchFamily="34" charset="-120"/>
                        </a:rPr>
                        <a:t>200.000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300" b="1" dirty="0">
                          <a:solidFill>
                            <a:srgbClr val="E8590C"/>
                          </a:solidFill>
                          <a:latin typeface="Segoe UI" pitchFamily="34" charset="0"/>
                          <a:ea typeface="Segoe UI" pitchFamily="34" charset="-122"/>
                          <a:cs typeface="Segoe UI" pitchFamily="34" charset="-120"/>
                        </a:rPr>
                        <a:t>290.000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r>
              <a:tr h="566928">
                <a:tc>
                  <a:txBody>
                    <a:bodyPr/>
                    <a:lstStyle/>
                    <a:p>
                      <a:pPr algn="l" indent="0" marL="0">
                        <a:buNone/>
                      </a:pPr>
                      <a:r>
                        <a:rPr lang="en-US" sz="1300" dirty="0">
                          <a:solidFill>
                            <a:srgbClr val="16302B"/>
                          </a:solidFill>
                          <a:latin typeface="Segoe UI" pitchFamily="34" charset="0"/>
                          <a:ea typeface="Segoe UI" pitchFamily="34" charset="-122"/>
                          <a:cs typeface="Segoe UI" pitchFamily="34" charset="-120"/>
                        </a:rPr>
                        <a:t>Chườm thảo dược – xông hơi đông y</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6302B"/>
                          </a:solidFill>
                          <a:latin typeface="Segoe UI" pitchFamily="34" charset="0"/>
                          <a:ea typeface="Segoe UI" pitchFamily="34" charset="-122"/>
                          <a:cs typeface="Segoe UI" pitchFamily="34" charset="-120"/>
                        </a:rPr>
                        <a:t>60 phút</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E7C6B"/>
                          </a:solidFill>
                          <a:latin typeface="Segoe UI" pitchFamily="34" charset="0"/>
                          <a:ea typeface="Segoe UI" pitchFamily="34" charset="-122"/>
                          <a:cs typeface="Segoe UI" pitchFamily="34" charset="-120"/>
                        </a:rPr>
                        <a:t>180.000</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300" i="1" dirty="0">
                          <a:solidFill>
                            <a:srgbClr val="E8590C"/>
                          </a:solidFill>
                          <a:latin typeface="Segoe UI" pitchFamily="34" charset="0"/>
                          <a:ea typeface="Segoe UI" pitchFamily="34" charset="-122"/>
                          <a:cs typeface="Segoe UI" pitchFamily="34" charset="-120"/>
                        </a:rPr>
                        <a:t>—</a:t>
                      </a:r>
                      <a:endParaRPr lang="en-US" sz="1300" dirty="0">
                        <a:latin typeface="Segoe UI" charset="0"/>
                        <a:ea typeface="Segoe UI" charset="0"/>
                        <a:cs typeface="Segoe UI" charset="0"/>
                      </a:endParaRPr>
                    </a:p>
                  </a:txBody>
                  <a:tcPr marL="73152" marR="73152" marT="73152" marB="73152"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r>
            </a:tbl>
          </a:graphicData>
        </a:graphic>
      </ns0:graphicFrame>
      <ns0:sp>
        <ns0:nvSpPr>
          <ns0:cNvPr id="8" name="Shape 5"/>
          <ns0:cNvSpPr/>
          <ns0:nvPr/>
        </ns0:nvSpPr>
        <ns0:spPr>
          <a:xfrm>
            <a:off x="8229600" y="1828800"/>
            <a:ext cx="3456432" cy="2011680"/>
          </a:xfrm>
          <a:prstGeom prst="roundRect">
            <a:avLst>
              <a:gd name="adj" fmla="val 4545"/>
            </a:avLst>
          </a:prstGeom>
          <a:solidFill>
            <a:srgbClr val="0B3B34"/>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9" name="Text 6"/>
          <ns0:cNvSpPr/>
          <ns0:nvPr/>
        </ns0:nvSpPr>
        <ns0:spPr>
          <a:xfrm>
            <a:off x="8503920" y="2048256"/>
            <a:ext cx="2926080" cy="274320"/>
          </a:xfrm>
          <a:prstGeom prst="rect">
            <a:avLst/>
          </a:prstGeom>
          <a:noFill/>
          <a:ln/>
        </ns0:spPr>
        <ns0:txBody>
          <a:bodyPr wrap="square" lIns="0" tIns="0" rIns="0" bIns="0" rtlCol="0" anchor="ctr"/>
          <a:lstStyle/>
          <a:p>
            <a:pPr indent="0" marL="0">
              <a:buNone/>
            </a:pPr>
            <a:r>
              <a:rPr lang="en-US" sz="1100" b="1" spc="200" kern="0" dirty="0">
                <a:solidFill>
                  <a:srgbClr val="9ED9CC"/>
                </a:solidFill>
                <a:latin typeface="Segoe UI" pitchFamily="34" charset="0"/>
                <a:ea typeface="Segoe UI" pitchFamily="34" charset="-122"/>
                <a:cs typeface="Segoe UI" pitchFamily="34" charset="-120"/>
              </a:rPr>
              <a:t>PHỤC VỤ TẬN NHÀ</a:t>
            </a:r>
            <a:endParaRPr lang="en-US" sz="1100" dirty="0"/>
          </a:p>
        </ns0:txBody>
      </ns0:sp>
      <ns0:sp>
        <ns0:nvSpPr>
          <ns0:cNvPr id="10" name="Text 7"/>
          <ns0:cNvSpPr/>
          <ns0:nvPr/>
        </ns0:nvSpPr>
        <ns0:spPr>
          <a:xfrm>
            <a:off x="8503920" y="2359152"/>
            <a:ext cx="2926080" cy="1371600"/>
          </a:xfrm>
          <a:prstGeom prst="rect">
            <a:avLst/>
          </a:prstGeom>
          <a:noFill/>
          <a:ln/>
        </ns0:spPr>
        <ns0:txBody>
          <a:bodyPr wrap="square" lIns="0" tIns="0" rIns="0" bIns="0" rtlCol="0" anchor="ctr"/>
          <a:lstStyle/>
          <a:p>
            <a:pPr indent="0" marL="0">
              <a:lnSpc>
                <a:spcPct val="115000"/>
              </a:lnSpc>
              <a:spcAft>
                <a:spcPts val="600"/>
              </a:spcAft>
              <a:buNone/>
            </a:pPr>
            <a:r>
              <a:rPr lang="en-US" sz="1500" b="1" dirty="0">
                <a:solidFill>
                  <a:srgbClr val="FFFFFF"/>
                </a:solidFill>
                <a:latin typeface="Segoe UI" pitchFamily="34" charset="0"/>
                <a:ea typeface="Segoe UI" pitchFamily="34" charset="-122"/>
                <a:cs typeface="Segoe UI" pitchFamily="34" charset="-120"/>
              </a:rPr>
              <a:t>Miễn phí trong bán kính 5 km</a:t>
            </a:r>
            <a:endParaRPr lang="en-US" sz="1500" dirty="0"/>
          </a:p>
          <a:p>
            <a:pPr indent="0" marL="0">
              <a:lnSpc>
                <a:spcPct val="115000"/>
              </a:lnSpc>
              <a:spcAft>
                <a:spcPts val="600"/>
              </a:spcAft>
              <a:buNone/>
            </a:pPr>
            <a:r>
              <a:rPr lang="en-US" sz="1150" dirty="0">
                <a:solidFill>
                  <a:srgbClr val="B9D8D0"/>
                </a:solidFill>
                <a:latin typeface="Segoe UI" pitchFamily="34" charset="0"/>
                <a:ea typeface="Segoe UI" pitchFamily="34" charset="-122"/>
                <a:cs typeface="Segoe UI" pitchFamily="34" charset="-120"/>
              </a:rPr>
              <a:t>Xa hơn: phụ thu 20.000 đ mỗi 5 km; khách đặt tối thiểu 2 buổi mỗi lượt. Kỹ thuật viên mang theo đầy đủ đệm, dầu xoa, khăn sạch.</a:t>
            </a:r>
            <a:endParaRPr lang="en-US" sz="1500" dirty="0"/>
          </a:p>
        </ns0:txBody>
      </ns0:sp>
      <ns0:sp>
        <ns0:nvSpPr>
          <ns0:cNvPr id="11" name="Shape 8"/>
          <ns0:cNvSpPr/>
          <ns0:nvPr/>
        </ns0:nvSpPr>
        <ns0:spPr>
          <a:xfrm>
            <a:off x="8229600" y="4069080"/>
            <a:ext cx="3456432" cy="1920240"/>
          </a:xfrm>
          <a:prstGeom prst="roundRect">
            <a:avLst>
              <a:gd name="adj" fmla="val 4762"/>
            </a:avLst>
          </a:prstGeom>
          <a:solidFill>
            <a:srgbClr val="FDEBDD"/>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2" name="Text 9"/>
          <ns0:cNvSpPr/>
          <ns0:nvPr/>
        </ns0:nvSpPr>
        <ns0:spPr>
          <a:xfrm>
            <a:off x="8503920" y="4251960"/>
            <a:ext cx="2926080" cy="1554480"/>
          </a:xfrm>
          <a:prstGeom prst="rect">
            <a:avLst/>
          </a:prstGeom>
          <a:noFill/>
          <a:ln/>
        </ns0:spPr>
        <ns0:txBody>
          <a:bodyPr wrap="square" lIns="0" tIns="0" rIns="0" bIns="0" rtlCol="0" anchor="ctr"/>
          <a:lstStyle/>
          <a:p>
            <a:pPr indent="0" marL="0">
              <a:lnSpc>
                <a:spcPct val="115000"/>
              </a:lnSpc>
              <a:spcAft>
                <a:spcPts val="600"/>
              </a:spcAft>
              <a:buNone/>
            </a:pPr>
            <a:r>
              <a:rPr lang="en-US" sz="1400" b="1" dirty="0">
                <a:solidFill>
                  <a:srgbClr val="E8590C"/>
                </a:solidFill>
                <a:latin typeface="Segoe UI" pitchFamily="34" charset="0"/>
                <a:ea typeface="Segoe UI" pitchFamily="34" charset="-122"/>
                <a:cs typeface="Segoe UI" pitchFamily="34" charset="-120"/>
              </a:rPr>
              <a:t>Định vị giá</a:t>
            </a:r>
            <a:endParaRPr lang="en-US" sz="1400" dirty="0"/>
          </a:p>
          <a:p>
            <a:pPr indent="0" marL="0">
              <a:lnSpc>
                <a:spcPct val="115000"/>
              </a:lnSpc>
              <a:spcAft>
                <a:spcPts val="600"/>
              </a:spcAft>
              <a:buNone/>
            </a:pPr>
            <a:r>
              <a:rPr lang="en-US" sz="1150" dirty="0">
                <a:solidFill>
                  <a:srgbClr val="16302B"/>
                </a:solidFill>
                <a:latin typeface="Segoe UI" pitchFamily="34" charset="0"/>
                <a:ea typeface="Segoe UI" pitchFamily="34" charset="-122"/>
                <a:cs typeface="Segoe UI" pitchFamily="34" charset="-120"/>
              </a:rPr>
              <a:t>Thị trường tại nhà cho người lớn tuổi: 350.000–620.000 đ/phiên (TP.HCM). CareTouch ở khoảng 200.000–320.000 đ — chênh lệch 80–100 nghìn đ bù thời gian di chuyển, vẫn dưới phân khúc spa.</a:t>
            </a:r>
            <a:endParaRPr lang="en-US" sz="1400" dirty="0"/>
          </a:p>
        </ns0:txBody>
      </ns0:sp>
      <ns0:sp>
        <ns0:nvSpPr>
          <ns0:cNvPr id="13" name="Text 10"/>
          <ns0:cNvSpPr/>
          <ns0:nvPr/>
        </ns0:nvSpPr>
        <ns0:spPr>
          <a:xfrm>
            <a:off x="502920" y="647395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Giá đề xuất của nhóm, căn theo khảo sát thị trường: </a:t>
            </a:r>
            <a:r>
              <a:rPr lang="en-US" sz="1050" u="sng" dirty="0">
                <a:solidFill>
                  <a:srgbClr val="0E7C6B"/>
                </a:solidFill>
                <a:latin typeface="Segoe UI" pitchFamily="34" charset="0"/>
                <a:ea typeface="Segoe UI" pitchFamily="34" charset="-122"/>
                <a:cs typeface="Segoe UI" pitchFamily="34" charset="-120"/>
                <a:hlinkClick ns3:id="rId1" invalidUrl="" action="" tgtFrame="" tooltip="" history="1" highlightClick="0" endSnd="0">
                  <a:extLst>
                    <a:ext uri="{A12FA001-AC4F-418D-AE19-62706E023703}">
                      <ns4:hlinkClr val="tx"/>
                    </a:ext>
                  </a:extLst>
                </a:hlinkClick>
              </a:rPr>
              <a:t>Massagenha.com, 7/2025</a:t>
            </a:r>
            <a:r>
              <a:rPr lang="en-US" sz="1050" i="1" dirty="0">
                <a:solidFill>
                  <a:srgbClr val="5C7370"/>
                </a:solidFill>
                <a:latin typeface="Segoe UI" pitchFamily="34" charset="0"/>
                <a:ea typeface="Segoe UI" pitchFamily="34" charset="-122"/>
                <a:cs typeface="Segoe UI" pitchFamily="34" charset="-120"/>
              </a:rPr>
              <a:t> — con số sẽ hiệu chỉnh theo địa bàn triển khai thực tế.</a:t>
            </a:r>
            <a:endParaRPr lang="en-US" sz="10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32"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8" fill="hold">
                      <ns0:stCondLst>
                        <ns0:cond delay="indefinite"/>
                      </ns0:stCondLst>
                      <ns0:childTnLst>
                        <ns0:par>
                          <ns0:cTn id="9" fill="hold">
                            <ns0:stCondLst>
                              <ns0:cond delay="0"/>
                            </ns0:stCondLst>
                            <ns0:childTnLst>
                              <ns0:par>
                                <ns0:cTn id="10" presetID="42" presetClass="entr" presetSubtype="0" fill="hold" grpId="0" nodeType="clickEffect">
                                  <ns0:stCondLst>
                                    <ns0:cond delay="0"/>
                                  </ns0:stCondLst>
                                  <ns0:childTnLst>
                                    <ns0:set>
                                      <ns0:cBhvr>
                                        <ns0:cTn id="11" dur="1" fill="hold">
                                          <ns0:stCondLst>
                                            <ns0:cond delay="0"/>
                                          </ns0:stCondLst>
                                        </ns0:cTn>
                                        <ns0:tgtEl>
                                          <ns0:spTgt spid="8"/>
                                        </ns0:tgtEl>
                                        <ns0:attrNameLst>
                                          <ns0:attrName>style.visibility</ns0:attrName>
                                        </ns0:attrNameLst>
                                      </ns0:cBhvr>
                                      <ns0:to>
                                        <ns0:strVal val="visible"/>
                                      </ns0:to>
                                    </ns0:set>
                                    <ns0:animEffect transition="in" filter="fade">
                                      <ns0:cBhvr>
                                        <ns0:cTn id="12" dur="500"/>
                                        <ns0:tgtEl>
                                          <ns0:spTgt spid="8"/>
                                        </ns0:tgtEl>
                                      </ns0:cBhvr>
                                    </ns0:animEffect>
                                    <ns0:anim calcmode="lin" valueType="num">
                                      <ns0:cBhvr additive="base">
                                        <ns0:cTn id="13"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4" presetID="42" presetClass="entr" presetSubtype="0" fill="hold" grpId="0" nodeType="withEffect">
                                  <ns0:stCondLst>
                                    <ns0:cond delay="100"/>
                                  </ns0:stCondLst>
                                  <ns0:childTnLst>
                                    <ns0:set>
                                      <ns0:cBhvr>
                                        <ns0:cTn id="15" dur="1" fill="hold">
                                          <ns0:stCondLst>
                                            <ns0:cond delay="0"/>
                                          </ns0:stCondLst>
                                        </ns0:cTn>
                                        <ns0:tgtEl>
                                          <ns0:spTgt spid="9"/>
                                        </ns0:tgtEl>
                                        <ns0:attrNameLst>
                                          <ns0:attrName>style.visibility</ns0:attrName>
                                        </ns0:attrNameLst>
                                      </ns0:cBhvr>
                                      <ns0:to>
                                        <ns0:strVal val="visible"/>
                                      </ns0:to>
                                    </ns0:set>
                                    <ns0:animEffect transition="in" filter="fade">
                                      <ns0:cBhvr>
                                        <ns0:cTn id="16" dur="500"/>
                                        <ns0:tgtEl>
                                          <ns0:spTgt spid="9"/>
                                        </ns0:tgtEl>
                                      </ns0:cBhvr>
                                    </ns0:animEffect>
                                    <ns0:anim calcmode="lin" valueType="num">
                                      <ns0:cBhvr additive="base">
                                        <ns0:cTn id="17"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8" presetID="42" presetClass="entr" presetSubtype="0" fill="hold" grpId="0" nodeType="withEffect">
                                  <ns0:stCondLst>
                                    <ns0:cond delay="200"/>
                                  </ns0:stCondLst>
                                  <ns0:childTnLst>
                                    <ns0:set>
                                      <ns0:cBhvr>
                                        <ns0:cTn id="19" dur="1" fill="hold">
                                          <ns0:stCondLst>
                                            <ns0:cond delay="0"/>
                                          </ns0:stCondLst>
                                        </ns0:cTn>
                                        <ns0:tgtEl>
                                          <ns0:spTgt spid="10"/>
                                        </ns0:tgtEl>
                                        <ns0:attrNameLst>
                                          <ns0:attrName>style.visibility</ns0:attrName>
                                        </ns0:attrNameLst>
                                      </ns0:cBhvr>
                                      <ns0:to>
                                        <ns0:strVal val="visible"/>
                                      </ns0:to>
                                    </ns0:set>
                                    <ns0:animEffect transition="in" filter="fade">
                                      <ns0:cBhvr>
                                        <ns0:cTn id="20" dur="500"/>
                                        <ns0:tgtEl>
                                          <ns0:spTgt spid="10"/>
                                        </ns0:tgtEl>
                                      </ns0:cBhvr>
                                    </ns0:animEffect>
                                    <ns0:anim calcmode="lin" valueType="num">
                                      <ns0:cBhvr additive="base">
                                        <ns0:cTn id="21"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2" fill="hold">
                      <ns0:stCondLst>
                        <ns0:cond delay="indefinite"/>
                      </ns0:stCondLst>
                      <ns0:childTnLst>
                        <ns0:par>
                          <ns0:cTn id="23" fill="hold">
                            <ns0:stCondLst>
                              <ns0:cond delay="0"/>
                            </ns0:stCondLst>
                            <ns0:childTnLst>
                              <ns0:par>
                                <ns0:cTn id="24" presetID="42" presetClass="entr" presetSubtype="0" fill="hold" grpId="0" nodeType="clickEffect">
                                  <ns0:stCondLst>
                                    <ns0:cond delay="0"/>
                                  </ns0:stCondLst>
                                  <ns0:childTnLst>
                                    <ns0:set>
                                      <ns0:cBhvr>
                                        <ns0:cTn id="25" dur="1" fill="hold">
                                          <ns0:stCondLst>
                                            <ns0:cond delay="0"/>
                                          </ns0:stCondLst>
                                        </ns0:cTn>
                                        <ns0:tgtEl>
                                          <ns0:spTgt spid="11"/>
                                        </ns0:tgtEl>
                                        <ns0:attrNameLst>
                                          <ns0:attrName>style.visibility</ns0:attrName>
                                        </ns0:attrNameLst>
                                      </ns0:cBhvr>
                                      <ns0:to>
                                        <ns0:strVal val="visible"/>
                                      </ns0:to>
                                    </ns0:set>
                                    <ns0:animEffect transition="in" filter="fade">
                                      <ns0:cBhvr>
                                        <ns0:cTn id="26" dur="500"/>
                                        <ns0:tgtEl>
                                          <ns0:spTgt spid="11"/>
                                        </ns0:tgtEl>
                                      </ns0:cBhvr>
                                    </ns0:animEffect>
                                    <ns0:anim calcmode="lin" valueType="num">
                                      <ns0:cBhvr additive="base">
                                        <ns0:cTn id="27"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28" presetID="42" presetClass="entr" presetSubtype="0" fill="hold" grpId="0" nodeType="withEffect">
                                  <ns0:stCondLst>
                                    <ns0:cond delay="100"/>
                                  </ns0:stCondLst>
                                  <ns0:childTnLst>
                                    <ns0:set>
                                      <ns0:cBhvr>
                                        <ns0:cTn id="29" dur="1" fill="hold">
                                          <ns0:stCondLst>
                                            <ns0:cond delay="0"/>
                                          </ns0:stCondLst>
                                        </ns0:cTn>
                                        <ns0:tgtEl>
                                          <ns0:spTgt spid="12"/>
                                        </ns0:tgtEl>
                                        <ns0:attrNameLst>
                                          <ns0:attrName>style.visibility</ns0:attrName>
                                        </ns0:attrNameLst>
                                      </ns0:cBhvr>
                                      <ns0:to>
                                        <ns0:strVal val="visible"/>
                                      </ns0:to>
                                    </ns0:set>
                                    <ns0:animEffect transition="in" filter="fade">
                                      <ns0:cBhvr>
                                        <ns0:cTn id="30" dur="500"/>
                                        <ns0:tgtEl>
                                          <ns0:spTgt spid="12"/>
                                        </ns0:tgtEl>
                                      </ns0:cBhvr>
                                    </ns0:animEffect>
                                    <ns0:anim calcmode="lin" valueType="num">
                                      <ns0:cBhvr additive="base">
                                        <ns0:cTn id="31"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Graphic spid="7" grpId="0">
        <ns0:bldAsOne/>
      </ns0:bldGraphic>
      <ns0:bldP spid="8" grpId="0"/>
      <ns0:bldP spid="9" grpId="0"/>
      <ns0:bldP spid="10" grpId="0"/>
      <ns0:bldP spid="11" grpId="0"/>
      <ns0:bldP spid="12" grpId="0"/>
    </ns0:bldLst>
  </ns0:timing>
</ns0:sld>
</file>

<file path=ppt/slides/slide7.xml><?xml version="1.0" encoding="utf-8"?>
<ns0:sld xmlns:a="http://schemas.openxmlformats.org/drawingml/2006/main" xmlns:ns0="http://schemas.openxmlformats.org/presentationml/2006/main">
  <ns0:cSld name="Slide 7">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MÔ HÌNH DOANH THU</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Thiết kế doanh thu lặp lại — liệu trình 5–10 buổi, khách quay lại là mặc định</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07</a:t>
            </a:r>
            <a:endParaRPr lang="en-US" sz="1050" dirty="0"/>
          </a:p>
        </ns0:txBody>
      </ns0:sp>
      <ns0:sp>
        <ns0:nvSpPr>
          <ns0:cNvPr id="7" name="Shape 5"/>
          <ns0:cNvSpPr/>
          <ns0:nvPr/>
        </ns0:nvSpPr>
        <ns0:spPr>
          <a:xfrm>
            <a:off x="502920" y="1828800"/>
            <a:ext cx="3593592" cy="3291840"/>
          </a:xfrm>
          <a:prstGeom prst="roundRect">
            <a:avLst>
              <a:gd name="adj" fmla="val 2778"/>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Text 6"/>
          <ns0:cNvSpPr/>
          <ns0:nvPr/>
        </ns0:nvSpPr>
        <ns0:spPr>
          <a:xfrm>
            <a:off x="777240" y="2084832"/>
            <a:ext cx="3017520" cy="292608"/>
          </a:xfrm>
          <a:prstGeom prst="rect">
            <a:avLst/>
          </a:prstGeom>
          <a:noFill/>
          <a:ln/>
        </ns0:spPr>
        <ns0:txBody>
          <a:bodyPr wrap="square" lIns="0" tIns="0" rIns="0" bIns="0" rtlCol="0" anchor="ctr"/>
          <a:lstStyle/>
          <a:p>
            <a:pPr indent="0" marL="0">
              <a:buNone/>
            </a:pPr>
            <a:r>
              <a:rPr lang="en-US" sz="1200" b="1" spc="200" kern="0" dirty="0">
                <a:solidFill>
                  <a:srgbClr val="2AA88F"/>
                </a:solidFill>
                <a:latin typeface="Segoe UI" pitchFamily="34" charset="0"/>
                <a:ea typeface="Segoe UI" pitchFamily="34" charset="-122"/>
                <a:cs typeface="Segoe UI" pitchFamily="34" charset="-120"/>
              </a:rPr>
              <a:t>MUA LẺ</a:t>
            </a:r>
            <a:endParaRPr lang="en-US" sz="1200" dirty="0"/>
          </a:p>
        </ns0:txBody>
      </ns0:sp>
      <ns0:sp>
        <ns0:nvSpPr>
          <ns0:cNvPr id="9" name="Text 7"/>
          <ns0:cNvSpPr/>
          <ns0:nvPr/>
        </ns0:nvSpPr>
        <ns0:spPr>
          <a:xfrm>
            <a:off x="777240" y="2395728"/>
            <a:ext cx="3154680" cy="685800"/>
          </a:xfrm>
          <a:prstGeom prst="rect">
            <a:avLst/>
          </a:prstGeom>
          <a:noFill/>
          <a:ln/>
        </ns0:spPr>
        <ns0:txBody>
          <a:bodyPr wrap="square" lIns="0" tIns="0" rIns="0" bIns="0" rtlCol="0" anchor="ctr"/>
          <a:lstStyle/>
          <a:p>
            <a:pPr indent="0" marL="0">
              <a:buNone/>
            </a:pPr>
            <a:r>
              <a:rPr lang="en-US" sz="2100" b="1" dirty="0">
                <a:solidFill>
                  <a:srgbClr val="16302B"/>
                </a:solidFill>
                <a:latin typeface="Segoe UI" pitchFamily="34" charset="0"/>
                <a:ea typeface="Segoe UI" pitchFamily="34" charset="-122"/>
                <a:cs typeface="Segoe UI" pitchFamily="34" charset="-120"/>
              </a:rPr>
              <a:t>120.000–290.000 đ</a:t>
            </a:r>
            <a:endParaRPr lang="en-US" sz="2100" dirty="0"/>
          </a:p>
        </ns0:txBody>
      </ns0:sp>
      <ns0:sp>
        <ns0:nvSpPr>
          <ns0:cNvPr id="10" name="Text 8"/>
          <ns0:cNvSpPr/>
          <ns0:nvPr/>
        </ns0:nvSpPr>
        <ns0:spPr>
          <a:xfrm>
            <a:off x="777240" y="3246120"/>
            <a:ext cx="3108960" cy="1737360"/>
          </a:xfrm>
          <a:prstGeom prst="rect">
            <a:avLst/>
          </a:prstGeom>
          <a:noFill/>
          <a:ln/>
        </ns0:spPr>
        <ns0:txBody>
          <a:bodyPr wrap="square" lIns="0" tIns="0" rIns="0" bIns="0" rtlCol="0" anchor="ctr"/>
          <a:lstStyle/>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Không ràng buộc</a:t>
            </a:r>
            <a:endParaRPr lang="en-US" sz="1200" dirty="0"/>
          </a:p>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Giá niêm yết, không phát sinh</a:t>
            </a:r>
            <a:endParaRPr lang="en-US" sz="1200" dirty="0"/>
          </a:p>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Tích điểm thành viên từ phiên đầu</a:t>
            </a:r>
            <a:endParaRPr lang="en-US" sz="1200" dirty="0"/>
          </a:p>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Dành cho khách trải nghiệm lần đầu</a:t>
            </a:r>
            <a:endParaRPr lang="en-US" sz="1200" dirty="0"/>
          </a:p>
        </ns0:txBody>
      </ns0:sp>
      <ns0:sp>
        <ns0:nvSpPr>
          <ns0:cNvPr id="11" name="Shape 9"/>
          <ns0:cNvSpPr/>
          <ns0:nvPr/>
        </ns0:nvSpPr>
        <ns0:spPr>
          <a:xfrm>
            <a:off x="4279392" y="1828800"/>
            <a:ext cx="3593592" cy="3291840"/>
          </a:xfrm>
          <a:prstGeom prst="roundRect">
            <a:avLst>
              <a:gd name="adj" fmla="val 2778"/>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2" name="Text 10"/>
          <ns0:cNvSpPr/>
          <ns0:nvPr/>
        </ns0:nvSpPr>
        <ns0:spPr>
          <a:xfrm>
            <a:off x="4553712" y="2084832"/>
            <a:ext cx="3017520" cy="292608"/>
          </a:xfrm>
          <a:prstGeom prst="rect">
            <a:avLst/>
          </a:prstGeom>
          <a:noFill/>
          <a:ln/>
        </ns0:spPr>
        <ns0:txBody>
          <a:bodyPr wrap="square" lIns="0" tIns="0" rIns="0" bIns="0" rtlCol="0" anchor="ctr"/>
          <a:lstStyle/>
          <a:p>
            <a:pPr indent="0" marL="0">
              <a:buNone/>
            </a:pPr>
            <a:r>
              <a:rPr lang="en-US" sz="1200" b="1" spc="200" kern="0" dirty="0">
                <a:solidFill>
                  <a:srgbClr val="2AA88F"/>
                </a:solidFill>
                <a:latin typeface="Segoe UI" pitchFamily="34" charset="0"/>
                <a:ea typeface="Segoe UI" pitchFamily="34" charset="-122"/>
                <a:cs typeface="Segoe UI" pitchFamily="34" charset="-120"/>
              </a:rPr>
              <a:t>COMBO 5 BUỔI</a:t>
            </a:r>
            <a:endParaRPr lang="en-US" sz="1200" dirty="0"/>
          </a:p>
        </ns0:txBody>
      </ns0:sp>
      <ns0:sp>
        <ns0:nvSpPr>
          <ns0:cNvPr id="13" name="Text 11"/>
          <ns0:cNvSpPr/>
          <ns0:nvPr/>
        </ns0:nvSpPr>
        <ns0:spPr>
          <a:xfrm>
            <a:off x="4553712" y="2395728"/>
            <a:ext cx="3154680" cy="685800"/>
          </a:xfrm>
          <a:prstGeom prst="rect">
            <a:avLst/>
          </a:prstGeom>
          <a:noFill/>
          <a:ln/>
        </ns0:spPr>
        <ns0:txBody>
          <a:bodyPr wrap="square" lIns="0" tIns="0" rIns="0" bIns="0" rtlCol="0" anchor="ctr"/>
          <a:lstStyle/>
          <a:p>
            <a:pPr indent="0" marL="0">
              <a:buNone/>
            </a:pPr>
            <a:r>
              <a:rPr lang="en-US" sz="3400" b="1" dirty="0">
                <a:solidFill>
                  <a:srgbClr val="0E7C6B"/>
                </a:solidFill>
                <a:latin typeface="Segoe UI" pitchFamily="34" charset="0"/>
                <a:ea typeface="Segoe UI" pitchFamily="34" charset="-122"/>
                <a:cs typeface="Segoe UI" pitchFamily="34" charset="-120"/>
              </a:rPr>
              <a:t>890.000 đ</a:t>
            </a:r>
            <a:r>
              <a:rPr lang="en-US" sz="1200" dirty="0">
                <a:solidFill>
                  <a:srgbClr val="5C7370"/>
                </a:solidFill>
                <a:latin typeface="Segoe UI" pitchFamily="34" charset="0"/>
                <a:ea typeface="Segoe UI" pitchFamily="34" charset="-122"/>
                <a:cs typeface="Segoe UI" pitchFamily="34" charset="-120"/>
              </a:rPr>
              <a:t>  tiết kiệm ~15%</a:t>
            </a:r>
            <a:endParaRPr lang="en-US" sz="3400" dirty="0"/>
          </a:p>
        </ns0:txBody>
      </ns0:sp>
      <ns0:sp>
        <ns0:nvSpPr>
          <ns0:cNvPr id="14" name="Text 12"/>
          <ns0:cNvSpPr/>
          <ns0:nvPr/>
        </ns0:nvSpPr>
        <ns0:spPr>
          <a:xfrm>
            <a:off x="4553712" y="3246120"/>
            <a:ext cx="3108960" cy="1737360"/>
          </a:xfrm>
          <a:prstGeom prst="rect">
            <a:avLst/>
          </a:prstGeom>
          <a:noFill/>
          <a:ln/>
        </ns0:spPr>
        <ns0:txBody>
          <a:bodyPr wrap="square" lIns="0" tIns="0" rIns="0" bIns="0" rtlCol="0" anchor="ctr"/>
          <a:lstStyle/>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Tự chọn kết hợp 3 dịch vụ</a:t>
            </a:r>
            <a:endParaRPr lang="en-US" sz="1200" dirty="0"/>
          </a:p>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Đặt lịch linh hoạt trong 3 tháng</a:t>
            </a:r>
            <a:endParaRPr lang="en-US" sz="1200" dirty="0"/>
          </a:p>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1 buổi tổng kết liệu trình</a:t>
            </a:r>
            <a:endParaRPr lang="en-US" sz="1200" dirty="0"/>
          </a:p>
          <a:p>
            <a:pPr marL="152400" indent="-152400">
              <a:lnSpc>
                <a:spcPct val="112000"/>
              </a:lnSpc>
              <a:spcAft>
                <a:spcPts val="800"/>
              </a:spcAft>
              <a:buSzPct val="100000"/>
              <a:buChar char="▸"/>
            </a:pPr>
            <a:r>
              <a:rPr lang="en-US" sz="1200" dirty="0">
                <a:solidFill>
                  <a:srgbClr val="5C7370"/>
                </a:solidFill>
                <a:latin typeface="Segoe UI" pitchFamily="34" charset="0"/>
                <a:ea typeface="Segoe UI" pitchFamily="34" charset="-122"/>
                <a:cs typeface="Segoe UI" pitchFamily="34" charset="-120"/>
              </a:rPr>
              <a:t>Dành cho liệu trình ngắn 2–4 tuần</a:t>
            </a:r>
            <a:endParaRPr lang="en-US" sz="1200" dirty="0"/>
          </a:p>
        </ns0:txBody>
      </ns0:sp>
      <ns0:sp>
        <ns0:nvSpPr>
          <ns0:cNvPr id="15" name="Shape 13"/>
          <ns0:cNvSpPr/>
          <ns0:nvPr/>
        </ns0:nvSpPr>
        <ns0:spPr>
          <a:xfrm>
            <a:off x="8055864" y="1828800"/>
            <a:ext cx="3593592" cy="3291840"/>
          </a:xfrm>
          <a:prstGeom prst="roundRect">
            <a:avLst>
              <a:gd name="adj" fmla="val 2778"/>
            </a:avLst>
          </a:prstGeom>
          <a:solidFill>
            <a:srgbClr val="0B3B34"/>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6" name="Text 14"/>
          <ns0:cNvSpPr/>
          <ns0:nvPr/>
        </ns0:nvSpPr>
        <ns0:spPr>
          <a:xfrm>
            <a:off x="8330184" y="2084832"/>
            <a:ext cx="3017520" cy="292608"/>
          </a:xfrm>
          <a:prstGeom prst="rect">
            <a:avLst/>
          </a:prstGeom>
          <a:noFill/>
          <a:ln/>
        </ns0:spPr>
        <ns0:txBody>
          <a:bodyPr wrap="square" lIns="0" tIns="0" rIns="0" bIns="0" rtlCol="0" anchor="ctr"/>
          <a:lstStyle/>
          <a:p>
            <a:pPr indent="0" marL="0">
              <a:buNone/>
            </a:pPr>
            <a:r>
              <a:rPr lang="en-US" sz="1200" b="1" spc="200" kern="0" dirty="0">
                <a:solidFill>
                  <a:srgbClr val="9ED9CC"/>
                </a:solidFill>
                <a:latin typeface="Segoe UI" pitchFamily="34" charset="0"/>
                <a:ea typeface="Segoe UI" pitchFamily="34" charset="-122"/>
                <a:cs typeface="Segoe UI" pitchFamily="34" charset="-120"/>
              </a:rPr>
              <a:t>CAREPLUS 10 BUỔI</a:t>
            </a:r>
            <a:endParaRPr lang="en-US" sz="1200" dirty="0"/>
          </a:p>
        </ns0:txBody>
      </ns0:sp>
      <ns0:sp>
        <ns0:nvSpPr>
          <ns0:cNvPr id="17" name="Text 15"/>
          <ns0:cNvSpPr/>
          <ns0:nvPr/>
        </ns0:nvSpPr>
        <ns0:spPr>
          <a:xfrm>
            <a:off x="8330184" y="2395728"/>
            <a:ext cx="3154680" cy="685800"/>
          </a:xfrm>
          <a:prstGeom prst="rect">
            <a:avLst/>
          </a:prstGeom>
          <a:noFill/>
          <a:ln/>
        </ns0:spPr>
        <ns0:txBody>
          <a:bodyPr wrap="square" lIns="0" tIns="0" rIns="0" bIns="0" rtlCol="0" anchor="ctr"/>
          <a:lstStyle/>
          <a:p>
            <a:pPr indent="0" marL="0">
              <a:buNone/>
            </a:pPr>
            <a:r>
              <a:rPr lang="en-US" sz="3100" b="1" dirty="0">
                <a:solidFill>
                  <a:srgbClr val="F7965A"/>
                </a:solidFill>
                <a:latin typeface="Segoe UI" pitchFamily="34" charset="0"/>
                <a:ea typeface="Segoe UI" pitchFamily="34" charset="-122"/>
                <a:cs typeface="Segoe UI" pitchFamily="34" charset="-120"/>
              </a:rPr>
              <a:t>1.590.000 đ</a:t>
            </a:r>
            <a:r>
              <a:rPr lang="en-US" sz="1200" dirty="0">
                <a:solidFill>
                  <a:srgbClr val="B9D8D0"/>
                </a:solidFill>
                <a:latin typeface="Segoe UI" pitchFamily="34" charset="0"/>
                <a:ea typeface="Segoe UI" pitchFamily="34" charset="-122"/>
                <a:cs typeface="Segoe UI" pitchFamily="34" charset="-120"/>
              </a:rPr>
              <a:t>  ~20%</a:t>
            </a:r>
            <a:endParaRPr lang="en-US" sz="3100" dirty="0"/>
          </a:p>
        </ns0:txBody>
      </ns0:sp>
      <ns0:sp>
        <ns0:nvSpPr>
          <ns0:cNvPr id="18" name="Text 16"/>
          <ns0:cNvSpPr/>
          <ns0:nvPr/>
        </ns0:nvSpPr>
        <ns0:spPr>
          <a:xfrm>
            <a:off x="8330184" y="3246120"/>
            <a:ext cx="3108960" cy="1737360"/>
          </a:xfrm>
          <a:prstGeom prst="rect">
            <a:avLst/>
          </a:prstGeom>
          <a:noFill/>
          <a:ln/>
        </ns0:spPr>
        <ns0:txBody>
          <a:bodyPr wrap="square" lIns="0" tIns="0" rIns="0" bIns="0" rtlCol="0" anchor="ctr"/>
          <a:lstStyle/>
          <a:p>
            <a:pPr marL="152400" indent="-152400">
              <a:lnSpc>
                <a:spcPct val="112000"/>
              </a:lnSpc>
              <a:spcAft>
                <a:spcPts val="800"/>
              </a:spcAft>
              <a:buSzPct val="100000"/>
              <a:buChar char="▸"/>
            </a:pPr>
            <a:r>
              <a:rPr lang="en-US" sz="1200" dirty="0">
                <a:solidFill>
                  <a:srgbClr val="D5EAE4"/>
                </a:solidFill>
                <a:latin typeface="Segoe UI" pitchFamily="34" charset="0"/>
                <a:ea typeface="Segoe UI" pitchFamily="34" charset="-122"/>
                <a:cs typeface="Segoe UI" pitchFamily="34" charset="-120"/>
              </a:rPr>
              <a:t>Giá cố định 12 tháng</a:t>
            </a:r>
            <a:endParaRPr lang="en-US" sz="1200" dirty="0"/>
          </a:p>
          <a:p>
            <a:pPr marL="152400" indent="-152400">
              <a:lnSpc>
                <a:spcPct val="112000"/>
              </a:lnSpc>
              <a:spcAft>
                <a:spcPts val="800"/>
              </a:spcAft>
              <a:buSzPct val="100000"/>
              <a:buChar char="▸"/>
            </a:pPr>
            <a:r>
              <a:rPr lang="en-US" sz="1200" dirty="0">
                <a:solidFill>
                  <a:srgbClr val="D5EAE4"/>
                </a:solidFill>
                <a:latin typeface="Segoe UI" pitchFamily="34" charset="0"/>
                <a:ea typeface="Segoe UI" pitchFamily="34" charset="-122"/>
                <a:cs typeface="Segoe UI" pitchFamily="34" charset="-120"/>
              </a:rPr>
              <a:t>Tích điểm 5% · ưu đãi tháng sinh nhật</a:t>
            </a:r>
            <a:endParaRPr lang="en-US" sz="1200" dirty="0"/>
          </a:p>
          <a:p>
            <a:pPr marL="152400" indent="-152400">
              <a:lnSpc>
                <a:spcPct val="112000"/>
              </a:lnSpc>
              <a:spcAft>
                <a:spcPts val="800"/>
              </a:spcAft>
              <a:buSzPct val="100000"/>
              <a:buChar char="▸"/>
            </a:pPr>
            <a:r>
              <a:rPr lang="en-US" sz="1200" dirty="0">
                <a:solidFill>
                  <a:srgbClr val="D5EAE4"/>
                </a:solidFill>
                <a:latin typeface="Segoe UI" pitchFamily="34" charset="0"/>
                <a:ea typeface="Segoe UI" pitchFamily="34" charset="-122"/>
                <a:cs typeface="Segoe UI" pitchFamily="34" charset="-120"/>
              </a:rPr>
              <a:t>Cho người thân dùng chung</a:t>
            </a:r>
            <a:endParaRPr lang="en-US" sz="1200" dirty="0"/>
          </a:p>
          <a:p>
            <a:pPr marL="152400" indent="-152400">
              <a:lnSpc>
                <a:spcPct val="112000"/>
              </a:lnSpc>
              <a:spcAft>
                <a:spcPts val="800"/>
              </a:spcAft>
              <a:buSzPct val="100000"/>
              <a:buChar char="▸"/>
            </a:pPr>
            <a:r>
              <a:rPr lang="en-US" sz="1200" dirty="0">
                <a:solidFill>
                  <a:srgbClr val="D5EAE4"/>
                </a:solidFill>
                <a:latin typeface="Segoe UI" pitchFamily="34" charset="0"/>
                <a:ea typeface="Segoe UI" pitchFamily="34" charset="-122"/>
                <a:cs typeface="Segoe UI" pitchFamily="34" charset="-120"/>
              </a:rPr>
              <a:t>Gói chủ lực — liệu trình chuẩn &amp; gia đình</a:t>
            </a:r>
            <a:endParaRPr lang="en-US" sz="1200" dirty="0"/>
          </a:p>
        </ns0:txBody>
      </ns0:sp>
      <ns0:sp>
        <ns0:nvSpPr>
          <ns0:cNvPr id="19" name="Shape 17"/>
          <ns0:cNvSpPr/>
          <ns0:nvPr/>
        </ns0:nvSpPr>
        <ns0:spPr>
          <a:xfrm>
            <a:off x="0" y="5532120"/>
            <a:ext cx="12188952" cy="658368"/>
          </a:xfrm>
          <a:prstGeom prst="rect">
            <a:avLst/>
          </a:prstGeom>
          <a:solidFill>
            <a:srgbClr val="E8F5F1"/>
          </a:solidFill>
          <a:ln/>
        </ns0:spPr>
      </ns0:sp>
      <ns0:sp>
        <ns0:nvSpPr>
          <ns0:cNvPr id="20" name="Text 18"/>
          <ns0:cNvSpPr/>
          <ns0:nvPr/>
        </ns0:nvSpPr>
        <ns0:spPr>
          <a:xfrm>
            <a:off x="502920" y="5532120"/>
            <a:ext cx="11183112" cy="658368"/>
          </a:xfrm>
          <a:prstGeom prst="rect">
            <a:avLst/>
          </a:prstGeom>
          <a:noFill/>
          <a:ln/>
        </ns0:spPr>
        <ns0:txBody>
          <a:bodyPr wrap="square" lIns="0" tIns="0" rIns="0" bIns="0" rtlCol="0" anchor="ctr"/>
          <a:lstStyle/>
          <a:p>
            <a:pPr indent="0" marL="0">
              <a:buNone/>
            </a:pPr>
            <a:r>
              <a:rPr lang="en-US" sz="1600" b="1" dirty="0">
                <a:solidFill>
                  <a:srgbClr val="E8590C"/>
                </a:solidFill>
                <a:latin typeface="Segoe UI" pitchFamily="34" charset="0"/>
                <a:ea typeface="Segoe UI" pitchFamily="34" charset="-122"/>
                <a:cs typeface="Segoe UI" pitchFamily="34" charset="-120"/>
              </a:rPr>
              <a:t>60% </a:t>
            </a:r>
            <a:r>
              <a:rPr lang="en-US" sz="1350" dirty="0">
                <a:solidFill>
                  <a:srgbClr val="16302B"/>
                </a:solidFill>
                <a:latin typeface="Segoe UI" pitchFamily="34" charset="0"/>
                <a:ea typeface="Segoe UI" pitchFamily="34" charset="-122"/>
                <a:cs typeface="Segoe UI" pitchFamily="34" charset="-120"/>
              </a:rPr>
              <a:t>doanh thu tháng thứ 12 đến từ gói combo và thẻ thành viên — dòng tiền dự đoán được, chi phí giữ chân khách thấp. </a:t>
            </a:r>
            <a:r>
              <a:rPr lang="en-US" sz="1150" i="1" dirty="0">
                <a:solidFill>
                  <a:srgbClr val="5C7370"/>
                </a:solidFill>
                <a:latin typeface="Segoe UI" pitchFamily="34" charset="0"/>
                <a:ea typeface="Segoe UI" pitchFamily="34" charset="-122"/>
                <a:cs typeface="Segoe UI" pitchFamily="34" charset="-120"/>
              </a:rPr>
              <a:t>(dự phóng minh họa)</a:t>
            </a:r>
            <a:endParaRPr lang="en-US" sz="13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66"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0" fill="hold">
                      <ns0:stCondLst>
                        <ns0:cond delay="indefinite"/>
                      </ns0:stCondLst>
                      <ns0:childTnLst>
                        <ns0:par>
                          <ns0:cTn id="21" fill="hold">
                            <ns0:stCondLst>
                              <ns0:cond delay="0"/>
                            </ns0:stCondLst>
                            <ns0:childTnLst>
                              <ns0:par>
                                <ns0:cTn id="22" presetID="42" presetClass="entr" presetSubtype="0" fill="hold" grpId="0" nodeType="clickEffect">
                                  <ns0:stCondLst>
                                    <ns0:cond delay="0"/>
                                  </ns0:stCondLst>
                                  <ns0:childTnLst>
                                    <ns0:set>
                                      <ns0:cBhvr>
                                        <ns0:cTn id="23" dur="1" fill="hold">
                                          <ns0:stCondLst>
                                            <ns0:cond delay="0"/>
                                          </ns0:stCondLst>
                                        </ns0:cTn>
                                        <ns0:tgtEl>
                                          <ns0:spTgt spid="11"/>
                                        </ns0:tgtEl>
                                        <ns0:attrNameLst>
                                          <ns0:attrName>style.visibility</ns0:attrName>
                                        </ns0:attrNameLst>
                                      </ns0:cBhvr>
                                      <ns0:to>
                                        <ns0:strVal val="visible"/>
                                      </ns0:to>
                                    </ns0:set>
                                    <ns0:animEffect transition="in" filter="fade">
                                      <ns0:cBhvr>
                                        <ns0:cTn id="24" dur="500"/>
                                        <ns0:tgtEl>
                                          <ns0:spTgt spid="11"/>
                                        </ns0:tgtEl>
                                      </ns0:cBhvr>
                                    </ns0:animEffect>
                                    <ns0:anim calcmode="lin" valueType="num">
                                      <ns0:cBhvr additive="base">
                                        <ns0:cTn id="25"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26" presetID="42" presetClass="entr" presetSubtype="0" fill="hold" grpId="0" nodeType="withEffect">
                                  <ns0:stCondLst>
                                    <ns0:cond delay="10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2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3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38" fill="hold">
                      <ns0:stCondLst>
                        <ns0:cond delay="indefinite"/>
                      </ns0:stCondLst>
                      <ns0:childTnLst>
                        <ns0:par>
                          <ns0:cTn id="39" fill="hold">
                            <ns0:stCondLst>
                              <ns0:cond delay="0"/>
                            </ns0:stCondLst>
                            <ns0:childTnLst>
                              <ns0:par>
                                <ns0:cTn id="40" presetID="42" presetClass="entr" presetSubtype="0" fill="hold" grpId="0" nodeType="clickEffect">
                                  <ns0:stCondLst>
                                    <ns0:cond delay="0"/>
                                  </ns0:stCondLst>
                                  <ns0:childTnLst>
                                    <ns0:set>
                                      <ns0:cBhvr>
                                        <ns0:cTn id="41" dur="1" fill="hold">
                                          <ns0:stCondLst>
                                            <ns0:cond delay="0"/>
                                          </ns0:stCondLst>
                                        </ns0:cTn>
                                        <ns0:tgtEl>
                                          <ns0:spTgt spid="15"/>
                                        </ns0:tgtEl>
                                        <ns0:attrNameLst>
                                          <ns0:attrName>style.visibility</ns0:attrName>
                                        </ns0:attrNameLst>
                                      </ns0:cBhvr>
                                      <ns0:to>
                                        <ns0:strVal val="visible"/>
                                      </ns0:to>
                                    </ns0:set>
                                    <ns0:animEffect transition="in" filter="fade">
                                      <ns0:cBhvr>
                                        <ns0:cTn id="42" dur="500"/>
                                        <ns0:tgtEl>
                                          <ns0:spTgt spid="15"/>
                                        </ns0:tgtEl>
                                      </ns0:cBhvr>
                                    </ns0:animEffect>
                                    <ns0:anim calcmode="lin" valueType="num">
                                      <ns0:cBhvr additive="base">
                                        <ns0:cTn id="43"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4" presetID="42" presetClass="entr" presetSubtype="0" fill="hold" grpId="0" nodeType="withEffect">
                                  <ns0:stCondLst>
                                    <ns0:cond delay="100"/>
                                  </ns0:stCondLst>
                                  <ns0:childTnLst>
                                    <ns0:set>
                                      <ns0:cBhvr>
                                        <ns0:cTn id="45" dur="1" fill="hold">
                                          <ns0:stCondLst>
                                            <ns0:cond delay="0"/>
                                          </ns0:stCondLst>
                                        </ns0:cTn>
                                        <ns0:tgtEl>
                                          <ns0:spTgt spid="16"/>
                                        </ns0:tgtEl>
                                        <ns0:attrNameLst>
                                          <ns0:attrName>style.visibility</ns0:attrName>
                                        </ns0:attrNameLst>
                                      </ns0:cBhvr>
                                      <ns0:to>
                                        <ns0:strVal val="visible"/>
                                      </ns0:to>
                                    </ns0:set>
                                    <ns0:animEffect transition="in" filter="fade">
                                      <ns0:cBhvr>
                                        <ns0:cTn id="46" dur="500"/>
                                        <ns0:tgtEl>
                                          <ns0:spTgt spid="16"/>
                                        </ns0:tgtEl>
                                      </ns0:cBhvr>
                                    </ns0:animEffect>
                                    <ns0:anim calcmode="lin" valueType="num">
                                      <ns0:cBhvr additive="base">
                                        <ns0:cTn id="47"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par>
                                <ns0:cTn id="48" presetID="42" presetClass="entr" presetSubtype="0" fill="hold" grpId="0" nodeType="withEffect">
                                  <ns0:stCondLst>
                                    <ns0:cond delay="200"/>
                                  </ns0:stCondLst>
                                  <ns0:childTnLst>
                                    <ns0:set>
                                      <ns0:cBhvr>
                                        <ns0:cTn id="49" dur="1" fill="hold">
                                          <ns0:stCondLst>
                                            <ns0:cond delay="0"/>
                                          </ns0:stCondLst>
                                        </ns0:cTn>
                                        <ns0:tgtEl>
                                          <ns0:spTgt spid="17"/>
                                        </ns0:tgtEl>
                                        <ns0:attrNameLst>
                                          <ns0:attrName>style.visibility</ns0:attrName>
                                        </ns0:attrNameLst>
                                      </ns0:cBhvr>
                                      <ns0:to>
                                        <ns0:strVal val="visible"/>
                                      </ns0:to>
                                    </ns0:set>
                                    <ns0:animEffect transition="in" filter="fade">
                                      <ns0:cBhvr>
                                        <ns0:cTn id="50" dur="500"/>
                                        <ns0:tgtEl>
                                          <ns0:spTgt spid="17"/>
                                        </ns0:tgtEl>
                                      </ns0:cBhvr>
                                    </ns0:animEffect>
                                    <ns0:anim calcmode="lin" valueType="num">
                                      <ns0:cBhvr additive="base">
                                        <ns0:cTn id="51"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52" presetID="42" presetClass="entr" presetSubtype="0" fill="hold" grpId="0" nodeType="withEffect">
                                  <ns0:stCondLst>
                                    <ns0:cond delay="30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56" fill="hold">
                      <ns0:stCondLst>
                        <ns0:cond delay="indefinite"/>
                      </ns0:stCondLst>
                      <ns0:childTnLst>
                        <ns0:par>
                          <ns0:cTn id="57" fill="hold">
                            <ns0:stCondLst>
                              <ns0:cond delay="0"/>
                            </ns0:stCondLst>
                            <ns0:childTnLst>
                              <ns0:par>
                                <ns0:cTn id="58" presetID="42" presetClass="entr" presetSubtype="0" fill="hold" grpId="0" nodeType="clickEffect">
                                  <ns0:stCondLst>
                                    <ns0:cond delay="0"/>
                                  </ns0:stCondLst>
                                  <ns0:childTnLst>
                                    <ns0:set>
                                      <ns0:cBhvr>
                                        <ns0:cTn id="59" dur="1" fill="hold">
                                          <ns0:stCondLst>
                                            <ns0:cond delay="0"/>
                                          </ns0:stCondLst>
                                        </ns0:cTn>
                                        <ns0:tgtEl>
                                          <ns0:spTgt spid="19"/>
                                        </ns0:tgtEl>
                                        <ns0:attrNameLst>
                                          <ns0:attrName>style.visibility</ns0:attrName>
                                        </ns0:attrNameLst>
                                      </ns0:cBhvr>
                                      <ns0:to>
                                        <ns0:strVal val="visible"/>
                                      </ns0:to>
                                    </ns0:set>
                                    <ns0:animEffect transition="in" filter="fade">
                                      <ns0:cBhvr>
                                        <ns0:cTn id="60" dur="500"/>
                                        <ns0:tgtEl>
                                          <ns0:spTgt spid="19"/>
                                        </ns0:tgtEl>
                                      </ns0:cBhvr>
                                    </ns0:animEffect>
                                    <ns0:anim calcmode="lin" valueType="num">
                                      <ns0:cBhvr additive="base">
                                        <ns0:cTn id="61"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2" presetID="42" presetClass="entr" presetSubtype="0" fill="hold" grpId="0" nodeType="withEffect">
                                  <ns0:stCondLst>
                                    <ns0:cond delay="100"/>
                                  </ns0:stCondLst>
                                  <ns0:childTnLst>
                                    <ns0:set>
                                      <ns0:cBhvr>
                                        <ns0:cTn id="63" dur="1" fill="hold">
                                          <ns0:stCondLst>
                                            <ns0:cond delay="0"/>
                                          </ns0:stCondLst>
                                        </ns0:cTn>
                                        <ns0:tgtEl>
                                          <ns0:spTgt spid="20"/>
                                        </ns0:tgtEl>
                                        <ns0:attrNameLst>
                                          <ns0:attrName>style.visibility</ns0:attrName>
                                        </ns0:attrNameLst>
                                      </ns0:cBhvr>
                                      <ns0:to>
                                        <ns0:strVal val="visible"/>
                                      </ns0:to>
                                    </ns0:set>
                                    <ns0:animEffect transition="in" filter="fade">
                                      <ns0:cBhvr>
                                        <ns0:cTn id="64" dur="500"/>
                                        <ns0:tgtEl>
                                          <ns0:spTgt spid="20"/>
                                        </ns0:tgtEl>
                                      </ns0:cBhvr>
                                    </ns0:animEffect>
                                    <ns0:anim calcmode="lin" valueType="num">
                                      <ns0:cBhvr additive="base">
                                        <ns0:cTn id="65"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Lst>
  </ns0:timing>
</ns0:sld>
</file>

<file path=ppt/slides/slide8.xml><?xml version="1.0" encoding="utf-8"?>
<ns0:sld xmlns:a="http://schemas.openxmlformats.org/drawingml/2006/main" xmlns:ns0="http://schemas.openxmlformats.org/presentationml/2006/main">
  <ns0:cSld name="Slide 8">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QUY TRÌNH VẬN HÀNH</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Một buổi trị liệu chuẩn — an toàn là tính năng của dịch vụ, không phải khẩu hiệu</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08</a:t>
            </a:r>
            <a:endParaRPr lang="en-US" sz="1050" dirty="0"/>
          </a:p>
        </ns0:txBody>
      </ns0:sp>
      <ns0:sp>
        <ns0:nvSpPr>
          <ns0:cNvPr id="7" name="Shape 5"/>
          <ns0:cNvSpPr/>
          <ns0:nvPr/>
        </ns0:nvSpPr>
        <ns0:spPr>
          <a:xfrm>
            <a:off x="502920" y="1965960"/>
            <a:ext cx="2606040" cy="2880360"/>
          </a:xfrm>
          <a:prstGeom prst="roundRect">
            <a:avLst>
              <a:gd name="adj" fmla="val 3509"/>
            </a:avLst>
          </a:prstGeom>
          <a:solidFill>
            <a:srgbClr val="E8F5F1"/>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Text 6"/>
          <ns0:cNvSpPr/>
          <ns0:nvPr/>
        </ns0:nvSpPr>
        <ns0:spPr>
          <a:xfrm>
            <a:off x="731520" y="2148840"/>
            <a:ext cx="1463040" cy="777240"/>
          </a:xfrm>
          <a:prstGeom prst="rect">
            <a:avLst/>
          </a:prstGeom>
          <a:noFill/>
          <a:ln/>
        </ns0:spPr>
        <ns0:txBody>
          <a:bodyPr wrap="square" lIns="0" tIns="0" rIns="0" bIns="0" rtlCol="0" anchor="ctr"/>
          <a:lstStyle/>
          <a:p>
            <a:pPr indent="0" marL="0">
              <a:buNone/>
            </a:pPr>
            <a:r>
              <a:rPr lang="en-US" sz="4600" b="1" dirty="0">
                <a:solidFill>
                  <a:srgbClr val="BFE0D6"/>
                </a:solidFill>
                <a:latin typeface="Segoe UI" pitchFamily="34" charset="0"/>
                <a:ea typeface="Segoe UI" pitchFamily="34" charset="-122"/>
                <a:cs typeface="Segoe UI" pitchFamily="34" charset="-120"/>
              </a:rPr>
              <a:t>01</a:t>
            </a:r>
            <a:endParaRPr lang="en-US" sz="4600" dirty="0"/>
          </a:p>
        </ns0:txBody>
      </ns0:sp>
      <ns0:sp>
        <ns0:nvSpPr>
          <ns0:cNvPr id="9" name="Text 7"/>
          <ns0:cNvSpPr/>
          <ns0:nvPr/>
        </ns0:nvSpPr>
        <ns0:spPr>
          <a:xfrm>
            <a:off x="731520" y="3017520"/>
            <a:ext cx="2148840" cy="365760"/>
          </a:xfrm>
          <a:prstGeom prst="rect">
            <a:avLst/>
          </a:prstGeom>
          <a:noFill/>
          <a:ln/>
        </ns0:spPr>
        <ns0:txBody>
          <a:bodyPr wrap="square" lIns="0" tIns="0" rIns="0" bIns="0" rtlCol="0" anchor="ctr"/>
          <a:lstStyle/>
          <a:p>
            <a:pPr indent="0" marL="0">
              <a:buNone/>
            </a:pPr>
            <a:r>
              <a:rPr lang="en-US" sz="1700" b="1" dirty="0">
                <a:solidFill>
                  <a:srgbClr val="16302B"/>
                </a:solidFill>
                <a:latin typeface="Segoe UI" pitchFamily="34" charset="0"/>
                <a:ea typeface="Segoe UI" pitchFamily="34" charset="-122"/>
                <a:cs typeface="Segoe UI" pitchFamily="34" charset="-120"/>
              </a:rPr>
              <a:t>Khảo sát</a:t>
            </a:r>
            <a:endParaRPr lang="en-US" sz="1700" dirty="0"/>
          </a:p>
        </ns0:txBody>
      </ns0:sp>
      <ns0:sp>
        <ns0:nvSpPr>
          <ns0:cNvPr id="10" name="Text 8"/>
          <ns0:cNvSpPr/>
          <ns0:nvPr/>
        </ns0:nvSpPr>
        <ns0:spPr>
          <a:xfrm>
            <a:off x="731520" y="3429000"/>
            <a:ext cx="2194560" cy="1280160"/>
          </a:xfrm>
          <a:prstGeom prst="rect">
            <a:avLst/>
          </a:prstGeom>
          <a:noFill/>
          <a:ln/>
        </ns0:spPr>
        <ns0:txBody>
          <a:bodyPr wrap="square" lIns="0" tIns="0" rIns="0" bIns="0" rtlCol="0" anchor="ctr"/>
          <a:lstStyle/>
          <a:p>
            <a:pPr indent="0" marL="0">
              <a:lnSpc>
                <a:spcPct val="120000"/>
              </a:lnSpc>
              <a:buNone/>
            </a:pPr>
            <a:r>
              <a:rPr lang="en-US" sz="1150" dirty="0">
                <a:solidFill>
                  <a:srgbClr val="5C7370"/>
                </a:solidFill>
                <a:latin typeface="Segoe UI" pitchFamily="34" charset="0"/>
                <a:ea typeface="Segoe UI" pitchFamily="34" charset="-122"/>
                <a:cs typeface="Segoe UI" pitchFamily="34" charset="-120"/>
              </a:rPr>
              <a:t>5 phút đầu: hỏi bệnh nền, đo huyết áp, kiểm tra chống chỉ định.</a:t>
            </a:r>
            <a:endParaRPr lang="en-US" sz="1150" dirty="0"/>
          </a:p>
        </ns0:txBody>
      </ns0:sp>
      <ns0:sp>
        <ns0:nvSpPr>
          <ns0:cNvPr id="11" name="Shape 9"/>
          <ns0:cNvSpPr/>
          <ns0:nvPr/>
        </ns0:nvSpPr>
        <ns0:spPr>
          <a:xfrm>
            <a:off x="3127248" y="3246120"/>
            <a:ext cx="329184" cy="274320"/>
          </a:xfrm>
          <a:prstGeom prst="rightArrow">
            <a:avLst/>
          </a:prstGeom>
          <a:solidFill>
            <a:srgbClr val="E8590C"/>
          </a:solidFill>
          <a:ln/>
        </ns0:spPr>
      </ns0:sp>
      <ns0:sp>
        <ns0:nvSpPr>
          <ns0:cNvPr id="12" name="Shape 10"/>
          <ns0:cNvSpPr/>
          <ns0:nvPr/>
        </ns0:nvSpPr>
        <ns0:spPr>
          <a:xfrm>
            <a:off x="3319272" y="1965960"/>
            <a:ext cx="2606040" cy="2880360"/>
          </a:xfrm>
          <a:prstGeom prst="roundRect">
            <a:avLst>
              <a:gd name="adj" fmla="val 3509"/>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3" name="Text 11"/>
          <ns0:cNvSpPr/>
          <ns0:nvPr/>
        </ns0:nvSpPr>
        <ns0:spPr>
          <a:xfrm>
            <a:off x="3547872" y="2148840"/>
            <a:ext cx="1463040" cy="777240"/>
          </a:xfrm>
          <a:prstGeom prst="rect">
            <a:avLst/>
          </a:prstGeom>
          <a:noFill/>
          <a:ln/>
        </ns0:spPr>
        <ns0:txBody>
          <a:bodyPr wrap="square" lIns="0" tIns="0" rIns="0" bIns="0" rtlCol="0" anchor="ctr"/>
          <a:lstStyle/>
          <a:p>
            <a:pPr indent="0" marL="0">
              <a:buNone/>
            </a:pPr>
            <a:r>
              <a:rPr lang="en-US" sz="4600" b="1" dirty="0">
                <a:solidFill>
                  <a:srgbClr val="9ED9CC"/>
                </a:solidFill>
                <a:latin typeface="Segoe UI" pitchFamily="34" charset="0"/>
                <a:ea typeface="Segoe UI" pitchFamily="34" charset="-122"/>
                <a:cs typeface="Segoe UI" pitchFamily="34" charset="-120"/>
              </a:rPr>
              <a:t>02</a:t>
            </a:r>
            <a:endParaRPr lang="en-US" sz="4600" dirty="0"/>
          </a:p>
        </ns0:txBody>
      </ns0:sp>
      <ns0:sp>
        <ns0:nvSpPr>
          <ns0:cNvPr id="14" name="Text 12"/>
          <ns0:cNvSpPr/>
          <ns0:nvPr/>
        </ns0:nvSpPr>
        <ns0:spPr>
          <a:xfrm>
            <a:off x="3547872" y="3017520"/>
            <a:ext cx="2148840" cy="365760"/>
          </a:xfrm>
          <a:prstGeom prst="rect">
            <a:avLst/>
          </a:prstGeom>
          <a:noFill/>
          <a:ln/>
        </ns0:spPr>
        <ns0:txBody>
          <a:bodyPr wrap="square" lIns="0" tIns="0" rIns="0" bIns="0" rtlCol="0" anchor="ctr"/>
          <a:lstStyle/>
          <a:p>
            <a:pPr indent="0" marL="0">
              <a:buNone/>
            </a:pPr>
            <a:r>
              <a:rPr lang="en-US" sz="1700" b="1" dirty="0">
                <a:solidFill>
                  <a:srgbClr val="16302B"/>
                </a:solidFill>
                <a:latin typeface="Segoe UI" pitchFamily="34" charset="0"/>
                <a:ea typeface="Segoe UI" pitchFamily="34" charset="-122"/>
                <a:cs typeface="Segoe UI" pitchFamily="34" charset="-120"/>
              </a:rPr>
              <a:t>Đánh giá</a:t>
            </a:r>
            <a:endParaRPr lang="en-US" sz="1700" dirty="0"/>
          </a:p>
        </ns0:txBody>
      </ns0:sp>
      <ns0:sp>
        <ns0:nvSpPr>
          <ns0:cNvPr id="15" name="Text 13"/>
          <ns0:cNvSpPr/>
          <ns0:nvPr/>
        </ns0:nvSpPr>
        <ns0:spPr>
          <a:xfrm>
            <a:off x="3547872" y="3429000"/>
            <a:ext cx="2194560" cy="1280160"/>
          </a:xfrm>
          <a:prstGeom prst="rect">
            <a:avLst/>
          </a:prstGeom>
          <a:noFill/>
          <a:ln/>
        </ns0:spPr>
        <ns0:txBody>
          <a:bodyPr wrap="square" lIns="0" tIns="0" rIns="0" bIns="0" rtlCol="0" anchor="ctr"/>
          <a:lstStyle/>
          <a:p>
            <a:pPr indent="0" marL="0">
              <a:lnSpc>
                <a:spcPct val="120000"/>
              </a:lnSpc>
              <a:buNone/>
            </a:pPr>
            <a:r>
              <a:rPr lang="en-US" sz="1150" dirty="0">
                <a:solidFill>
                  <a:srgbClr val="5C7370"/>
                </a:solidFill>
                <a:latin typeface="Segoe UI" pitchFamily="34" charset="0"/>
                <a:ea typeface="Segoe UI" pitchFamily="34" charset="-122"/>
                <a:cs typeface="Segoe UI" pitchFamily="34" charset="-120"/>
              </a:rPr>
              <a:t>Xác định vùng đau, tư thế sai lệch để trị liệu nhắm đúng chỗ.</a:t>
            </a:r>
            <a:endParaRPr lang="en-US" sz="1150" dirty="0"/>
          </a:p>
        </ns0:txBody>
      </ns0:sp>
      <ns0:sp>
        <ns0:nvSpPr>
          <ns0:cNvPr id="16" name="Shape 14"/>
          <ns0:cNvSpPr/>
          <ns0:nvPr/>
        </ns0:nvSpPr>
        <ns0:spPr>
          <a:xfrm>
            <a:off x="5943600" y="3246120"/>
            <a:ext cx="329184" cy="274320"/>
          </a:xfrm>
          <a:prstGeom prst="rightArrow">
            <a:avLst/>
          </a:prstGeom>
          <a:solidFill>
            <a:srgbClr val="E8590C"/>
          </a:solidFill>
          <a:ln/>
        </ns0:spPr>
      </ns0:sp>
      <ns0:sp>
        <ns0:nvSpPr>
          <ns0:cNvPr id="17" name="Shape 15"/>
          <ns0:cNvSpPr/>
          <ns0:nvPr/>
        </ns0:nvSpPr>
        <ns0:spPr>
          <a:xfrm>
            <a:off x="6135624" y="1965960"/>
            <a:ext cx="2606040" cy="2880360"/>
          </a:xfrm>
          <a:prstGeom prst="roundRect">
            <a:avLst>
              <a:gd name="adj" fmla="val 3509"/>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8" name="Text 16"/>
          <ns0:cNvSpPr/>
          <ns0:nvPr/>
        </ns0:nvSpPr>
        <ns0:spPr>
          <a:xfrm>
            <a:off x="6364224" y="2148840"/>
            <a:ext cx="1463040" cy="777240"/>
          </a:xfrm>
          <a:prstGeom prst="rect">
            <a:avLst/>
          </a:prstGeom>
          <a:noFill/>
          <a:ln/>
        </ns0:spPr>
        <ns0:txBody>
          <a:bodyPr wrap="square" lIns="0" tIns="0" rIns="0" bIns="0" rtlCol="0" anchor="ctr"/>
          <a:lstStyle/>
          <a:p>
            <a:pPr indent="0" marL="0">
              <a:buNone/>
            </a:pPr>
            <a:r>
              <a:rPr lang="en-US" sz="4600" b="1" dirty="0">
                <a:solidFill>
                  <a:srgbClr val="9ED9CC"/>
                </a:solidFill>
                <a:latin typeface="Segoe UI" pitchFamily="34" charset="0"/>
                <a:ea typeface="Segoe UI" pitchFamily="34" charset="-122"/>
                <a:cs typeface="Segoe UI" pitchFamily="34" charset="-120"/>
              </a:rPr>
              <a:t>03</a:t>
            </a:r>
            <a:endParaRPr lang="en-US" sz="4600" dirty="0"/>
          </a:p>
        </ns0:txBody>
      </ns0:sp>
      <ns0:sp>
        <ns0:nvSpPr>
          <ns0:cNvPr id="19" name="Text 17"/>
          <ns0:cNvSpPr/>
          <ns0:nvPr/>
        </ns0:nvSpPr>
        <ns0:spPr>
          <a:xfrm>
            <a:off x="6364224" y="3017520"/>
            <a:ext cx="2148840" cy="365760"/>
          </a:xfrm>
          <a:prstGeom prst="rect">
            <a:avLst/>
          </a:prstGeom>
          <a:noFill/>
          <a:ln/>
        </ns0:spPr>
        <ns0:txBody>
          <a:bodyPr wrap="square" lIns="0" tIns="0" rIns="0" bIns="0" rtlCol="0" anchor="ctr"/>
          <a:lstStyle/>
          <a:p>
            <a:pPr indent="0" marL="0">
              <a:buNone/>
            </a:pPr>
            <a:r>
              <a:rPr lang="en-US" sz="1700" b="1" dirty="0">
                <a:solidFill>
                  <a:srgbClr val="16302B"/>
                </a:solidFill>
                <a:latin typeface="Segoe UI" pitchFamily="34" charset="0"/>
                <a:ea typeface="Segoe UI" pitchFamily="34" charset="-122"/>
                <a:cs typeface="Segoe UI" pitchFamily="34" charset="-120"/>
              </a:rPr>
              <a:t>Trị liệu</a:t>
            </a:r>
            <a:endParaRPr lang="en-US" sz="1700" dirty="0"/>
          </a:p>
        </ns0:txBody>
      </ns0:sp>
      <ns0:sp>
        <ns0:nvSpPr>
          <ns0:cNvPr id="20" name="Text 18"/>
          <ns0:cNvSpPr/>
          <ns0:nvPr/>
        </ns0:nvSpPr>
        <ns0:spPr>
          <a:xfrm>
            <a:off x="6364224" y="3429000"/>
            <a:ext cx="2194560" cy="1280160"/>
          </a:xfrm>
          <a:prstGeom prst="rect">
            <a:avLst/>
          </a:prstGeom>
          <a:noFill/>
          <a:ln/>
        </ns0:spPr>
        <ns0:txBody>
          <a:bodyPr wrap="square" lIns="0" tIns="0" rIns="0" bIns="0" rtlCol="0" anchor="ctr"/>
          <a:lstStyle/>
          <a:p>
            <a:pPr indent="0" marL="0">
              <a:lnSpc>
                <a:spcPct val="120000"/>
              </a:lnSpc>
              <a:buNone/>
            </a:pPr>
            <a:r>
              <a:rPr lang="en-US" sz="1150" dirty="0">
                <a:solidFill>
                  <a:srgbClr val="5C7370"/>
                </a:solidFill>
                <a:latin typeface="Segoe UI" pitchFamily="34" charset="0"/>
                <a:ea typeface="Segoe UI" pitchFamily="34" charset="-122"/>
                <a:cs typeface="Segoe UI" pitchFamily="34" charset="-120"/>
              </a:rPr>
              <a:t>Massage – bấm huyệt – chườm thảo dược theo bài chuẩn 45–70 phút.</a:t>
            </a:r>
            <a:endParaRPr lang="en-US" sz="1150" dirty="0"/>
          </a:p>
        </ns0:txBody>
      </ns0:sp>
      <ns0:sp>
        <ns0:nvSpPr>
          <ns0:cNvPr id="21" name="Shape 19"/>
          <ns0:cNvSpPr/>
          <ns0:nvPr/>
        </ns0:nvSpPr>
        <ns0:spPr>
          <a:xfrm>
            <a:off x="8759952" y="3246120"/>
            <a:ext cx="329184" cy="274320"/>
          </a:xfrm>
          <a:prstGeom prst="rightArrow">
            <a:avLst/>
          </a:prstGeom>
          <a:solidFill>
            <a:srgbClr val="E8590C"/>
          </a:solidFill>
          <a:ln/>
        </ns0:spPr>
      </ns0:sp>
      <ns0:sp>
        <ns0:nvSpPr>
          <ns0:cNvPr id="22" name="Shape 20"/>
          <ns0:cNvSpPr/>
          <ns0:nvPr/>
        </ns0:nvSpPr>
        <ns0:spPr>
          <a:xfrm>
            <a:off x="8951976" y="1965960"/>
            <a:ext cx="2606040" cy="2880360"/>
          </a:xfrm>
          <a:prstGeom prst="roundRect">
            <a:avLst>
              <a:gd name="adj" fmla="val 3509"/>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23" name="Text 21"/>
          <ns0:cNvSpPr/>
          <ns0:nvPr/>
        </ns0:nvSpPr>
        <ns0:spPr>
          <a:xfrm>
            <a:off x="9180576" y="2148840"/>
            <a:ext cx="1463040" cy="777240"/>
          </a:xfrm>
          <a:prstGeom prst="rect">
            <a:avLst/>
          </a:prstGeom>
          <a:noFill/>
          <a:ln/>
        </ns0:spPr>
        <ns0:txBody>
          <a:bodyPr wrap="square" lIns="0" tIns="0" rIns="0" bIns="0" rtlCol="0" anchor="ctr"/>
          <a:lstStyle/>
          <a:p>
            <a:pPr indent="0" marL="0">
              <a:buNone/>
            </a:pPr>
            <a:r>
              <a:rPr lang="en-US" sz="4600" b="1" dirty="0">
                <a:solidFill>
                  <a:srgbClr val="9ED9CC"/>
                </a:solidFill>
                <a:latin typeface="Segoe UI" pitchFamily="34" charset="0"/>
                <a:ea typeface="Segoe UI" pitchFamily="34" charset="-122"/>
                <a:cs typeface="Segoe UI" pitchFamily="34" charset="-120"/>
              </a:rPr>
              <a:t>04</a:t>
            </a:r>
            <a:endParaRPr lang="en-US" sz="4600" dirty="0"/>
          </a:p>
        </ns0:txBody>
      </ns0:sp>
      <ns0:sp>
        <ns0:nvSpPr>
          <ns0:cNvPr id="24" name="Text 22"/>
          <ns0:cNvSpPr/>
          <ns0:nvPr/>
        </ns0:nvSpPr>
        <ns0:spPr>
          <a:xfrm>
            <a:off x="9180576" y="3017520"/>
            <a:ext cx="2148840" cy="365760"/>
          </a:xfrm>
          <a:prstGeom prst="rect">
            <a:avLst/>
          </a:prstGeom>
          <a:noFill/>
          <a:ln/>
        </ns0:spPr>
        <ns0:txBody>
          <a:bodyPr wrap="square" lIns="0" tIns="0" rIns="0" bIns="0" rtlCol="0" anchor="ctr"/>
          <a:lstStyle/>
          <a:p>
            <a:pPr indent="0" marL="0">
              <a:buNone/>
            </a:pPr>
            <a:r>
              <a:rPr lang="en-US" sz="1700" b="1" dirty="0">
                <a:solidFill>
                  <a:srgbClr val="16302B"/>
                </a:solidFill>
                <a:latin typeface="Segoe UI" pitchFamily="34" charset="0"/>
                <a:ea typeface="Segoe UI" pitchFamily="34" charset="-122"/>
                <a:cs typeface="Segoe UI" pitchFamily="34" charset="-120"/>
              </a:rPr>
              <a:t>Theo dõi</a:t>
            </a:r>
            <a:endParaRPr lang="en-US" sz="1700" dirty="0"/>
          </a:p>
        </ns0:txBody>
      </ns0:sp>
      <ns0:sp>
        <ns0:nvSpPr>
          <ns0:cNvPr id="25" name="Text 23"/>
          <ns0:cNvSpPr/>
          <ns0:nvPr/>
        </ns0:nvSpPr>
        <ns0:spPr>
          <a:xfrm>
            <a:off x="9180576" y="3429000"/>
            <a:ext cx="2194560" cy="1280160"/>
          </a:xfrm>
          <a:prstGeom prst="rect">
            <a:avLst/>
          </a:prstGeom>
          <a:noFill/>
          <a:ln/>
        </ns0:spPr>
        <ns0:txBody>
          <a:bodyPr wrap="square" lIns="0" tIns="0" rIns="0" bIns="0" rtlCol="0" anchor="ctr"/>
          <a:lstStyle/>
          <a:p>
            <a:pPr indent="0" marL="0">
              <a:lnSpc>
                <a:spcPct val="120000"/>
              </a:lnSpc>
              <a:buNone/>
            </a:pPr>
            <a:r>
              <a:rPr lang="en-US" sz="1150" dirty="0">
                <a:solidFill>
                  <a:srgbClr val="5C7370"/>
                </a:solidFill>
                <a:latin typeface="Segoe UI" pitchFamily="34" charset="0"/>
                <a:ea typeface="Segoe UI" pitchFamily="34" charset="-122"/>
                <a:cs typeface="Segoe UI" pitchFamily="34" charset="-120"/>
              </a:rPr>
              <a:t>Dặn bài tập nhẹ, ghi sổ sức khỏe — buổi sau điều chỉnh tốt hơn.</a:t>
            </a:r>
            <a:endParaRPr lang="en-US" sz="1150" dirty="0"/>
          </a:p>
        </ns0:txBody>
      </ns0:sp>
      <ns0:sp>
        <ns0:nvSpPr>
          <ns0:cNvPr id="26" name="Shape 24"/>
          <ns0:cNvSpPr/>
          <ns0:nvPr/>
        </ns0:nvSpPr>
        <ns0:spPr>
          <a:xfrm>
            <a:off x="0" y="5486400"/>
            <a:ext cx="12188952" cy="658368"/>
          </a:xfrm>
          <a:prstGeom prst="rect">
            <a:avLst/>
          </a:prstGeom>
          <a:solidFill>
            <a:srgbClr val="FDEBDD"/>
          </a:solidFill>
          <a:ln/>
        </ns0:spPr>
      </ns0:sp>
      <ns0:sp>
        <ns0:nvSpPr>
          <ns0:cNvPr id="27" name="Text 25"/>
          <ns0:cNvSpPr/>
          <ns0:nvPr/>
        </ns0:nvSpPr>
        <ns0:spPr>
          <a:xfrm>
            <a:off x="502920" y="5486400"/>
            <a:ext cx="11183112" cy="658368"/>
          </a:xfrm>
          <a:prstGeom prst="rect">
            <a:avLst/>
          </a:prstGeom>
          <a:noFill/>
          <a:ln/>
        </ns0:spPr>
        <ns0:txBody>
          <a:bodyPr wrap="square" lIns="0" tIns="0" rIns="0" bIns="0" rtlCol="0" anchor="ctr"/>
          <a:lstStyle/>
          <a:p>
            <a:pPr indent="0" marL="0">
              <a:buNone/>
            </a:pPr>
            <a:r>
              <a:rPr lang="en-US" sz="1350" b="1" dirty="0">
                <a:solidFill>
                  <a:srgbClr val="16302B"/>
                </a:solidFill>
                <a:latin typeface="Segoe UI" pitchFamily="34" charset="0"/>
                <a:ea typeface="Segoe UI" pitchFamily="34" charset="-122"/>
                <a:cs typeface="Segoe UI" pitchFamily="34" charset="-120"/>
              </a:rPr>
              <a:t>Nguyên tắc cốt lõi:  </a:t>
            </a:r>
            <a:r>
              <a:rPr lang="en-US" sz="1350" dirty="0">
                <a:solidFill>
                  <a:srgbClr val="16302B"/>
                </a:solidFill>
                <a:latin typeface="Segoe UI" pitchFamily="34" charset="0"/>
                <a:ea typeface="Segoe UI" pitchFamily="34" charset="-122"/>
                <a:cs typeface="Segoe UI" pitchFamily="34" charset="-120"/>
              </a:rPr>
              <a:t>không an toàn → không thực hiện. Khách có chống chỉ định sẽ được từ chối hoặc khuyên đi khám; cơ sở mua bảo hiểm trách nhiệm dịch vụ.</a:t>
            </a:r>
            <a:endParaRPr lang="en-US" sz="13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96"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400"/>
                                  </ns0:stCondLst>
                                  <ns0:childTnLst>
                                    <ns0:set>
                                      <ns0:cBhvr>
                                        <ns0:cTn id="21" dur="1" fill="hold">
                                          <ns0:stCondLst>
                                            <ns0:cond delay="0"/>
                                          </ns0:stCondLst>
                                        </ns0:cTn>
                                        <ns0:tgtEl>
                                          <ns0:spTgt spid="11"/>
                                        </ns0:tgtEl>
                                        <ns0:attrNameLst>
                                          <ns0:attrName>style.visibility</ns0:attrName>
                                        </ns0:attrNameLst>
                                      </ns0:cBhvr>
                                      <ns0:to>
                                        <ns0:strVal val="visible"/>
                                      </ns0:to>
                                    </ns0:set>
                                    <ns0:animEffect transition="in" filter="fade">
                                      <ns0:cBhvr>
                                        <ns0:cTn id="22" dur="500"/>
                                        <ns0:tgtEl>
                                          <ns0:spTgt spid="11"/>
                                        </ns0:tgtEl>
                                      </ns0:cBhvr>
                                    </ns0:animEffect>
                                    <ns0:anim calcmode="lin" valueType="num">
                                      <ns0:cBhvr additive="base">
                                        <ns0:cTn id="2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4" fill="hold">
                      <ns0:stCondLst>
                        <ns0:cond delay="indefinite"/>
                      </ns0:stCondLst>
                      <ns0:childTnLst>
                        <ns0:par>
                          <ns0:cTn id="25" fill="hold">
                            <ns0:stCondLst>
                              <ns0:cond delay="0"/>
                            </ns0:stCondLst>
                            <ns0:childTnLst>
                              <ns0:par>
                                <ns0:cTn id="26" presetID="42" presetClass="entr" presetSubtype="0" fill="hold" grpId="0" nodeType="clickEffect">
                                  <ns0:stCondLst>
                                    <ns0:cond delay="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1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2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38" presetID="42" presetClass="entr" presetSubtype="0" fill="hold" grpId="0" nodeType="withEffect">
                                  <ns0:stCondLst>
                                    <ns0:cond delay="300"/>
                                  </ns0:stCondLst>
                                  <ns0:childTnLst>
                                    <ns0:set>
                                      <ns0:cBhvr>
                                        <ns0:cTn id="39" dur="1" fill="hold">
                                          <ns0:stCondLst>
                                            <ns0:cond delay="0"/>
                                          </ns0:stCondLst>
                                        </ns0:cTn>
                                        <ns0:tgtEl>
                                          <ns0:spTgt spid="15"/>
                                        </ns0:tgtEl>
                                        <ns0:attrNameLst>
                                          <ns0:attrName>style.visibility</ns0:attrName>
                                        </ns0:attrNameLst>
                                      </ns0:cBhvr>
                                      <ns0:to>
                                        <ns0:strVal val="visible"/>
                                      </ns0:to>
                                    </ns0:set>
                                    <ns0:animEffect transition="in" filter="fade">
                                      <ns0:cBhvr>
                                        <ns0:cTn id="40" dur="500"/>
                                        <ns0:tgtEl>
                                          <ns0:spTgt spid="15"/>
                                        </ns0:tgtEl>
                                      </ns0:cBhvr>
                                    </ns0:animEffect>
                                    <ns0:anim calcmode="lin" valueType="num">
                                      <ns0:cBhvr additive="base">
                                        <ns0:cTn id="4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2" presetID="42" presetClass="entr" presetSubtype="0" fill="hold" grpId="0" nodeType="withEffect">
                                  <ns0:stCondLst>
                                    <ns0:cond delay="400"/>
                                  </ns0:stCondLst>
                                  <ns0:childTnLst>
                                    <ns0:set>
                                      <ns0:cBhvr>
                                        <ns0:cTn id="43" dur="1" fill="hold">
                                          <ns0:stCondLst>
                                            <ns0:cond delay="0"/>
                                          </ns0:stCondLst>
                                        </ns0:cTn>
                                        <ns0:tgtEl>
                                          <ns0:spTgt spid="16"/>
                                        </ns0:tgtEl>
                                        <ns0:attrNameLst>
                                          <ns0:attrName>style.visibility</ns0:attrName>
                                        </ns0:attrNameLst>
                                      </ns0:cBhvr>
                                      <ns0:to>
                                        <ns0:strVal val="visible"/>
                                      </ns0:to>
                                    </ns0:set>
                                    <ns0:animEffect transition="in" filter="fade">
                                      <ns0:cBhvr>
                                        <ns0:cTn id="44" dur="500"/>
                                        <ns0:tgtEl>
                                          <ns0:spTgt spid="16"/>
                                        </ns0:tgtEl>
                                      </ns0:cBhvr>
                                    </ns0:animEffect>
                                    <ns0:anim calcmode="lin" valueType="num">
                                      <ns0:cBhvr additive="base">
                                        <ns0:cTn id="4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46" fill="hold">
                      <ns0:stCondLst>
                        <ns0:cond delay="indefinite"/>
                      </ns0:stCondLst>
                      <ns0:childTnLst>
                        <ns0:par>
                          <ns0:cTn id="47" fill="hold">
                            <ns0:stCondLst>
                              <ns0:cond delay="0"/>
                            </ns0:stCondLst>
                            <ns0:childTnLst>
                              <ns0:par>
                                <ns0:cTn id="48" presetID="42" presetClass="entr" presetSubtype="0" fill="hold" grpId="0" nodeType="clickEffect">
                                  <ns0:stCondLst>
                                    <ns0:cond delay="0"/>
                                  </ns0:stCondLst>
                                  <ns0:childTnLst>
                                    <ns0:set>
                                      <ns0:cBhvr>
                                        <ns0:cTn id="49" dur="1" fill="hold">
                                          <ns0:stCondLst>
                                            <ns0:cond delay="0"/>
                                          </ns0:stCondLst>
                                        </ns0:cTn>
                                        <ns0:tgtEl>
                                          <ns0:spTgt spid="17"/>
                                        </ns0:tgtEl>
                                        <ns0:attrNameLst>
                                          <ns0:attrName>style.visibility</ns0:attrName>
                                        </ns0:attrNameLst>
                                      </ns0:cBhvr>
                                      <ns0:to>
                                        <ns0:strVal val="visible"/>
                                      </ns0:to>
                                    </ns0:set>
                                    <ns0:animEffect transition="in" filter="fade">
                                      <ns0:cBhvr>
                                        <ns0:cTn id="50" dur="500"/>
                                        <ns0:tgtEl>
                                          <ns0:spTgt spid="17"/>
                                        </ns0:tgtEl>
                                      </ns0:cBhvr>
                                    </ns0:animEffect>
                                    <ns0:anim calcmode="lin" valueType="num">
                                      <ns0:cBhvr additive="base">
                                        <ns0:cTn id="51"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52" presetID="42" presetClass="entr" presetSubtype="0" fill="hold" grpId="0" nodeType="withEffect">
                                  <ns0:stCondLst>
                                    <ns0:cond delay="10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200"/>
                                  </ns0:stCondLst>
                                  <ns0:childTnLst>
                                    <ns0:set>
                                      <ns0:cBhvr>
                                        <ns0:cTn id="57" dur="1" fill="hold">
                                          <ns0:stCondLst>
                                            <ns0:cond delay="0"/>
                                          </ns0:stCondLst>
                                        </ns0:cTn>
                                        <ns0:tgtEl>
                                          <ns0:spTgt spid="19"/>
                                        </ns0:tgtEl>
                                        <ns0:attrNameLst>
                                          <ns0:attrName>style.visibility</ns0:attrName>
                                        </ns0:attrNameLst>
                                      </ns0:cBhvr>
                                      <ns0:to>
                                        <ns0:strVal val="visible"/>
                                      </ns0:to>
                                    </ns0:set>
                                    <ns0:animEffect transition="in" filter="fade">
                                      <ns0:cBhvr>
                                        <ns0:cTn id="58" dur="500"/>
                                        <ns0:tgtEl>
                                          <ns0:spTgt spid="19"/>
                                        </ns0:tgtEl>
                                      </ns0:cBhvr>
                                    </ns0:animEffect>
                                    <ns0:anim calcmode="lin" valueType="num">
                                      <ns0:cBhvr additive="base">
                                        <ns0:cTn id="59"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300"/>
                                  </ns0:stCondLst>
                                  <ns0:childTnLst>
                                    <ns0:set>
                                      <ns0:cBhvr>
                                        <ns0:cTn id="61" dur="1" fill="hold">
                                          <ns0:stCondLst>
                                            <ns0:cond delay="0"/>
                                          </ns0:stCondLst>
                                        </ns0:cTn>
                                        <ns0:tgtEl>
                                          <ns0:spTgt spid="20"/>
                                        </ns0:tgtEl>
                                        <ns0:attrNameLst>
                                          <ns0:attrName>style.visibility</ns0:attrName>
                                        </ns0:attrNameLst>
                                      </ns0:cBhvr>
                                      <ns0:to>
                                        <ns0:strVal val="visible"/>
                                      </ns0:to>
                                    </ns0:set>
                                    <ns0:animEffect transition="in" filter="fade">
                                      <ns0:cBhvr>
                                        <ns0:cTn id="62" dur="500"/>
                                        <ns0:tgtEl>
                                          <ns0:spTgt spid="20"/>
                                        </ns0:tgtEl>
                                      </ns0:cBhvr>
                                    </ns0:animEffect>
                                    <ns0:anim calcmode="lin" valueType="num">
                                      <ns0:cBhvr additive="base">
                                        <ns0:cTn id="63"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64" presetID="42" presetClass="entr" presetSubtype="0" fill="hold" grpId="0" nodeType="withEffect">
                                  <ns0:stCondLst>
                                    <ns0:cond delay="400"/>
                                  </ns0:stCondLst>
                                  <ns0:childTnLst>
                                    <ns0:set>
                                      <ns0:cBhvr>
                                        <ns0:cTn id="65" dur="1" fill="hold">
                                          <ns0:stCondLst>
                                            <ns0:cond delay="0"/>
                                          </ns0:stCondLst>
                                        </ns0:cTn>
                                        <ns0:tgtEl>
                                          <ns0:spTgt spid="21"/>
                                        </ns0:tgtEl>
                                        <ns0:attrNameLst>
                                          <ns0:attrName>style.visibility</ns0:attrName>
                                        </ns0:attrNameLst>
                                      </ns0:cBhvr>
                                      <ns0:to>
                                        <ns0:strVal val="visible"/>
                                      </ns0:to>
                                    </ns0:set>
                                    <ns0:animEffect transition="in" filter="fade">
                                      <ns0:cBhvr>
                                        <ns0:cTn id="66" dur="500"/>
                                        <ns0:tgtEl>
                                          <ns0:spTgt spid="21"/>
                                        </ns0:tgtEl>
                                      </ns0:cBhvr>
                                    </ns0:animEffect>
                                    <ns0:anim calcmode="lin" valueType="num">
                                      <ns0:cBhvr additive="base">
                                        <ns0:cTn id="67"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68" fill="hold">
                      <ns0:stCondLst>
                        <ns0:cond delay="indefinite"/>
                      </ns0:stCondLst>
                      <ns0:childTnLst>
                        <ns0:par>
                          <ns0:cTn id="69" fill="hold">
                            <ns0:stCondLst>
                              <ns0:cond delay="0"/>
                            </ns0:stCondLst>
                            <ns0:childTnLst>
                              <ns0:par>
                                <ns0:cTn id="70" presetID="42" presetClass="entr" presetSubtype="0" fill="hold" grpId="0" nodeType="clickEffect">
                                  <ns0:stCondLst>
                                    <ns0:cond delay="0"/>
                                  </ns0:stCondLst>
                                  <ns0:childTnLst>
                                    <ns0:set>
                                      <ns0:cBhvr>
                                        <ns0:cTn id="71" dur="1" fill="hold">
                                          <ns0:stCondLst>
                                            <ns0:cond delay="0"/>
                                          </ns0:stCondLst>
                                        </ns0:cTn>
                                        <ns0:tgtEl>
                                          <ns0:spTgt spid="22"/>
                                        </ns0:tgtEl>
                                        <ns0:attrNameLst>
                                          <ns0:attrName>style.visibility</ns0:attrName>
                                        </ns0:attrNameLst>
                                      </ns0:cBhvr>
                                      <ns0:to>
                                        <ns0:strVal val="visible"/>
                                      </ns0:to>
                                    </ns0:set>
                                    <ns0:animEffect transition="in" filter="fade">
                                      <ns0:cBhvr>
                                        <ns0:cTn id="72" dur="500"/>
                                        <ns0:tgtEl>
                                          <ns0:spTgt spid="22"/>
                                        </ns0:tgtEl>
                                      </ns0:cBhvr>
                                    </ns0:animEffect>
                                    <ns0:anim calcmode="lin" valueType="num">
                                      <ns0:cBhvr additive="base">
                                        <ns0:cTn id="73"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par>
                                <ns0:cTn id="74" presetID="42" presetClass="entr" presetSubtype="0" fill="hold" grpId="0" nodeType="withEffect">
                                  <ns0:stCondLst>
                                    <ns0:cond delay="10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par>
                                <ns0:cTn id="78" presetID="42" presetClass="entr" presetSubtype="0" fill="hold" grpId="0" nodeType="withEffect">
                                  <ns0:stCondLst>
                                    <ns0:cond delay="200"/>
                                  </ns0:stCondLst>
                                  <ns0:childTnLst>
                                    <ns0:set>
                                      <ns0:cBhvr>
                                        <ns0:cTn id="79" dur="1" fill="hold">
                                          <ns0:stCondLst>
                                            <ns0:cond delay="0"/>
                                          </ns0:stCondLst>
                                        </ns0:cTn>
                                        <ns0:tgtEl>
                                          <ns0:spTgt spid="24"/>
                                        </ns0:tgtEl>
                                        <ns0:attrNameLst>
                                          <ns0:attrName>style.visibility</ns0:attrName>
                                        </ns0:attrNameLst>
                                      </ns0:cBhvr>
                                      <ns0:to>
                                        <ns0:strVal val="visible"/>
                                      </ns0:to>
                                    </ns0:set>
                                    <ns0:animEffect transition="in" filter="fade">
                                      <ns0:cBhvr>
                                        <ns0:cTn id="80" dur="500"/>
                                        <ns0:tgtEl>
                                          <ns0:spTgt spid="24"/>
                                        </ns0:tgtEl>
                                      </ns0:cBhvr>
                                    </ns0:animEffect>
                                    <ns0:anim calcmode="lin" valueType="num">
                                      <ns0:cBhvr additive="base">
                                        <ns0:cTn id="81" dur="500" fill="hold"/>
                                        <ns0:tgtEl>
                                          <ns0:spTgt spid="24"/>
                                        </ns0:tgtEl>
                                        <ns0:attrNameLst>
                                          <ns0:attrName>ppt_y</ns0:attrName>
                                        </ns0:attrNameLst>
                                      </ns0:cBhvr>
                                      <ns0:tavLst>
                                        <ns0:tav tm="0">
                                          <ns0:val>
                                            <ns0:strVal val="#ppt_y+0.018"/>
                                          </ns0:val>
                                        </ns0:tav>
                                        <ns0:tav tm="100000">
                                          <ns0:val>
                                            <ns0:strVal val="#ppt_y"/>
                                          </ns0:val>
                                        </ns0:tav>
                                      </ns0:tavLst>
                                    </ns0:anim>
                                  </ns0:childTnLst>
                                </ns0:cTn>
                              </ns0:par>
                              <ns0:par>
                                <ns0:cTn id="82" presetID="42" presetClass="entr" presetSubtype="0" fill="hold" grpId="0" nodeType="withEffect">
                                  <ns0:stCondLst>
                                    <ns0:cond delay="300"/>
                                  </ns0:stCondLst>
                                  <ns0:childTnLst>
                                    <ns0:set>
                                      <ns0:cBhvr>
                                        <ns0:cTn id="83" dur="1" fill="hold">
                                          <ns0:stCondLst>
                                            <ns0:cond delay="0"/>
                                          </ns0:stCondLst>
                                        </ns0:cTn>
                                        <ns0:tgtEl>
                                          <ns0:spTgt spid="25"/>
                                        </ns0:tgtEl>
                                        <ns0:attrNameLst>
                                          <ns0:attrName>style.visibility</ns0:attrName>
                                        </ns0:attrNameLst>
                                      </ns0:cBhvr>
                                      <ns0:to>
                                        <ns0:strVal val="visible"/>
                                      </ns0:to>
                                    </ns0:set>
                                    <ns0:animEffect transition="in" filter="fade">
                                      <ns0:cBhvr>
                                        <ns0:cTn id="84" dur="500"/>
                                        <ns0:tgtEl>
                                          <ns0:spTgt spid="25"/>
                                        </ns0:tgtEl>
                                      </ns0:cBhvr>
                                    </ns0:animEffect>
                                    <ns0:anim calcmode="lin" valueType="num">
                                      <ns0:cBhvr additive="base">
                                        <ns0:cTn id="85" dur="500" fill="hold"/>
                                        <ns0:tgtEl>
                                          <ns0:spTgt spid="25"/>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86" fill="hold">
                      <ns0:stCondLst>
                        <ns0:cond delay="indefinite"/>
                      </ns0:stCondLst>
                      <ns0:childTnLst>
                        <ns0:par>
                          <ns0:cTn id="87" fill="hold">
                            <ns0:stCondLst>
                              <ns0:cond delay="0"/>
                            </ns0:stCondLst>
                            <ns0:childTnLst>
                              <ns0:par>
                                <ns0:cTn id="88" presetID="42" presetClass="entr" presetSubtype="0" fill="hold" grpId="0" nodeType="clickEffect">
                                  <ns0:stCondLst>
                                    <ns0:cond delay="0"/>
                                  </ns0:stCondLst>
                                  <ns0:childTnLst>
                                    <ns0:set>
                                      <ns0:cBhvr>
                                        <ns0:cTn id="89" dur="1" fill="hold">
                                          <ns0:stCondLst>
                                            <ns0:cond delay="0"/>
                                          </ns0:stCondLst>
                                        </ns0:cTn>
                                        <ns0:tgtEl>
                                          <ns0:spTgt spid="26"/>
                                        </ns0:tgtEl>
                                        <ns0:attrNameLst>
                                          <ns0:attrName>style.visibility</ns0:attrName>
                                        </ns0:attrNameLst>
                                      </ns0:cBhvr>
                                      <ns0:to>
                                        <ns0:strVal val="visible"/>
                                      </ns0:to>
                                    </ns0:set>
                                    <ns0:animEffect transition="in" filter="fade">
                                      <ns0:cBhvr>
                                        <ns0:cTn id="90" dur="500"/>
                                        <ns0:tgtEl>
                                          <ns0:spTgt spid="26"/>
                                        </ns0:tgtEl>
                                      </ns0:cBhvr>
                                    </ns0:animEffect>
                                    <ns0:anim calcmode="lin" valueType="num">
                                      <ns0:cBhvr additive="base">
                                        <ns0:cTn id="91" dur="500" fill="hold"/>
                                        <ns0:tgtEl>
                                          <ns0:spTgt spid="26"/>
                                        </ns0:tgtEl>
                                        <ns0:attrNameLst>
                                          <ns0:attrName>ppt_y</ns0:attrName>
                                        </ns0:attrNameLst>
                                      </ns0:cBhvr>
                                      <ns0:tavLst>
                                        <ns0:tav tm="0">
                                          <ns0:val>
                                            <ns0:strVal val="#ppt_y+0.018"/>
                                          </ns0:val>
                                        </ns0:tav>
                                        <ns0:tav tm="100000">
                                          <ns0:val>
                                            <ns0:strVal val="#ppt_y"/>
                                          </ns0:val>
                                        </ns0:tav>
                                      </ns0:tavLst>
                                    </ns0:anim>
                                  </ns0:childTnLst>
                                </ns0:cTn>
                              </ns0:par>
                              <ns0:par>
                                <ns0:cTn id="92" presetID="42" presetClass="entr" presetSubtype="0" fill="hold" grpId="0" nodeType="withEffect">
                                  <ns0:stCondLst>
                                    <ns0:cond delay="100"/>
                                  </ns0:stCondLst>
                                  <ns0:childTnLst>
                                    <ns0:set>
                                      <ns0:cBhvr>
                                        <ns0:cTn id="93" dur="1" fill="hold">
                                          <ns0:stCondLst>
                                            <ns0:cond delay="0"/>
                                          </ns0:stCondLst>
                                        </ns0:cTn>
                                        <ns0:tgtEl>
                                          <ns0:spTgt spid="27"/>
                                        </ns0:tgtEl>
                                        <ns0:attrNameLst>
                                          <ns0:attrName>style.visibility</ns0:attrName>
                                        </ns0:attrNameLst>
                                      </ns0:cBhvr>
                                      <ns0:to>
                                        <ns0:strVal val="visible"/>
                                      </ns0:to>
                                    </ns0:set>
                                    <ns0:animEffect transition="in" filter="fade">
                                      <ns0:cBhvr>
                                        <ns0:cTn id="94" dur="500"/>
                                        <ns0:tgtEl>
                                          <ns0:spTgt spid="27"/>
                                        </ns0:tgtEl>
                                      </ns0:cBhvr>
                                    </ns0:animEffect>
                                    <ns0:anim calcmode="lin" valueType="num">
                                      <ns0:cBhvr additive="base">
                                        <ns0:cTn id="95" dur="500" fill="hold"/>
                                        <ns0:tgtEl>
                                          <ns0:spTgt spid="2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P spid="24" grpId="0"/>
      <ns0:bldP spid="25" grpId="0"/>
      <ns0:bldP spid="26" grpId="0"/>
      <ns0:bldP spid="27" grpId="0"/>
    </ns0:bldLst>
  </ns0:timing>
</ns0:sld>
</file>

<file path=ppt/slides/slide9.xml><?xml version="1.0" encoding="utf-8"?>
<ns0:sld xmlns:a="http://schemas.openxmlformats.org/drawingml/2006/main" xmlns:ns0="http://schemas.openxmlformats.org/presentationml/2006/main" xmlns:ns2="http://schemas.microsoft.com/office/powerpoint/2010/main">
  <ns0:cSld name="Slide 9">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GIÁ TRỊ KHÁC BIỆT</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Khoảng trống thị trường: dịch vụ chăm sóc chuyên nghiệp cho trung niên – cao tuổi còn bỏ ngỏ</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09</a:t>
            </a:r>
            <a:endParaRPr lang="en-US" sz="1050" dirty="0"/>
          </a:p>
        </ns0:txBody>
      </ns0:sp>
      <ns0:graphicFrame>
        <ns0:nvGraphicFramePr>
          <ns0:cNvPr id="10" name="Table 0"/>
          <ns0:cNvGraphicFramePr>
            <a:graphicFrameLocks noGrp="1"/>
          </ns0:cNvGraphicFramePr>
          <ns0:nvPr>
            <ns0:extLst>
              <ns0:ext uri="{D42A27DB-BD31-4B8C-83A1-F6EECF244321}">
                <ns2:modId val="1579011935"/>
              </ns0:ext>
            </ns0:extLst>
          </ns0:nvPr>
        </ns0:nvGraphicFramePr>
        <ns0:xfrm>
          <a:off x="502920" y="1810512"/>
          <a:ext cx="11183112" cy="914400"/>
        </ns0:xfrm>
        <a:graphic>
          <a:graphicData uri="http://schemas.openxmlformats.org/drawingml/2006/table">
            <a:tbl>
              <a:tblPr/>
              <a:tblGrid>
                <a:gridCol w="4233672"/>
                <a:gridCol w="1737360"/>
                <a:gridCol w="1737360"/>
                <a:gridCol w="1737360"/>
                <a:gridCol w="1737360"/>
              </a:tblGrid>
              <a:tr h="502920">
                <a:tc>
                  <a:txBody>
                    <a:bodyPr/>
                    <a:lstStyle/>
                    <a:p>
                      <a:pPr algn="l" indent="0" marL="0">
                        <a:buNone/>
                      </a:pPr>
                      <a:r>
                        <a:rPr lang="en-US" sz="1250" b="1" dirty="0">
                          <a:solidFill>
                            <a:srgbClr val="FFFFFF"/>
                          </a:solidFill>
                          <a:latin typeface="Segoe UI" pitchFamily="34" charset="0"/>
                          <a:ea typeface="Segoe UI" pitchFamily="34" charset="-122"/>
                          <a:cs typeface="Segoe UI" pitchFamily="34" charset="-120"/>
                        </a:rPr>
                        <a:t>Tiêu chí</a:t>
                      </a:r>
                      <a:endParaRPr lang="en-US" sz="125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CareTouch</a:t>
                      </a:r>
                      <a:endParaRPr lang="en-US" sz="125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E8590C"/>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Spa cao cấp</a:t>
                      </a:r>
                      <a:endParaRPr lang="en-US" sz="125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Quán massage nhỏ</a:t>
                      </a:r>
                      <a:endParaRPr lang="en-US" sz="125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c>
                  <a:txBody>
                    <a:bodyPr/>
                    <a:lstStyle/>
                    <a:p>
                      <a:pPr algn="ctr" indent="0" marL="0">
                        <a:buNone/>
                      </a:pPr>
                      <a:r>
                        <a:rPr lang="en-US" sz="1250" b="1" dirty="0">
                          <a:solidFill>
                            <a:srgbClr val="FFFFFF"/>
                          </a:solidFill>
                          <a:latin typeface="Segoe UI" pitchFamily="34" charset="0"/>
                          <a:ea typeface="Segoe UI" pitchFamily="34" charset="-122"/>
                          <a:cs typeface="Segoe UI" pitchFamily="34" charset="-120"/>
                        </a:rPr>
                        <a:t>Tại nhà tự phát</a:t>
                      </a:r>
                      <a:endParaRPr lang="en-US" sz="125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0E7C6B"/>
                    </a:solidFill>
                  </a:tcPr>
                </a:tc>
              </a:tr>
              <a:tr h="640080">
                <a:tc>
                  <a:txBody>
                    <a:bodyPr/>
                    <a:lstStyle/>
                    <a:p>
                      <a:pPr algn="l" indent="0" marL="0">
                        <a:buNone/>
                      </a:pPr>
                      <a:r>
                        <a:rPr lang="en-US" sz="1200" dirty="0">
                          <a:solidFill>
                            <a:srgbClr val="5C7370"/>
                          </a:solidFill>
                          <a:latin typeface="Segoe UI" pitchFamily="34" charset="0"/>
                          <a:ea typeface="Segoe UI" pitchFamily="34" charset="-122"/>
                          <a:cs typeface="Segoe UI" pitchFamily="34" charset="-120"/>
                        </a:rPr>
                        <a:t>Giá niêm yết minh bạch, không phát sinh</a:t>
                      </a:r>
                      <a:endParaRPr lang="en-US" sz="12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E8590C"/>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DEBDD"/>
                    </a:solidFill>
                  </a:tcPr>
                </a:tc>
                <a:tc>
                  <a:txBody>
                    <a:bodyPr/>
                    <a:lstStyle/>
                    <a:p>
                      <a:pPr algn="ctr" indent="0" marL="0">
                        <a:buNone/>
                      </a:pPr>
                      <a:r>
                        <a:rPr lang="en-US" sz="1500" dirty="0">
                          <a:solidFill>
                            <a:srgbClr val="0E7C6B"/>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C7370"/>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r>
              <a:tr h="640080">
                <a:tc>
                  <a:txBody>
                    <a:bodyPr/>
                    <a:lstStyle/>
                    <a:p>
                      <a:pPr algn="l" indent="0" marL="0">
                        <a:buNone/>
                      </a:pPr>
                      <a:r>
                        <a:rPr lang="en-US" sz="1200" dirty="0">
                          <a:solidFill>
                            <a:srgbClr val="5C7370"/>
                          </a:solidFill>
                          <a:latin typeface="Segoe UI" pitchFamily="34" charset="0"/>
                          <a:ea typeface="Segoe UI" pitchFamily="34" charset="-122"/>
                          <a:cs typeface="Segoe UI" pitchFamily="34" charset="-120"/>
                        </a:rPr>
                        <a:t>Trị liệu cổ truyền theo bài chuẩn</a:t>
                      </a:r>
                      <a:endParaRPr lang="en-US" sz="12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b="1" dirty="0">
                          <a:solidFill>
                            <a:srgbClr val="E8590C"/>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DEBDD"/>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dirty="0">
                          <a:solidFill>
                            <a:srgbClr val="5C7370"/>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dirty="0">
                          <a:solidFill>
                            <a:srgbClr val="5C7370"/>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r>
              <a:tr h="640080">
                <a:tc>
                  <a:txBody>
                    <a:bodyPr/>
                    <a:lstStyle/>
                    <a:p>
                      <a:pPr algn="l" indent="0" marL="0">
                        <a:buNone/>
                      </a:pPr>
                      <a:r>
                        <a:rPr lang="en-US" sz="1200" dirty="0">
                          <a:solidFill>
                            <a:srgbClr val="5C7370"/>
                          </a:solidFill>
                          <a:latin typeface="Segoe UI" pitchFamily="34" charset="0"/>
                          <a:ea typeface="Segoe UI" pitchFamily="34" charset="-122"/>
                          <a:cs typeface="Segoe UI" pitchFamily="34" charset="-120"/>
                        </a:rPr>
                        <a:t>Khảo sát thể trạng an toàn trước mỗi buổi</a:t>
                      </a:r>
                      <a:endParaRPr lang="en-US" sz="12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E8590C"/>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DEBDD"/>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C7370"/>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r>
              <a:tr h="640080">
                <a:tc>
                  <a:txBody>
                    <a:bodyPr/>
                    <a:lstStyle/>
                    <a:p>
                      <a:pPr algn="l" indent="0" marL="0">
                        <a:buNone/>
                      </a:pPr>
                      <a:r>
                        <a:rPr lang="en-US" sz="1200" dirty="0">
                          <a:solidFill>
                            <a:srgbClr val="5C7370"/>
                          </a:solidFill>
                          <a:latin typeface="Segoe UI" pitchFamily="34" charset="0"/>
                          <a:ea typeface="Segoe UI" pitchFamily="34" charset="-122"/>
                          <a:cs typeface="Segoe UI" pitchFamily="34" charset="-120"/>
                        </a:rPr>
                        <a:t>Phục vụ tận giường – tận nhà</a:t>
                      </a:r>
                      <a:endParaRPr lang="en-US" sz="12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b="1" dirty="0">
                          <a:solidFill>
                            <a:srgbClr val="E8590C"/>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DEBDD"/>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dirty="0">
                          <a:solidFill>
                            <a:srgbClr val="5C7370"/>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dirty="0">
                          <a:solidFill>
                            <a:srgbClr val="0E7C6B"/>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r>
              <a:tr h="640080">
                <a:tc>
                  <a:txBody>
                    <a:bodyPr/>
                    <a:lstStyle/>
                    <a:p>
                      <a:pPr algn="l" indent="0" marL="0">
                        <a:buNone/>
                      </a:pPr>
                      <a:r>
                        <a:rPr lang="en-US" sz="1200" dirty="0">
                          <a:solidFill>
                            <a:srgbClr val="5C7370"/>
                          </a:solidFill>
                          <a:latin typeface="Segoe UI" pitchFamily="34" charset="0"/>
                          <a:ea typeface="Segoe UI" pitchFamily="34" charset="-122"/>
                          <a:cs typeface="Segoe UI" pitchFamily="34" charset="-120"/>
                        </a:rPr>
                        <a:t>Sổ sức khỏe cá nhân theo dõi liệu trình</a:t>
                      </a:r>
                      <a:endParaRPr lang="en-US" sz="12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E8590C"/>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DEBDD"/>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FFFFF"/>
                    </a:solidFill>
                  </a:tcPr>
                </a:tc>
              </a:tr>
              <a:tr h="640080">
                <a:tc>
                  <a:txBody>
                    <a:bodyPr/>
                    <a:lstStyle/>
                    <a:p>
                      <a:pPr algn="l" indent="0" marL="0">
                        <a:buNone/>
                      </a:pPr>
                      <a:r>
                        <a:rPr lang="en-US" sz="1200" dirty="0">
                          <a:solidFill>
                            <a:srgbClr val="5C7370"/>
                          </a:solidFill>
                          <a:latin typeface="Segoe UI" pitchFamily="34" charset="0"/>
                          <a:ea typeface="Segoe UI" pitchFamily="34" charset="-122"/>
                          <a:cs typeface="Segoe UI" pitchFamily="34" charset="-120"/>
                        </a:rPr>
                        <a:t>Giá phù hợp chi trả định kỳ (120–320 nghìn đồng)</a:t>
                      </a:r>
                      <a:endParaRPr lang="en-US" sz="12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b="1" dirty="0">
                          <a:solidFill>
                            <a:srgbClr val="E8590C"/>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DEBDD"/>
                    </a:solidFill>
                  </a:tcPr>
                </a:tc>
                <a:tc>
                  <a:txBody>
                    <a:bodyPr/>
                    <a:lstStyle/>
                    <a:p>
                      <a:pPr algn="ctr" indent="0" marL="0">
                        <a:buNone/>
                      </a:pPr>
                      <a:r>
                        <a:rPr lang="en-US" sz="1500" dirty="0">
                          <a:solidFill>
                            <a:srgbClr val="B9C6C2"/>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dirty="0">
                          <a:solidFill>
                            <a:srgbClr val="0E7C6B"/>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c>
                  <a:txBody>
                    <a:bodyPr/>
                    <a:lstStyle/>
                    <a:p>
                      <a:pPr algn="ctr" indent="0" marL="0">
                        <a:buNone/>
                      </a:pPr>
                      <a:r>
                        <a:rPr lang="en-US" sz="1500" dirty="0">
                          <a:solidFill>
                            <a:srgbClr val="5C7370"/>
                          </a:solidFill>
                          <a:latin typeface="Segoe UI" pitchFamily="34" charset="0"/>
                          <a:ea typeface="Segoe UI" pitchFamily="34" charset="-122"/>
                          <a:cs typeface="Segoe UI" pitchFamily="34" charset="-120"/>
                        </a:rPr>
                        <a:t>~</a:t>
                      </a:r>
                      <a:endParaRPr lang="en-US" sz="1500" dirty="0">
                        <a:latin typeface="Segoe UI" charset="0"/>
                        <a:ea typeface="Segoe UI" charset="0"/>
                        <a:cs typeface="Segoe UI" charset="0"/>
                      </a:endParaRPr>
                    </a:p>
                  </a:txBody>
                  <a:tcPr marL="64008" marR="64008" marT="64008" marB="64008" anchor="ctr">
                    <a:lnL w="9525" cap="flat" cmpd="sng" algn="ctr">
                      <a:solidFill>
                        <a:srgbClr val="DCEBE6"/>
                      </a:solidFill>
                      <a:prstDash val="solid"/>
                      <a:round/>
                      <a:headEnd type="none" w="med" len="med"/>
                      <a:tailEnd type="none" w="med" len="med"/>
                    </a:lnL>
                    <a:lnR w="9525" cap="flat" cmpd="sng" algn="ctr">
                      <a:solidFill>
                        <a:srgbClr val="DCEBE6"/>
                      </a:solidFill>
                      <a:prstDash val="solid"/>
                      <a:round/>
                      <a:headEnd type="none" w="med" len="med"/>
                      <a:tailEnd type="none" w="med" len="med"/>
                    </a:lnR>
                    <a:lnT w="9525" cap="flat" cmpd="sng" algn="ctr">
                      <a:solidFill>
                        <a:srgbClr val="DCEBE6"/>
                      </a:solidFill>
                      <a:prstDash val="solid"/>
                      <a:round/>
                      <a:headEnd type="none" w="med" len="med"/>
                      <a:tailEnd type="none" w="med" len="med"/>
                    </a:lnT>
                    <a:lnB w="9525" cap="flat" cmpd="sng" algn="ctr">
                      <a:solidFill>
                        <a:srgbClr val="DCEBE6"/>
                      </a:solidFill>
                      <a:prstDash val="solid"/>
                      <a:round/>
                      <a:headEnd type="none" w="med" len="med"/>
                      <a:tailEnd type="none" w="med" len="med"/>
                    </a:lnB>
                    <a:solidFill>
                      <a:srgbClr val="F4FAF8"/>
                    </a:solidFill>
                  </a:tcPr>
                </a:tc>
              </a:tr>
            </a:tbl>
          </a:graphicData>
        </a:graphic>
      </ns0:graphicFrame>
      <ns0:sp>
        <ns0:nvSpPr>
          <ns0:cNvPr id="8" name="Text 5"/>
          <ns0:cNvSpPr/>
          <ns0:nvPr/>
        </ns0:nvSpPr>
        <ns0:spPr>
          <a:xfrm>
            <a:off x="502920" y="647395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So sánh do nhóm thực hiện trên cơ sở khảo sát dịch vụ công khai tại TP.HCM, 2025–2026 (spa: KKday, Jackfruit Adventure; home care: Massagenha).</a:t>
            </a:r>
            <a:endParaRPr lang="en-US" sz="10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8"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10"/>
                                        </ns0:tgtEl>
                                        <ns0:attrNameLst>
                                          <ns0:attrName>style.visibility</ns0:attrName>
                                        </ns0:attrNameLst>
                                      </ns0:cBhvr>
                                      <ns0:to>
                                        <ns0:strVal val="visible"/>
                                      </ns0:to>
                                    </ns0:set>
                                    <ns0:animEffect transition="in" filter="fade">
                                      <ns0:cBhvr>
                                        <ns0:cTn id="6" dur="500"/>
                                        <ns0:tgtEl>
                                          <ns0:spTgt spid="10"/>
                                        </ns0:tgtEl>
                                      </ns0:cBhvr>
                                    </ns0:animEffect>
                                    <ns0:anim calcmode="lin" valueType="num">
                                      <ns0:cBhvr additive="base">
                                        <ns0:cTn id="7"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Graphic spid="10" grpId="0">
        <ns0:bldAsOne/>
      </ns0:bldGraphic>
    </ns0:bldLst>
  </ns0:timing>
</ns0:sld>
</file>

<file path=ppt/slides/slide10.xml><?xml version="1.0" encoding="utf-8"?>
<ns0:sld xmlns:a="http://schemas.openxmlformats.org/drawingml/2006/main" xmlns:ns0="http://schemas.openxmlformats.org/presentationml/2006/main" xmlns:ns2="http://schemas.openxmlformats.org/drawingml/2006/chart" xmlns:ns3="http://schemas.openxmlformats.org/officeDocument/2006/relationships">
  <ns0:cSld name="Slide 10">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TÀI CHÍNH DỰ PHÓNG</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Hòa vốn vận hành từ tháng thứ 5 — hoàn vốn đầy đủ trong khoảng 12 tháng</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10</a:t>
            </a:r>
            <a:endParaRPr lang="en-US" sz="1050" dirty="0"/>
          </a:p>
        </ns0:txBody>
      </ns0:sp>
      <ns0:sp>
        <ns0:nvSpPr>
          <ns0:cNvPr id="7" name="Shape 5"/>
          <ns0:cNvSpPr/>
          <ns0:nvPr/>
        </ns0:nvSpPr>
        <ns0:spPr>
          <a:xfrm>
            <a:off x="502920" y="1783080"/>
            <a:ext cx="6720840" cy="4343400"/>
          </a:xfrm>
          <a:prstGeom prst="roundRect">
            <a:avLst>
              <a:gd name="adj" fmla="val 1895"/>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Text 6"/>
          <ns0:cNvSpPr/>
          <ns0:nvPr/>
        </ns0:nvSpPr>
        <ns0:spPr>
          <a:xfrm>
            <a:off x="795528" y="1956816"/>
            <a:ext cx="6035040" cy="292608"/>
          </a:xfrm>
          <a:prstGeom prst="rect">
            <a:avLst/>
          </a:prstGeom>
          <a:noFill/>
          <a:ln/>
        </ns0:spPr>
        <ns0:txBody>
          <a:bodyPr wrap="square" lIns="0" tIns="0" rIns="0" bIns="0" rtlCol="0" anchor="ctr"/>
          <a:lstStyle/>
          <a:p>
            <a:pPr indent="0" marL="0">
              <a:buNone/>
            </a:pPr>
            <a:r>
              <a:rPr lang="en-US" sz="1350" b="1" dirty="0">
                <a:solidFill>
                  <a:srgbClr val="16302B"/>
                </a:solidFill>
                <a:latin typeface="Segoe UI" pitchFamily="34" charset="0"/>
                <a:ea typeface="Segoe UI" pitchFamily="34" charset="-122"/>
                <a:cs typeface="Segoe UI" pitchFamily="34" charset="-120"/>
              </a:rPr>
              <a:t>Doanh thu dự phóng 12 tháng đầu (triệu đồng/tháng)</a:t>
            </a:r>
            <a:endParaRPr lang="en-US" sz="1350" dirty="0"/>
          </a:p>
        </ns0:txBody>
      </ns0:sp>
      <ns0:graphicFrame>
        <ns0:nvGraphicFramePr>
          <ns0:cNvPr id="9" name="Chart 0" descr=""/>
          <ns0:cNvGraphicFramePr/>
          <ns0:nvPr/>
        </ns0:nvGraphicFramePr>
        <ns0:xfrm>
          <a:off x="731520" y="2304288"/>
          <a:ext cx="6263640" cy="3291840"/>
        </ns0:xfrm>
        <a:graphic>
          <a:graphicData uri="http://schemas.openxmlformats.org/drawingml/2006/chart">
            <ns2:chart ns3:id="rId1"/>
          </a:graphicData>
        </a:graphic>
      </ns0:graphicFrame>
      <ns0:sp>
        <ns0:nvSpPr>
          <ns0:cNvPr id="10" name="Shape 7"/>
          <ns0:cNvSpPr/>
          <ns0:nvPr/>
        </ns0:nvSpPr>
        <ns0:spPr>
          <a:xfrm>
            <a:off x="7589520" y="1783080"/>
            <a:ext cx="4096512" cy="987552"/>
          </a:xfrm>
          <a:prstGeom prst="roundRect">
            <a:avLst>
              <a:gd name="adj" fmla="val 7407"/>
            </a:avLst>
          </a:prstGeom>
          <a:solidFill>
            <a:srgbClr val="E8F5F1"/>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1" name="Text 8"/>
          <ns0:cNvSpPr/>
          <ns0:nvPr/>
        </ns0:nvSpPr>
        <ns0:spPr>
          <a:xfrm>
            <a:off x="7845552" y="1892808"/>
            <a:ext cx="1481328" cy="777240"/>
          </a:xfrm>
          <a:prstGeom prst="rect">
            <a:avLst/>
          </a:prstGeom>
          <a:noFill/>
          <a:ln/>
        </ns0:spPr>
        <ns0:txBody>
          <a:bodyPr wrap="square" lIns="0" tIns="0" rIns="0" bIns="0" rtlCol="0" anchor="ctr"/>
          <a:lstStyle/>
          <a:p>
            <a:pPr indent="0" marL="0">
              <a:buNone/>
            </a:pPr>
            <a:r>
              <a:rPr lang="en-US" sz="1900" b="1" dirty="0">
                <a:solidFill>
                  <a:srgbClr val="0E7C6B"/>
                </a:solidFill>
                <a:latin typeface="Segoe UI" pitchFamily="34" charset="0"/>
                <a:ea typeface="Segoe UI" pitchFamily="34" charset="-122"/>
                <a:cs typeface="Segoe UI" pitchFamily="34" charset="-120"/>
              </a:rPr>
              <a:t>165 tr.</a:t>
            </a:r>
            <a:endParaRPr lang="en-US" sz="1900" dirty="0"/>
          </a:p>
        </ns0:txBody>
      </ns0:sp>
      <ns0:sp>
        <ns0:nvSpPr>
          <ns0:cNvPr id="12" name="Text 9"/>
          <ns0:cNvSpPr/>
          <ns0:nvPr/>
        </ns0:nvSpPr>
        <ns0:spPr>
          <a:xfrm>
            <a:off x="9363456" y="1874520"/>
            <a:ext cx="2194560" cy="822960"/>
          </a:xfrm>
          <a:prstGeom prst="rect">
            <a:avLst/>
          </a:prstGeom>
          <a:noFill/>
          <a:ln/>
        </ns0:spPr>
        <ns0:txBody>
          <a:bodyPr wrap="square" lIns="0" tIns="0" rIns="0" bIns="0" rtlCol="0" anchor="ctr"/>
          <a:lstStyle/>
          <a:p>
            <a:pPr indent="0" marL="0">
              <a:lnSpc>
                <a:spcPct val="108000"/>
              </a:lnSpc>
              <a:buNone/>
            </a:pPr>
            <a:r>
              <a:rPr lang="en-US" sz="1050" dirty="0">
                <a:solidFill>
                  <a:srgbClr val="5C7370"/>
                </a:solidFill>
                <a:latin typeface="Segoe UI" pitchFamily="34" charset="0"/>
                <a:ea typeface="Segoe UI" pitchFamily="34" charset="-122"/>
                <a:cs typeface="Segoe UI" pitchFamily="34" charset="-120"/>
              </a:rPr>
              <a:t>tổng vốn khởi đầu = 95 tr. đầu tư ban đầu + 70 tr. vốn lưu động bù lỗ 4 tháng đầu</a:t>
            </a:r>
            <a:endParaRPr lang="en-US" sz="1050" dirty="0"/>
          </a:p>
        </ns0:txBody>
      </ns0:sp>
      <ns0:sp>
        <ns0:nvSpPr>
          <ns0:cNvPr id="13" name="Shape 10"/>
          <ns0:cNvSpPr/>
          <ns0:nvPr/>
        </ns0:nvSpPr>
        <ns0:spPr>
          <a:xfrm>
            <a:off x="7589520" y="2916936"/>
            <a:ext cx="4096512" cy="987552"/>
          </a:xfrm>
          <a:prstGeom prst="roundRect">
            <a:avLst>
              <a:gd name="adj" fmla="val 7407"/>
            </a:avLst>
          </a:prstGeom>
          <a:solidFill>
            <a:srgbClr val="E8F5F1"/>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4" name="Text 11"/>
          <ns0:cNvSpPr/>
          <ns0:nvPr/>
        </ns0:nvSpPr>
        <ns0:spPr>
          <a:xfrm>
            <a:off x="7845552" y="3026664"/>
            <a:ext cx="1481328" cy="777240"/>
          </a:xfrm>
          <a:prstGeom prst="rect">
            <a:avLst/>
          </a:prstGeom>
          <a:noFill/>
          <a:ln/>
        </ns0:spPr>
        <ns0:txBody>
          <a:bodyPr wrap="square" lIns="0" tIns="0" rIns="0" bIns="0" rtlCol="0" anchor="ctr"/>
          <a:lstStyle/>
          <a:p>
            <a:pPr indent="0" marL="0">
              <a:buNone/>
            </a:pPr>
            <a:r>
              <a:rPr lang="en-US" sz="2100" b="1" dirty="0">
                <a:solidFill>
                  <a:srgbClr val="0E7C6B"/>
                </a:solidFill>
                <a:latin typeface="Segoe UI" pitchFamily="34" charset="0"/>
                <a:ea typeface="Segoe UI" pitchFamily="34" charset="-122"/>
                <a:cs typeface="Segoe UI" pitchFamily="34" charset="-120"/>
              </a:rPr>
              <a:t>48 tr./th.</a:t>
            </a:r>
            <a:endParaRPr lang="en-US" sz="2100" dirty="0"/>
          </a:p>
        </ns0:txBody>
      </ns0:sp>
      <ns0:sp>
        <ns0:nvSpPr>
          <ns0:cNvPr id="15" name="Text 12"/>
          <ns0:cNvSpPr/>
          <ns0:nvPr/>
        </ns0:nvSpPr>
        <ns0:spPr>
          <a:xfrm>
            <a:off x="9363456" y="3008376"/>
            <a:ext cx="2194560" cy="822960"/>
          </a:xfrm>
          <a:prstGeom prst="rect">
            <a:avLst/>
          </a:prstGeom>
          <a:noFill/>
          <a:ln/>
        </ns0:spPr>
        <ns0:txBody>
          <a:bodyPr wrap="square" lIns="0" tIns="0" rIns="0" bIns="0" rtlCol="0" anchor="ctr"/>
          <a:lstStyle/>
          <a:p>
            <a:pPr indent="0" marL="0">
              <a:lnSpc>
                <a:spcPct val="108000"/>
              </a:lnSpc>
              <a:buNone/>
            </a:pPr>
            <a:r>
              <a:rPr lang="en-US" sz="1050" dirty="0">
                <a:solidFill>
                  <a:srgbClr val="5C7370"/>
                </a:solidFill>
                <a:latin typeface="Segoe UI" pitchFamily="34" charset="0"/>
                <a:ea typeface="Segoe UI" pitchFamily="34" charset="-122"/>
                <a:cs typeface="Segoe UI" pitchFamily="34" charset="-120"/>
              </a:rPr>
              <a:t>chi phí cố định: thuê 12tr + lương 4 kỹ thuật viên 32tr + điện nước, vật tư, khấu hao</a:t>
            </a:r>
            <a:endParaRPr lang="en-US" sz="1050" dirty="0"/>
          </a:p>
        </ns0:txBody>
      </ns0:sp>
      <ns0:sp>
        <ns0:nvSpPr>
          <ns0:cNvPr id="16" name="Shape 13"/>
          <ns0:cNvSpPr/>
          <ns0:nvPr/>
        </ns0:nvSpPr>
        <ns0:spPr>
          <a:xfrm>
            <a:off x="7589520" y="4050792"/>
            <a:ext cx="4096512" cy="987552"/>
          </a:xfrm>
          <a:prstGeom prst="roundRect">
            <a:avLst>
              <a:gd name="adj" fmla="val 7407"/>
            </a:avLst>
          </a:prstGeom>
          <a:solidFill>
            <a:srgbClr val="E8F5F1"/>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7" name="Text 14"/>
          <ns0:cNvSpPr/>
          <ns0:nvPr/>
        </ns0:nvSpPr>
        <ns0:spPr>
          <a:xfrm>
            <a:off x="7845552" y="4160520"/>
            <a:ext cx="1481328" cy="777240"/>
          </a:xfrm>
          <a:prstGeom prst="rect">
            <a:avLst/>
          </a:prstGeom>
          <a:noFill/>
          <a:ln/>
        </ns0:spPr>
        <ns0:txBody>
          <a:bodyPr wrap="square" lIns="0" tIns="0" rIns="0" bIns="0" rtlCol="0" anchor="ctr"/>
          <a:lstStyle/>
          <a:p>
            <a:pPr indent="0" marL="0">
              <a:buNone/>
            </a:pPr>
            <a:r>
              <a:rPr lang="en-US" sz="2100" b="1" dirty="0">
                <a:solidFill>
                  <a:srgbClr val="0E7C6B"/>
                </a:solidFill>
                <a:latin typeface="Segoe UI" pitchFamily="34" charset="0"/>
                <a:ea typeface="Segoe UI" pitchFamily="34" charset="-122"/>
                <a:cs typeface="Segoe UI" pitchFamily="34" charset="-120"/>
              </a:rPr>
              <a:t>88 tr./th.</a:t>
            </a:r>
            <a:endParaRPr lang="en-US" sz="2100" dirty="0"/>
          </a:p>
        </ns0:txBody>
      </ns0:sp>
      <ns0:sp>
        <ns0:nvSpPr>
          <ns0:cNvPr id="18" name="Text 15"/>
          <ns0:cNvSpPr/>
          <ns0:nvPr/>
        </ns0:nvSpPr>
        <ns0:spPr>
          <a:xfrm>
            <a:off x="9363456" y="4142232"/>
            <a:ext cx="2194560" cy="822960"/>
          </a:xfrm>
          <a:prstGeom prst="rect">
            <a:avLst/>
          </a:prstGeom>
          <a:noFill/>
          <a:ln/>
        </ns0:spPr>
        <ns0:txBody>
          <a:bodyPr wrap="square" lIns="0" tIns="0" rIns="0" bIns="0" rtlCol="0" anchor="ctr"/>
          <a:lstStyle/>
          <a:p>
            <a:pPr indent="0" marL="0">
              <a:lnSpc>
                <a:spcPct val="108000"/>
              </a:lnSpc>
              <a:buNone/>
            </a:pPr>
            <a:r>
              <a:rPr lang="en-US" sz="1050" dirty="0">
                <a:solidFill>
                  <a:srgbClr val="5C7370"/>
                </a:solidFill>
                <a:latin typeface="Segoe UI" pitchFamily="34" charset="0"/>
                <a:ea typeface="Segoe UI" pitchFamily="34" charset="-122"/>
                <a:cs typeface="Segoe UI" pitchFamily="34" charset="-120"/>
              </a:rPr>
              <a:t>doanh thu tháng 12 — tương đương ~350 khách/tháng</a:t>
            </a:r>
            <a:endParaRPr lang="en-US" sz="1050" dirty="0"/>
          </a:p>
        </ns0:txBody>
      </ns0:sp>
      <ns0:sp>
        <ns0:nvSpPr>
          <ns0:cNvPr id="19" name="Shape 16"/>
          <ns0:cNvSpPr/>
          <ns0:nvPr/>
        </ns0:nvSpPr>
        <ns0:spPr>
          <a:xfrm>
            <a:off x="7589520" y="5184648"/>
            <a:ext cx="4096512" cy="987552"/>
          </a:xfrm>
          <a:prstGeom prst="roundRect">
            <a:avLst>
              <a:gd name="adj" fmla="val 7407"/>
            </a:avLst>
          </a:prstGeom>
          <a:solidFill>
            <a:srgbClr val="FDEBDD"/>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20" name="Text 17"/>
          <ns0:cNvSpPr/>
          <ns0:nvPr/>
        </ns0:nvSpPr>
        <ns0:spPr>
          <a:xfrm>
            <a:off x="7845552" y="5294376"/>
            <a:ext cx="1481328" cy="777240"/>
          </a:xfrm>
          <a:prstGeom prst="rect">
            <a:avLst/>
          </a:prstGeom>
          <a:noFill/>
          <a:ln/>
        </ns0:spPr>
        <ns0:txBody>
          <a:bodyPr wrap="square" lIns="0" tIns="0" rIns="0" bIns="0" rtlCol="0" anchor="ctr"/>
          <a:lstStyle/>
          <a:p>
            <a:pPr indent="0" marL="0">
              <a:buNone/>
            </a:pPr>
            <a:r>
              <a:rPr lang="en-US" sz="2100" b="1" dirty="0">
                <a:solidFill>
                  <a:srgbClr val="E8590C"/>
                </a:solidFill>
                <a:latin typeface="Segoe UI" pitchFamily="34" charset="0"/>
                <a:ea typeface="Segoe UI" pitchFamily="34" charset="-122"/>
                <a:cs typeface="Segoe UI" pitchFamily="34" charset="-120"/>
              </a:rPr>
              <a:t>≥ 55%</a:t>
            </a:r>
            <a:endParaRPr lang="en-US" sz="2100" dirty="0"/>
          </a:p>
        </ns0:txBody>
      </ns0:sp>
      <ns0:sp>
        <ns0:nvSpPr>
          <ns0:cNvPr id="21" name="Text 18"/>
          <ns0:cNvSpPr/>
          <ns0:nvPr/>
        </ns0:nvSpPr>
        <ns0:spPr>
          <a:xfrm>
            <a:off x="9363456" y="5276088"/>
            <a:ext cx="2194560" cy="822960"/>
          </a:xfrm>
          <a:prstGeom prst="rect">
            <a:avLst/>
          </a:prstGeom>
          <a:noFill/>
          <a:ln/>
        </ns0:spPr>
        <ns0:txBody>
          <a:bodyPr wrap="square" lIns="0" tIns="0" rIns="0" bIns="0" rtlCol="0" anchor="ctr"/>
          <a:lstStyle/>
          <a:p>
            <a:pPr indent="0" marL="0">
              <a:lnSpc>
                <a:spcPct val="108000"/>
              </a:lnSpc>
              <a:buNone/>
            </a:pPr>
            <a:r>
              <a:rPr lang="en-US" sz="1050" dirty="0">
                <a:solidFill>
                  <a:srgbClr val="5C7370"/>
                </a:solidFill>
                <a:latin typeface="Segoe UI" pitchFamily="34" charset="0"/>
                <a:ea typeface="Segoe UI" pitchFamily="34" charset="-122"/>
                <a:cs typeface="Segoe UI" pitchFamily="34" charset="-120"/>
              </a:rPr>
              <a:t>tỷ lệ khách quay lại để hoàn vốn đúng hạn — đo từ tháng đầu tiên</a:t>
            </a:r>
            <a:endParaRPr lang="en-US" sz="1050" dirty="0"/>
          </a:p>
        </ns0:txBody>
      </ns0:sp>
      <ns0:sp>
        <ns0:nvSpPr>
          <ns0:cNvPr id="22" name="Text 19"/>
          <ns0:cNvSpPr/>
          <ns0:nvPr/>
        </ns0:nvSpPr>
        <ns0:spPr>
          <a:xfrm>
            <a:off x="795528" y="5669280"/>
            <a:ext cx="603504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T4: 44 &lt; 48 &lt; T5: 50  →  </a:t>
            </a:r>
            <a:r>
              <a:rPr lang="en-US" sz="1050" b="1" i="1" dirty="0">
                <a:solidFill>
                  <a:srgbClr val="E8590C"/>
                </a:solidFill>
                <a:latin typeface="Segoe UI" pitchFamily="34" charset="0"/>
                <a:ea typeface="Segoe UI" pitchFamily="34" charset="-122"/>
                <a:cs typeface="Segoe UI" pitchFamily="34" charset="-120"/>
              </a:rPr>
              <a:t>hòa vốn ngay tháng thứ 5</a:t>
            </a:r>
            <a:endParaRPr lang="en-US" sz="1050" dirty="0"/>
          </a:p>
        </ns0:txBody>
      </ns0:sp>
      <ns0:sp>
        <ns0:nvSpPr>
          <ns0:cNvPr id="23" name="Text 20"/>
          <ns0:cNvSpPr/>
          <ns0:nvPr/>
        </ns0:nvSpPr>
        <ns0:spPr>
          <a:xfrm>
            <a:off x="502920" y="6163056"/>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Phép tính: lỗ lũy kế T1–T4 = 26 + 18 + 10 + 4 = 58 triệu → dự trù vốn lưu động 70 triệu; lãi ròng lũy kế T5–T12 = 174 triệu ≥ 165 triệu → hoàn vốn đủ trong ~12 tháng (thận trọng 55%: 12–14 tháng).</a:t>
            </a:r>
            <a:endParaRPr lang="en-US" sz="1050" dirty="0"/>
          </a:p>
        </ns0:txBody>
      </ns0:sp>
      <ns0:sp>
        <ns0:nvSpPr>
          <ns0:cNvPr id="24" name="Text 21"/>
          <ns0:cNvSpPr/>
          <ns0:nvPr/>
        </ns0:nvSpPr>
        <ns0:spPr>
          <a:xfrm>
            <a:off x="502920" y="647395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Giả định minh họa của nhóm: 1 cơ sở 2 giường trị liệu; 4 kỹ thuật viên (lương cứng ~8 tr. + phụ cấp ca tại nhà), nhóm sáng lập trực tiếp điều phối; giá theo bảng giá đề xuất (slide 6).</a:t>
            </a:r>
            <a:endParaRPr lang="en-US" sz="1050" dirty="0"/>
          </a:p>
        </ns0:txBody>
      </ns0:sp>
      <ns0:sp>
        <ns0:nvSpPr>
          <ns0:cNvPr id="26" name="Text 22"/>
          <ns0:cNvSpPr/>
          <ns0:nvPr/>
        </ns0:nvSpPr>
        <ns0:spPr>
          <a:xfrm>
            <a:off x="1188720" y="3465576"/>
            <a:ext cx="1143000" cy="182880"/>
          </a:xfrm>
          <a:prstGeom prst="rect">
            <a:avLst/>
          </a:prstGeom>
          <a:noFill/>
          <a:ln/>
        </ns0:spPr>
        <ns0:txBody>
          <a:bodyPr wrap="square" lIns="0" tIns="0" rIns="0" bIns="0" rtlCol="0" anchor="ctr"/>
          <a:lstStyle/>
          <a:p>
            <a:pPr indent="0" marL="0">
              <a:buNone/>
            </a:pPr>
            <a:r>
              <a:rPr lang="en-US" sz="1000" dirty="0">
                <a:solidFill>
                  <a:srgbClr val="16302B"/>
                </a:solidFill>
                <a:latin typeface="Segoe UI" pitchFamily="34" charset="0"/>
                <a:ea typeface="Segoe UI" pitchFamily="34" charset="-122"/>
                <a:cs typeface="Segoe UI" pitchFamily="34" charset="-120"/>
              </a:rPr>
              <a:t>48 tr./tháng</a:t>
            </a:r>
            <a:endParaRPr lang="en-US" sz="100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76"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26"/>
                                        </ns0:tgtEl>
                                        <ns0:attrNameLst>
                                          <ns0:attrName>style.visibility</ns0:attrName>
                                        </ns0:attrNameLst>
                                      </ns0:cBhvr>
                                      <ns0:to>
                                        <ns0:strVal val="visible"/>
                                      </ns0:to>
                                    </ns0:set>
                                    <ns0:animEffect transition="in" filter="fade">
                                      <ns0:cBhvr>
                                        <ns0:cTn id="18" dur="500"/>
                                        <ns0:tgtEl>
                                          <ns0:spTgt spid="26"/>
                                        </ns0:tgtEl>
                                      </ns0:cBhvr>
                                    </ns0:animEffect>
                                    <ns0:anim calcmode="lin" valueType="num">
                                      <ns0:cBhvr additive="base">
                                        <ns0:cTn id="19" dur="500" fill="hold"/>
                                        <ns0:tgtEl>
                                          <ns0:spTgt spid="2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0" fill="hold">
                      <ns0:stCondLst>
                        <ns0:cond delay="indefinite"/>
                      </ns0:stCondLst>
                      <ns0:childTnLst>
                        <ns0:par>
                          <ns0:cTn id="21" fill="hold">
                            <ns0:stCondLst>
                              <ns0:cond delay="0"/>
                            </ns0:stCondLst>
                            <ns0:childTnLst>
                              <ns0:par>
                                <ns0:cTn id="22" presetID="42" presetClass="entr" presetSubtype="0" fill="hold" grpId="0" nodeType="clickEffect">
                                  <ns0:stCondLst>
                                    <ns0:cond delay="0"/>
                                  </ns0:stCondLst>
                                  <ns0:childTnLst>
                                    <ns0:set>
                                      <ns0:cBhvr>
                                        <ns0:cTn id="23" dur="1" fill="hold">
                                          <ns0:stCondLst>
                                            <ns0:cond delay="0"/>
                                          </ns0:stCondLst>
                                        </ns0:cTn>
                                        <ns0:tgtEl>
                                          <ns0:spTgt spid="22"/>
                                        </ns0:tgtEl>
                                        <ns0:attrNameLst>
                                          <ns0:attrName>style.visibility</ns0:attrName>
                                        </ns0:attrNameLst>
                                      </ns0:cBhvr>
                                      <ns0:to>
                                        <ns0:strVal val="visible"/>
                                      </ns0:to>
                                    </ns0:set>
                                    <ns0:animEffect transition="in" filter="fade">
                                      <ns0:cBhvr>
                                        <ns0:cTn id="24" dur="500"/>
                                        <ns0:tgtEl>
                                          <ns0:spTgt spid="22"/>
                                        </ns0:tgtEl>
                                      </ns0:cBhvr>
                                    </ns0:animEffect>
                                    <ns0:anim calcmode="lin" valueType="num">
                                      <ns0:cBhvr additive="base">
                                        <ns0:cTn id="25"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6" fill="hold">
                      <ns0:stCondLst>
                        <ns0:cond delay="indefinite"/>
                      </ns0:stCondLst>
                      <ns0:childTnLst>
                        <ns0:par>
                          <ns0:cTn id="27" fill="hold">
                            <ns0:stCondLst>
                              <ns0:cond delay="0"/>
                            </ns0:stCondLst>
                            <ns0:childTnLst>
                              <ns0:par>
                                <ns0:cTn id="28" presetID="42" presetClass="entr" presetSubtype="0" fill="hold" grpId="0" nodeType="clickEffect">
                                  <ns0:stCondLst>
                                    <ns0:cond delay="0"/>
                                  </ns0:stCondLst>
                                  <ns0:childTnLst>
                                    <ns0:set>
                                      <ns0:cBhvr>
                                        <ns0:cTn id="29" dur="1" fill="hold">
                                          <ns0:stCondLst>
                                            <ns0:cond delay="0"/>
                                          </ns0:stCondLst>
                                        </ns0:cTn>
                                        <ns0:tgtEl>
                                          <ns0:spTgt spid="10"/>
                                        </ns0:tgtEl>
                                        <ns0:attrNameLst>
                                          <ns0:attrName>style.visibility</ns0:attrName>
                                        </ns0:attrNameLst>
                                      </ns0:cBhvr>
                                      <ns0:to>
                                        <ns0:strVal val="visible"/>
                                      </ns0:to>
                                    </ns0:set>
                                    <ns0:animEffect transition="in" filter="fade">
                                      <ns0:cBhvr>
                                        <ns0:cTn id="30" dur="500"/>
                                        <ns0:tgtEl>
                                          <ns0:spTgt spid="10"/>
                                        </ns0:tgtEl>
                                      </ns0:cBhvr>
                                    </ns0:animEffect>
                                    <ns0:anim calcmode="lin" valueType="num">
                                      <ns0:cBhvr additive="base">
                                        <ns0:cTn id="31"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32" presetID="42" presetClass="entr" presetSubtype="0" fill="hold" grpId="0" nodeType="withEffect">
                                  <ns0:stCondLst>
                                    <ns0:cond delay="80"/>
                                  </ns0:stCondLst>
                                  <ns0:childTnLst>
                                    <ns0:set>
                                      <ns0:cBhvr>
                                        <ns0:cTn id="33" dur="1" fill="hold">
                                          <ns0:stCondLst>
                                            <ns0:cond delay="0"/>
                                          </ns0:stCondLst>
                                        </ns0:cTn>
                                        <ns0:tgtEl>
                                          <ns0:spTgt spid="11"/>
                                        </ns0:tgtEl>
                                        <ns0:attrNameLst>
                                          <ns0:attrName>style.visibility</ns0:attrName>
                                        </ns0:attrNameLst>
                                      </ns0:cBhvr>
                                      <ns0:to>
                                        <ns0:strVal val="visible"/>
                                      </ns0:to>
                                    </ns0:set>
                                    <ns0:animEffect transition="in" filter="fade">
                                      <ns0:cBhvr>
                                        <ns0:cTn id="34" dur="500"/>
                                        <ns0:tgtEl>
                                          <ns0:spTgt spid="11"/>
                                        </ns0:tgtEl>
                                      </ns0:cBhvr>
                                    </ns0:animEffect>
                                    <ns0:anim calcmode="lin" valueType="num">
                                      <ns0:cBhvr additive="base">
                                        <ns0:cTn id="35"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36" presetID="42" presetClass="entr" presetSubtype="0" fill="hold" grpId="0" nodeType="withEffect">
                                  <ns0:stCondLst>
                                    <ns0:cond delay="160"/>
                                  </ns0:stCondLst>
                                  <ns0:childTnLst>
                                    <ns0:set>
                                      <ns0:cBhvr>
                                        <ns0:cTn id="37" dur="1" fill="hold">
                                          <ns0:stCondLst>
                                            <ns0:cond delay="0"/>
                                          </ns0:stCondLst>
                                        </ns0:cTn>
                                        <ns0:tgtEl>
                                          <ns0:spTgt spid="12"/>
                                        </ns0:tgtEl>
                                        <ns0:attrNameLst>
                                          <ns0:attrName>style.visibility</ns0:attrName>
                                        </ns0:attrNameLst>
                                      </ns0:cBhvr>
                                      <ns0:to>
                                        <ns0:strVal val="visible"/>
                                      </ns0:to>
                                    </ns0:set>
                                    <ns0:animEffect transition="in" filter="fade">
                                      <ns0:cBhvr>
                                        <ns0:cTn id="38" dur="500"/>
                                        <ns0:tgtEl>
                                          <ns0:spTgt spid="12"/>
                                        </ns0:tgtEl>
                                      </ns0:cBhvr>
                                    </ns0:animEffect>
                                    <ns0:anim calcmode="lin" valueType="num">
                                      <ns0:cBhvr additive="base">
                                        <ns0:cTn id="3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40" presetID="42" presetClass="entr" presetSubtype="0" fill="hold" grpId="0" nodeType="withEffect">
                                  <ns0:stCondLst>
                                    <ns0:cond delay="240"/>
                                  </ns0:stCondLst>
                                  <ns0:childTnLst>
                                    <ns0:set>
                                      <ns0:cBhvr>
                                        <ns0:cTn id="41" dur="1" fill="hold">
                                          <ns0:stCondLst>
                                            <ns0:cond delay="0"/>
                                          </ns0:stCondLst>
                                        </ns0:cTn>
                                        <ns0:tgtEl>
                                          <ns0:spTgt spid="13"/>
                                        </ns0:tgtEl>
                                        <ns0:attrNameLst>
                                          <ns0:attrName>style.visibility</ns0:attrName>
                                        </ns0:attrNameLst>
                                      </ns0:cBhvr>
                                      <ns0:to>
                                        <ns0:strVal val="visible"/>
                                      </ns0:to>
                                    </ns0:set>
                                    <ns0:animEffect transition="in" filter="fade">
                                      <ns0:cBhvr>
                                        <ns0:cTn id="42" dur="500"/>
                                        <ns0:tgtEl>
                                          <ns0:spTgt spid="13"/>
                                        </ns0:tgtEl>
                                      </ns0:cBhvr>
                                    </ns0:animEffect>
                                    <ns0:anim calcmode="lin" valueType="num">
                                      <ns0:cBhvr additive="base">
                                        <ns0:cTn id="4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44" presetID="42" presetClass="entr" presetSubtype="0" fill="hold" grpId="0" nodeType="withEffect">
                                  <ns0:stCondLst>
                                    <ns0:cond delay="320"/>
                                  </ns0:stCondLst>
                                  <ns0:childTnLst>
                                    <ns0:set>
                                      <ns0:cBhvr>
                                        <ns0:cTn id="45" dur="1" fill="hold">
                                          <ns0:stCondLst>
                                            <ns0:cond delay="0"/>
                                          </ns0:stCondLst>
                                        </ns0:cTn>
                                        <ns0:tgtEl>
                                          <ns0:spTgt spid="14"/>
                                        </ns0:tgtEl>
                                        <ns0:attrNameLst>
                                          <ns0:attrName>style.visibility</ns0:attrName>
                                        </ns0:attrNameLst>
                                      </ns0:cBhvr>
                                      <ns0:to>
                                        <ns0:strVal val="visible"/>
                                      </ns0:to>
                                    </ns0:set>
                                    <ns0:animEffect transition="in" filter="fade">
                                      <ns0:cBhvr>
                                        <ns0:cTn id="46" dur="500"/>
                                        <ns0:tgtEl>
                                          <ns0:spTgt spid="14"/>
                                        </ns0:tgtEl>
                                      </ns0:cBhvr>
                                    </ns0:animEffect>
                                    <ns0:anim calcmode="lin" valueType="num">
                                      <ns0:cBhvr additive="base">
                                        <ns0:cTn id="4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48" presetID="42" presetClass="entr" presetSubtype="0" fill="hold" grpId="0" nodeType="withEffect">
                                  <ns0:stCondLst>
                                    <ns0:cond delay="400"/>
                                  </ns0:stCondLst>
                                  <ns0:childTnLst>
                                    <ns0:set>
                                      <ns0:cBhvr>
                                        <ns0:cTn id="49" dur="1" fill="hold">
                                          <ns0:stCondLst>
                                            <ns0:cond delay="0"/>
                                          </ns0:stCondLst>
                                        </ns0:cTn>
                                        <ns0:tgtEl>
                                          <ns0:spTgt spid="15"/>
                                        </ns0:tgtEl>
                                        <ns0:attrNameLst>
                                          <ns0:attrName>style.visibility</ns0:attrName>
                                        </ns0:attrNameLst>
                                      </ns0:cBhvr>
                                      <ns0:to>
                                        <ns0:strVal val="visible"/>
                                      </ns0:to>
                                    </ns0:set>
                                    <ns0:animEffect transition="in" filter="fade">
                                      <ns0:cBhvr>
                                        <ns0:cTn id="50" dur="500"/>
                                        <ns0:tgtEl>
                                          <ns0:spTgt spid="15"/>
                                        </ns0:tgtEl>
                                      </ns0:cBhvr>
                                    </ns0:animEffect>
                                    <ns0:anim calcmode="lin" valueType="num">
                                      <ns0:cBhvr additive="base">
                                        <ns0:cTn id="5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52" presetID="42" presetClass="entr" presetSubtype="0" fill="hold" grpId="0" nodeType="withEffect">
                                  <ns0:stCondLst>
                                    <ns0:cond delay="480"/>
                                  </ns0:stCondLst>
                                  <ns0:childTnLst>
                                    <ns0:set>
                                      <ns0:cBhvr>
                                        <ns0:cTn id="53" dur="1" fill="hold">
                                          <ns0:stCondLst>
                                            <ns0:cond delay="0"/>
                                          </ns0:stCondLst>
                                        </ns0:cTn>
                                        <ns0:tgtEl>
                                          <ns0:spTgt spid="16"/>
                                        </ns0:tgtEl>
                                        <ns0:attrNameLst>
                                          <ns0:attrName>style.visibility</ns0:attrName>
                                        </ns0:attrNameLst>
                                      </ns0:cBhvr>
                                      <ns0:to>
                                        <ns0:strVal val="visible"/>
                                      </ns0:to>
                                    </ns0:set>
                                    <ns0:animEffect transition="in" filter="fade">
                                      <ns0:cBhvr>
                                        <ns0:cTn id="54" dur="500"/>
                                        <ns0:tgtEl>
                                          <ns0:spTgt spid="16"/>
                                        </ns0:tgtEl>
                                      </ns0:cBhvr>
                                    </ns0:animEffect>
                                    <ns0:anim calcmode="lin" valueType="num">
                                      <ns0:cBhvr additive="base">
                                        <ns0:cTn id="5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560"/>
                                  </ns0:stCondLst>
                                  <ns0:childTnLst>
                                    <ns0:set>
                                      <ns0:cBhvr>
                                        <ns0:cTn id="57" dur="1" fill="hold">
                                          <ns0:stCondLst>
                                            <ns0:cond delay="0"/>
                                          </ns0:stCondLst>
                                        </ns0:cTn>
                                        <ns0:tgtEl>
                                          <ns0:spTgt spid="17"/>
                                        </ns0:tgtEl>
                                        <ns0:attrNameLst>
                                          <ns0:attrName>style.visibility</ns0:attrName>
                                        </ns0:attrNameLst>
                                      </ns0:cBhvr>
                                      <ns0:to>
                                        <ns0:strVal val="visible"/>
                                      </ns0:to>
                                    </ns0:set>
                                    <ns0:animEffect transition="in" filter="fade">
                                      <ns0:cBhvr>
                                        <ns0:cTn id="58" dur="500"/>
                                        <ns0:tgtEl>
                                          <ns0:spTgt spid="17"/>
                                        </ns0:tgtEl>
                                      </ns0:cBhvr>
                                    </ns0:animEffect>
                                    <ns0:anim calcmode="lin" valueType="num">
                                      <ns0:cBhvr additive="base">
                                        <ns0:cTn id="59"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640"/>
                                  </ns0:stCondLst>
                                  <ns0:childTnLst>
                                    <ns0:set>
                                      <ns0:cBhvr>
                                        <ns0:cTn id="61" dur="1" fill="hold">
                                          <ns0:stCondLst>
                                            <ns0:cond delay="0"/>
                                          </ns0:stCondLst>
                                        </ns0:cTn>
                                        <ns0:tgtEl>
                                          <ns0:spTgt spid="18"/>
                                        </ns0:tgtEl>
                                        <ns0:attrNameLst>
                                          <ns0:attrName>style.visibility</ns0:attrName>
                                        </ns0:attrNameLst>
                                      </ns0:cBhvr>
                                      <ns0:to>
                                        <ns0:strVal val="visible"/>
                                      </ns0:to>
                                    </ns0:set>
                                    <ns0:animEffect transition="in" filter="fade">
                                      <ns0:cBhvr>
                                        <ns0:cTn id="62" dur="500"/>
                                        <ns0:tgtEl>
                                          <ns0:spTgt spid="18"/>
                                        </ns0:tgtEl>
                                      </ns0:cBhvr>
                                    </ns0:animEffect>
                                    <ns0:anim calcmode="lin" valueType="num">
                                      <ns0:cBhvr additive="base">
                                        <ns0:cTn id="63"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64" presetID="42" presetClass="entr" presetSubtype="0" fill="hold" grpId="0" nodeType="withEffect">
                                  <ns0:stCondLst>
                                    <ns0:cond delay="720"/>
                                  </ns0:stCondLst>
                                  <ns0:childTnLst>
                                    <ns0:set>
                                      <ns0:cBhvr>
                                        <ns0:cTn id="65" dur="1" fill="hold">
                                          <ns0:stCondLst>
                                            <ns0:cond delay="0"/>
                                          </ns0:stCondLst>
                                        </ns0:cTn>
                                        <ns0:tgtEl>
                                          <ns0:spTgt spid="19"/>
                                        </ns0:tgtEl>
                                        <ns0:attrNameLst>
                                          <ns0:attrName>style.visibility</ns0:attrName>
                                        </ns0:attrNameLst>
                                      </ns0:cBhvr>
                                      <ns0:to>
                                        <ns0:strVal val="visible"/>
                                      </ns0:to>
                                    </ns0:set>
                                    <ns0:animEffect transition="in" filter="fade">
                                      <ns0:cBhvr>
                                        <ns0:cTn id="66" dur="500"/>
                                        <ns0:tgtEl>
                                          <ns0:spTgt spid="19"/>
                                        </ns0:tgtEl>
                                      </ns0:cBhvr>
                                    </ns0:animEffect>
                                    <ns0:anim calcmode="lin" valueType="num">
                                      <ns0:cBhvr additive="base">
                                        <ns0:cTn id="67"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8" presetID="42" presetClass="entr" presetSubtype="0" fill="hold" grpId="0" nodeType="withEffect">
                                  <ns0:stCondLst>
                                    <ns0:cond delay="800"/>
                                  </ns0:stCondLst>
                                  <ns0:childTnLst>
                                    <ns0:set>
                                      <ns0:cBhvr>
                                        <ns0:cTn id="69" dur="1" fill="hold">
                                          <ns0:stCondLst>
                                            <ns0:cond delay="0"/>
                                          </ns0:stCondLst>
                                        </ns0:cTn>
                                        <ns0:tgtEl>
                                          <ns0:spTgt spid="20"/>
                                        </ns0:tgtEl>
                                        <ns0:attrNameLst>
                                          <ns0:attrName>style.visibility</ns0:attrName>
                                        </ns0:attrNameLst>
                                      </ns0:cBhvr>
                                      <ns0:to>
                                        <ns0:strVal val="visible"/>
                                      </ns0:to>
                                    </ns0:set>
                                    <ns0:animEffect transition="in" filter="fade">
                                      <ns0:cBhvr>
                                        <ns0:cTn id="70" dur="500"/>
                                        <ns0:tgtEl>
                                          <ns0:spTgt spid="20"/>
                                        </ns0:tgtEl>
                                      </ns0:cBhvr>
                                    </ns0:animEffect>
                                    <ns0:anim calcmode="lin" valueType="num">
                                      <ns0:cBhvr additive="base">
                                        <ns0:cTn id="71"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72" presetID="42" presetClass="entr" presetSubtype="0" fill="hold" grpId="0" nodeType="withEffect">
                                  <ns0:stCondLst>
                                    <ns0:cond delay="880"/>
                                  </ns0:stCondLst>
                                  <ns0:childTnLst>
                                    <ns0:set>
                                      <ns0:cBhvr>
                                        <ns0:cTn id="73" dur="1" fill="hold">
                                          <ns0:stCondLst>
                                            <ns0:cond delay="0"/>
                                          </ns0:stCondLst>
                                        </ns0:cTn>
                                        <ns0:tgtEl>
                                          <ns0:spTgt spid="21"/>
                                        </ns0:tgtEl>
                                        <ns0:attrNameLst>
                                          <ns0:attrName>style.visibility</ns0:attrName>
                                        </ns0:attrNameLst>
                                      </ns0:cBhvr>
                                      <ns0:to>
                                        <ns0:strVal val="visible"/>
                                      </ns0:to>
                                    </ns0:set>
                                    <ns0:animEffect transition="in" filter="fade">
                                      <ns0:cBhvr>
                                        <ns0:cTn id="74" dur="500"/>
                                        <ns0:tgtEl>
                                          <ns0:spTgt spid="21"/>
                                        </ns0:tgtEl>
                                      </ns0:cBhvr>
                                    </ns0:animEffect>
                                    <ns0:anim calcmode="lin" valueType="num">
                                      <ns0:cBhvr additive="base">
                                        <ns0:cTn id="75"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Graphic spid="9" grpId="0">
        <ns0:bldAsOne/>
      </ns0:bldGraphic>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6" grpId="0"/>
    </ns0:bldLst>
  </ns0:timing>
</ns0:sld>
</file>

<file path=ppt/slides/slide11.xml><?xml version="1.0" encoding="utf-8"?>
<ns0:sld xmlns:a="http://schemas.openxmlformats.org/drawingml/2006/main" xmlns:ns0="http://schemas.openxmlformats.org/presentationml/2006/main">
  <ns0:cSld name="Slide 11">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LỘ TRÌNH TRIỂN KHAI</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Từ một cơ sở kiểm chứng đến chuỗi CareTouch</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11</a:t>
            </a:r>
            <a:endParaRPr lang="en-US" sz="1050" dirty="0"/>
          </a:p>
        </ns0:txBody>
      </ns0:sp>
      <ns0:sp>
        <ns0:nvSpPr>
          <ns0:cNvPr id="7" name="Shape 5"/>
          <ns0:cNvSpPr/>
          <ns0:nvPr/>
        </ns0:nvSpPr>
        <ns0:spPr>
          <a:xfrm>
            <a:off x="868680" y="2395728"/>
            <a:ext cx="10241280" cy="0"/>
          </a:xfrm>
          <a:prstGeom prst="line">
            <a:avLst/>
          </a:prstGeom>
          <a:noFill/>
          <a:ln w="25400">
            <a:solidFill>
              <a:srgbClr val="DCEBE6"/>
            </a:solidFill>
            <a:prstDash val="solid"/>
          </a:ln>
        </ns0:spPr>
      </ns0:sp>
      <ns0:sp>
        <ns0:nvSpPr>
          <ns0:cNvPr id="8" name="Shape 6"/>
          <ns0:cNvSpPr/>
          <ns0:nvPr/>
        </ns0:nvSpPr>
        <ns0:spPr>
          <a:xfrm>
            <a:off x="868680" y="2139696"/>
            <a:ext cx="512064" cy="512064"/>
          </a:xfrm>
          <a:prstGeom prst="ellipse">
            <a:avLst/>
          </a:prstGeom>
          <a:solidFill>
            <a:srgbClr val="0E7C6B"/>
          </a:solidFill>
          <a:ln w="31750">
            <a:solidFill>
              <a:srgbClr val="FFFFFF"/>
            </a:solidFill>
            <a:prstDash val="solid"/>
          </a:ln>
          <a:effectLst>
            <a:outerShdw sx="100000" sy="100000" kx="0" ky="0" algn="bl" rotWithShape="0" blurRad="63500" dist="12700" dir="5400000">
              <a:srgbClr val="0B3B34">
                <a:alpha val="9000"/>
              </a:srgbClr>
            </a:outerShdw>
          </a:effectLst>
        </ns0:spPr>
      </ns0:sp>
      <ns0:sp>
        <ns0:nvSpPr>
          <ns0:cNvPr id="9" name="Text 7"/>
          <ns0:cNvSpPr/>
          <ns0:nvPr/>
        </ns0:nvSpPr>
        <ns0:spPr>
          <a:xfrm>
            <a:off x="868680" y="2139696"/>
            <a:ext cx="512064" cy="512064"/>
          </a:xfrm>
          <a:prstGeom prst="rect">
            <a:avLst/>
          </a:prstGeom>
          <a:noFill/>
          <a:ln/>
        </ns0:spPr>
        <ns0: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ns0:txBody>
      </ns0:sp>
      <ns0:sp>
        <ns0:nvSpPr>
          <ns0:cNvPr id="10" name="Text 8"/>
          <ns0:cNvSpPr/>
          <ns0:nvPr/>
        </ns0:nvSpPr>
        <ns0:spPr>
          <a:xfrm>
            <a:off x="502920" y="2834640"/>
            <a:ext cx="2606040" cy="274320"/>
          </a:xfrm>
          <a:prstGeom prst="rect">
            <a:avLst/>
          </a:prstGeom>
          <a:noFill/>
          <a:ln/>
        </ns0:spPr>
        <ns0:txBody>
          <a:bodyPr wrap="square" lIns="0" tIns="0" rIns="0" bIns="0" rtlCol="0" anchor="ctr"/>
          <a:lstStyle/>
          <a:p>
            <a:pPr indent="0" marL="0">
              <a:buNone/>
            </a:pPr>
            <a:r>
              <a:rPr lang="en-US" sz="1100" b="1" dirty="0">
                <a:solidFill>
                  <a:srgbClr val="2AA88F"/>
                </a:solidFill>
                <a:latin typeface="Segoe UI" pitchFamily="34" charset="0"/>
                <a:ea typeface="Segoe UI" pitchFamily="34" charset="-122"/>
                <a:cs typeface="Segoe UI" pitchFamily="34" charset="-120"/>
              </a:rPr>
              <a:t>GĐ 1 · Tháng 1–6</a:t>
            </a:r>
            <a:endParaRPr lang="en-US" sz="1100" dirty="0"/>
          </a:p>
        </ns0:txBody>
      </ns0:sp>
      <ns0:sp>
        <ns0:nvSpPr>
          <ns0:cNvPr id="11" name="Text 9"/>
          <ns0:cNvSpPr/>
          <ns0:nvPr/>
        </ns0:nvSpPr>
        <ns0:spPr>
          <a:xfrm>
            <a:off x="502920" y="3108960"/>
            <a:ext cx="2606040" cy="384048"/>
          </a:xfrm>
          <a:prstGeom prst="rect">
            <a:avLst/>
          </a:prstGeom>
          <a:noFill/>
          <a:ln/>
        </ns0:spPr>
        <ns0:txBody>
          <a:bodyPr wrap="square" lIns="0" tIns="0" rIns="0" bIns="0" rtlCol="0" anchor="ctr"/>
          <a:lstStyle/>
          <a:p>
            <a:pPr indent="0" marL="0">
              <a:buNone/>
            </a:pPr>
            <a:r>
              <a:rPr lang="en-US" sz="1800" b="1" dirty="0">
                <a:solidFill>
                  <a:srgbClr val="16302B"/>
                </a:solidFill>
                <a:latin typeface="Segoe UI" pitchFamily="34" charset="0"/>
                <a:ea typeface="Segoe UI" pitchFamily="34" charset="-122"/>
                <a:cs typeface="Segoe UI" pitchFamily="34" charset="-120"/>
              </a:rPr>
              <a:t>Kiểm chứng</a:t>
            </a:r>
            <a:endParaRPr lang="en-US" sz="1800" dirty="0"/>
          </a:p>
        </ns0:txBody>
      </ns0:sp>
      <ns0:sp>
        <ns0:nvSpPr>
          <ns0:cNvPr id="12" name="Text 10"/>
          <ns0:cNvSpPr/>
          <ns0:nvPr/>
        </ns0:nvSpPr>
        <ns0:spPr>
          <a:xfrm>
            <a:off x="502920" y="3566160"/>
            <a:ext cx="2560320" cy="1554480"/>
          </a:xfrm>
          <a:prstGeom prst="rect">
            <a:avLst/>
          </a:prstGeom>
          <a:noFill/>
          <a:ln/>
        </ns0:spPr>
        <ns0:txBody>
          <a:bodyPr wrap="square" lIns="0" tIns="0" rIns="0" bIns="0" rtlCol="0" anchor="ctr"/>
          <a:lstStyle/>
          <a:p>
            <a:pPr indent="0" marL="0">
              <a:lnSpc>
                <a:spcPct val="118000"/>
              </a:lnSpc>
              <a:buNone/>
            </a:pPr>
            <a:r>
              <a:rPr lang="en-US" sz="1150" dirty="0">
                <a:solidFill>
                  <a:srgbClr val="5C7370"/>
                </a:solidFill>
                <a:latin typeface="Segoe UI" pitchFamily="34" charset="0"/>
                <a:ea typeface="Segoe UI" pitchFamily="34" charset="-122"/>
                <a:cs typeface="Segoe UI" pitchFamily="34" charset="-120"/>
              </a:rPr>
              <a:t>Vận hành cơ sở đầu tiên; chuẩn hóa quy trình khảo sát thể trạng &amp; đào tạo; đo tỷ lệ khách quay lại từ tháng đầu.</a:t>
            </a:r>
            <a:endParaRPr lang="en-US" sz="1150" dirty="0"/>
          </a:p>
        </ns0:txBody>
      </ns0:sp>
      <ns0:sp>
        <ns0:nvSpPr>
          <ns0:cNvPr id="13" name="Shape 11"/>
          <ns0:cNvSpPr/>
          <ns0:nvPr/>
        </ns0:nvSpPr>
        <ns0:spPr>
          <a:xfrm>
            <a:off x="3685032" y="2139696"/>
            <a:ext cx="512064" cy="512064"/>
          </a:xfrm>
          <a:prstGeom prst="ellipse">
            <a:avLst/>
          </a:prstGeom>
          <a:solidFill>
            <a:srgbClr val="0E7C6B"/>
          </a:solidFill>
          <a:ln w="31750">
            <a:solidFill>
              <a:srgbClr val="FFFFFF"/>
            </a:solidFill>
            <a:prstDash val="solid"/>
          </a:ln>
          <a:effectLst>
            <a:outerShdw sx="100000" sy="100000" kx="0" ky="0" algn="bl" rotWithShape="0" blurRad="63500" dist="12700" dir="5400000">
              <a:srgbClr val="0B3B34">
                <a:alpha val="9000"/>
              </a:srgbClr>
            </a:outerShdw>
          </a:effectLst>
        </ns0:spPr>
      </ns0:sp>
      <ns0:sp>
        <ns0:nvSpPr>
          <ns0:cNvPr id="14" name="Text 12"/>
          <ns0:cNvSpPr/>
          <ns0:nvPr/>
        </ns0:nvSpPr>
        <ns0:spPr>
          <a:xfrm>
            <a:off x="3685032" y="2139696"/>
            <a:ext cx="512064" cy="512064"/>
          </a:xfrm>
          <a:prstGeom prst="rect">
            <a:avLst/>
          </a:prstGeom>
          <a:noFill/>
          <a:ln/>
        </ns0:spPr>
        <ns0: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ns0:txBody>
      </ns0:sp>
      <ns0:sp>
        <ns0:nvSpPr>
          <ns0:cNvPr id="15" name="Text 13"/>
          <ns0:cNvSpPr/>
          <ns0:nvPr/>
        </ns0:nvSpPr>
        <ns0:spPr>
          <a:xfrm>
            <a:off x="3319272" y="2834640"/>
            <a:ext cx="2606040" cy="274320"/>
          </a:xfrm>
          <a:prstGeom prst="rect">
            <a:avLst/>
          </a:prstGeom>
          <a:noFill/>
          <a:ln/>
        </ns0:spPr>
        <ns0:txBody>
          <a:bodyPr wrap="square" lIns="0" tIns="0" rIns="0" bIns="0" rtlCol="0" anchor="ctr"/>
          <a:lstStyle/>
          <a:p>
            <a:pPr indent="0" marL="0">
              <a:buNone/>
            </a:pPr>
            <a:r>
              <a:rPr lang="en-US" sz="1100" b="1" dirty="0">
                <a:solidFill>
                  <a:srgbClr val="2AA88F"/>
                </a:solidFill>
                <a:latin typeface="Segoe UI" pitchFamily="34" charset="0"/>
                <a:ea typeface="Segoe UI" pitchFamily="34" charset="-122"/>
                <a:cs typeface="Segoe UI" pitchFamily="34" charset="-120"/>
              </a:rPr>
              <a:t>GĐ 2 · Tháng 7–12</a:t>
            </a:r>
            <a:endParaRPr lang="en-US" sz="1100" dirty="0"/>
          </a:p>
        </ns0:txBody>
      </ns0:sp>
      <ns0:sp>
        <ns0:nvSpPr>
          <ns0:cNvPr id="16" name="Text 14"/>
          <ns0:cNvSpPr/>
          <ns0:nvPr/>
        </ns0:nvSpPr>
        <ns0:spPr>
          <a:xfrm>
            <a:off x="3319272" y="3108960"/>
            <a:ext cx="2606040" cy="384048"/>
          </a:xfrm>
          <a:prstGeom prst="rect">
            <a:avLst/>
          </a:prstGeom>
          <a:noFill/>
          <a:ln/>
        </ns0:spPr>
        <ns0:txBody>
          <a:bodyPr wrap="square" lIns="0" tIns="0" rIns="0" bIns="0" rtlCol="0" anchor="ctr"/>
          <a:lstStyle/>
          <a:p>
            <a:pPr indent="0" marL="0">
              <a:buNone/>
            </a:pPr>
            <a:r>
              <a:rPr lang="en-US" sz="1800" b="1" dirty="0">
                <a:solidFill>
                  <a:srgbClr val="16302B"/>
                </a:solidFill>
                <a:latin typeface="Segoe UI" pitchFamily="34" charset="0"/>
                <a:ea typeface="Segoe UI" pitchFamily="34" charset="-122"/>
                <a:cs typeface="Segoe UI" pitchFamily="34" charset="-120"/>
              </a:rPr>
              <a:t>Tăng trưởng</a:t>
            </a:r>
            <a:endParaRPr lang="en-US" sz="1800" dirty="0"/>
          </a:p>
        </ns0:txBody>
      </ns0:sp>
      <ns0:sp>
        <ns0:nvSpPr>
          <ns0:cNvPr id="17" name="Text 15"/>
          <ns0:cNvSpPr/>
          <ns0:nvPr/>
        </ns0:nvSpPr>
        <ns0:spPr>
          <a:xfrm>
            <a:off x="3319272" y="3566160"/>
            <a:ext cx="2560320" cy="1554480"/>
          </a:xfrm>
          <a:prstGeom prst="rect">
            <a:avLst/>
          </a:prstGeom>
          <a:noFill/>
          <a:ln/>
        </ns0:spPr>
        <ns0:txBody>
          <a:bodyPr wrap="square" lIns="0" tIns="0" rIns="0" bIns="0" rtlCol="0" anchor="ctr"/>
          <a:lstStyle/>
          <a:p>
            <a:pPr indent="0" marL="0">
              <a:lnSpc>
                <a:spcPct val="118000"/>
              </a:lnSpc>
              <a:buNone/>
            </a:pPr>
            <a:r>
              <a:rPr lang="en-US" sz="1150" dirty="0">
                <a:solidFill>
                  <a:srgbClr val="5C7370"/>
                </a:solidFill>
                <a:latin typeface="Segoe UI" pitchFamily="34" charset="0"/>
                <a:ea typeface="Segoe UI" pitchFamily="34" charset="-122"/>
                <a:cs typeface="Segoe UI" pitchFamily="34" charset="-120"/>
              </a:rPr>
              <a:t>Đạt 88 tr./th. doanh thu; ≥55% khách quay lại; hoàn tất hồ sơ pháp lý &amp; chứng chỉ nghề.</a:t>
            </a:r>
            <a:endParaRPr lang="en-US" sz="1150" dirty="0"/>
          </a:p>
        </ns0:txBody>
      </ns0:sp>
      <ns0:sp>
        <ns0:nvSpPr>
          <ns0:cNvPr id="18" name="Shape 16"/>
          <ns0:cNvSpPr/>
          <ns0:nvPr/>
        </ns0:nvSpPr>
        <ns0:spPr>
          <a:xfrm>
            <a:off x="6501384" y="2139696"/>
            <a:ext cx="512064" cy="512064"/>
          </a:xfrm>
          <a:prstGeom prst="ellipse">
            <a:avLst/>
          </a:prstGeom>
          <a:solidFill>
            <a:srgbClr val="0E7C6B"/>
          </a:solidFill>
          <a:ln w="31750">
            <a:solidFill>
              <a:srgbClr val="FFFFFF"/>
            </a:solidFill>
            <a:prstDash val="solid"/>
          </a:ln>
          <a:effectLst>
            <a:outerShdw sx="100000" sy="100000" kx="0" ky="0" algn="bl" rotWithShape="0" blurRad="63500" dist="12700" dir="5400000">
              <a:srgbClr val="0B3B34">
                <a:alpha val="9000"/>
              </a:srgbClr>
            </a:outerShdw>
          </a:effectLst>
        </ns0:spPr>
      </ns0:sp>
      <ns0:sp>
        <ns0:nvSpPr>
          <ns0:cNvPr id="19" name="Text 17"/>
          <ns0:cNvSpPr/>
          <ns0:nvPr/>
        </ns0:nvSpPr>
        <ns0:spPr>
          <a:xfrm>
            <a:off x="6501384" y="2139696"/>
            <a:ext cx="512064" cy="512064"/>
          </a:xfrm>
          <a:prstGeom prst="rect">
            <a:avLst/>
          </a:prstGeom>
          <a:noFill/>
          <a:ln/>
        </ns0:spPr>
        <ns0: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ns0:txBody>
      </ns0:sp>
      <ns0:sp>
        <ns0:nvSpPr>
          <ns0:cNvPr id="20" name="Text 18"/>
          <ns0:cNvSpPr/>
          <ns0:nvPr/>
        </ns0:nvSpPr>
        <ns0:spPr>
          <a:xfrm>
            <a:off x="6135624" y="2834640"/>
            <a:ext cx="2606040" cy="274320"/>
          </a:xfrm>
          <a:prstGeom prst="rect">
            <a:avLst/>
          </a:prstGeom>
          <a:noFill/>
          <a:ln/>
        </ns0:spPr>
        <ns0:txBody>
          <a:bodyPr wrap="square" lIns="0" tIns="0" rIns="0" bIns="0" rtlCol="0" anchor="ctr"/>
          <a:lstStyle/>
          <a:p>
            <a:pPr indent="0" marL="0">
              <a:buNone/>
            </a:pPr>
            <a:r>
              <a:rPr lang="en-US" sz="1100" b="1" dirty="0">
                <a:solidFill>
                  <a:srgbClr val="2AA88F"/>
                </a:solidFill>
                <a:latin typeface="Segoe UI" pitchFamily="34" charset="0"/>
                <a:ea typeface="Segoe UI" pitchFamily="34" charset="-122"/>
                <a:cs typeface="Segoe UI" pitchFamily="34" charset="-120"/>
              </a:rPr>
              <a:t>GĐ 3 · Năm 2</a:t>
            </a:r>
            <a:endParaRPr lang="en-US" sz="1100" dirty="0"/>
          </a:p>
        </ns0:txBody>
      </ns0:sp>
      <ns0:sp>
        <ns0:nvSpPr>
          <ns0:cNvPr id="21" name="Text 19"/>
          <ns0:cNvSpPr/>
          <ns0:nvPr/>
        </ns0:nvSpPr>
        <ns0:spPr>
          <a:xfrm>
            <a:off x="6135624" y="3108960"/>
            <a:ext cx="2606040" cy="384048"/>
          </a:xfrm>
          <a:prstGeom prst="rect">
            <a:avLst/>
          </a:prstGeom>
          <a:noFill/>
          <a:ln/>
        </ns0:spPr>
        <ns0:txBody>
          <a:bodyPr wrap="square" lIns="0" tIns="0" rIns="0" bIns="0" rtlCol="0" anchor="ctr"/>
          <a:lstStyle/>
          <a:p>
            <a:pPr indent="0" marL="0">
              <a:buNone/>
            </a:pPr>
            <a:r>
              <a:rPr lang="en-US" sz="1800" b="1" dirty="0">
                <a:solidFill>
                  <a:srgbClr val="16302B"/>
                </a:solidFill>
                <a:latin typeface="Segoe UI" pitchFamily="34" charset="0"/>
                <a:ea typeface="Segoe UI" pitchFamily="34" charset="-122"/>
                <a:cs typeface="Segoe UI" pitchFamily="34" charset="-120"/>
              </a:rPr>
              <a:t>Mở rộng</a:t>
            </a:r>
            <a:endParaRPr lang="en-US" sz="1800" dirty="0"/>
          </a:p>
        </ns0:txBody>
      </ns0:sp>
      <ns0:sp>
        <ns0:nvSpPr>
          <ns0:cNvPr id="22" name="Text 20"/>
          <ns0:cNvSpPr/>
          <ns0:nvPr/>
        </ns0:nvSpPr>
        <ns0:spPr>
          <a:xfrm>
            <a:off x="6135624" y="3566160"/>
            <a:ext cx="2560320" cy="1554480"/>
          </a:xfrm>
          <a:prstGeom prst="rect">
            <a:avLst/>
          </a:prstGeom>
          <a:noFill/>
          <a:ln/>
        </ns0:spPr>
        <ns0:txBody>
          <a:bodyPr wrap="square" lIns="0" tIns="0" rIns="0" bIns="0" rtlCol="0" anchor="ctr"/>
          <a:lstStyle/>
          <a:p>
            <a:pPr indent="0" marL="0">
              <a:lnSpc>
                <a:spcPct val="118000"/>
              </a:lnSpc>
              <a:buNone/>
            </a:pPr>
            <a:r>
              <a:rPr lang="en-US" sz="1150" dirty="0">
                <a:solidFill>
                  <a:srgbClr val="5C7370"/>
                </a:solidFill>
                <a:latin typeface="Segoe UI" pitchFamily="34" charset="0"/>
                <a:ea typeface="Segoe UI" pitchFamily="34" charset="-122"/>
                <a:cs typeface="Segoe UI" pitchFamily="34" charset="-120"/>
              </a:rPr>
              <a:t>Cơ sở thứ 2; nền tảng đặt lịch đa kênh &amp; CRM (kênh đầu tiên: Zalo Mini App); huy động vốn mở rộng.</a:t>
            </a:r>
            <a:endParaRPr lang="en-US" sz="1150" dirty="0"/>
          </a:p>
        </ns0:txBody>
      </ns0:sp>
      <ns0:sp>
        <ns0:nvSpPr>
          <ns0:cNvPr id="23" name="Shape 21"/>
          <ns0:cNvSpPr/>
          <ns0:nvPr/>
        </ns0:nvSpPr>
        <ns0:spPr>
          <a:xfrm>
            <a:off x="9317736" y="2139696"/>
            <a:ext cx="512064" cy="512064"/>
          </a:xfrm>
          <a:prstGeom prst="ellipse">
            <a:avLst/>
          </a:prstGeom>
          <a:solidFill>
            <a:srgbClr val="E8590C"/>
          </a:solidFill>
          <a:ln w="31750">
            <a:solidFill>
              <a:srgbClr val="FFFFFF"/>
            </a:solidFill>
            <a:prstDash val="solid"/>
          </a:ln>
          <a:effectLst>
            <a:outerShdw sx="100000" sy="100000" kx="0" ky="0" algn="bl" rotWithShape="0" blurRad="63500" dist="12700" dir="5400000">
              <a:srgbClr val="0B3B34">
                <a:alpha val="9000"/>
              </a:srgbClr>
            </a:outerShdw>
          </a:effectLst>
        </ns0:spPr>
      </ns0:sp>
      <ns0:sp>
        <ns0:nvSpPr>
          <ns0:cNvPr id="24" name="Text 22"/>
          <ns0:cNvSpPr/>
          <ns0:nvPr/>
        </ns0:nvSpPr>
        <ns0:spPr>
          <a:xfrm>
            <a:off x="9317736" y="2139696"/>
            <a:ext cx="512064" cy="512064"/>
          </a:xfrm>
          <a:prstGeom prst="rect">
            <a:avLst/>
          </a:prstGeom>
          <a:noFill/>
          <a:ln/>
        </ns0:spPr>
        <ns0:txBody>
          <a:bodyPr wrap="square" lIns="0" tIns="0" rIns="0" bIns="0" rtlCol="0" anchor="ctr"/>
          <a:lstStyle/>
          <a:p>
            <a:pPr algn="ctr" indent="0" marL="0">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ns0:txBody>
      </ns0:sp>
      <ns0:sp>
        <ns0:nvSpPr>
          <ns0:cNvPr id="25" name="Text 23"/>
          <ns0:cNvSpPr/>
          <ns0:nvPr/>
        </ns0:nvSpPr>
        <ns0:spPr>
          <a:xfrm>
            <a:off x="8951976" y="2834640"/>
            <a:ext cx="2606040" cy="274320"/>
          </a:xfrm>
          <a:prstGeom prst="rect">
            <a:avLst/>
          </a:prstGeom>
          <a:noFill/>
          <a:ln/>
        </ns0:spPr>
        <ns0:txBody>
          <a:bodyPr wrap="square" lIns="0" tIns="0" rIns="0" bIns="0" rtlCol="0" anchor="ctr"/>
          <a:lstStyle/>
          <a:p>
            <a:pPr indent="0" marL="0">
              <a:buNone/>
            </a:pPr>
            <a:r>
              <a:rPr lang="en-US" sz="1100" b="1" dirty="0">
                <a:solidFill>
                  <a:srgbClr val="2AA88F"/>
                </a:solidFill>
                <a:latin typeface="Segoe UI" pitchFamily="34" charset="0"/>
                <a:ea typeface="Segoe UI" pitchFamily="34" charset="-122"/>
                <a:cs typeface="Segoe UI" pitchFamily="34" charset="-120"/>
              </a:rPr>
              <a:t>GĐ 4 · Năm 3</a:t>
            </a:r>
            <a:endParaRPr lang="en-US" sz="1100" dirty="0"/>
          </a:p>
        </ns0:txBody>
      </ns0:sp>
      <ns0:sp>
        <ns0:nvSpPr>
          <ns0:cNvPr id="26" name="Text 24"/>
          <ns0:cNvSpPr/>
          <ns0:nvPr/>
        </ns0:nvSpPr>
        <ns0:spPr>
          <a:xfrm>
            <a:off x="8951976" y="3108960"/>
            <a:ext cx="2606040" cy="384048"/>
          </a:xfrm>
          <a:prstGeom prst="rect">
            <a:avLst/>
          </a:prstGeom>
          <a:noFill/>
          <a:ln/>
        </ns0:spPr>
        <ns0:txBody>
          <a:bodyPr wrap="square" lIns="0" tIns="0" rIns="0" bIns="0" rtlCol="0" anchor="ctr"/>
          <a:lstStyle/>
          <a:p>
            <a:pPr indent="0" marL="0">
              <a:buNone/>
            </a:pPr>
            <a:r>
              <a:rPr lang="en-US" sz="1800" b="1" dirty="0">
                <a:solidFill>
                  <a:srgbClr val="16302B"/>
                </a:solidFill>
                <a:latin typeface="Segoe UI" pitchFamily="34" charset="0"/>
                <a:ea typeface="Segoe UI" pitchFamily="34" charset="-122"/>
                <a:cs typeface="Segoe UI" pitchFamily="34" charset="-120"/>
              </a:rPr>
              <a:t>Chuỗi hóa</a:t>
            </a:r>
            <a:endParaRPr lang="en-US" sz="1800" dirty="0"/>
          </a:p>
        </ns0:txBody>
      </ns0:sp>
      <ns0:sp>
        <ns0:nvSpPr>
          <ns0:cNvPr id="27" name="Text 25"/>
          <ns0:cNvSpPr/>
          <ns0:nvPr/>
        </ns0:nvSpPr>
        <ns0:spPr>
          <a:xfrm>
            <a:off x="8951976" y="3566160"/>
            <a:ext cx="2560320" cy="1554480"/>
          </a:xfrm>
          <a:prstGeom prst="rect">
            <a:avLst/>
          </a:prstGeom>
          <a:noFill/>
          <a:ln/>
        </ns0:spPr>
        <ns0:txBody>
          <a:bodyPr wrap="square" lIns="0" tIns="0" rIns="0" bIns="0" rtlCol="0" anchor="ctr"/>
          <a:lstStyle/>
          <a:p>
            <a:pPr indent="0" marL="0">
              <a:lnSpc>
                <a:spcPct val="118000"/>
              </a:lnSpc>
              <a:buNone/>
            </a:pPr>
            <a:r>
              <a:rPr lang="en-US" sz="1150" dirty="0">
                <a:solidFill>
                  <a:srgbClr val="5C7370"/>
                </a:solidFill>
                <a:latin typeface="Segoe UI" pitchFamily="34" charset="0"/>
                <a:ea typeface="Segoe UI" pitchFamily="34" charset="-122"/>
                <a:cs typeface="Segoe UI" pitchFamily="34" charset="-120"/>
              </a:rPr>
              <a:t>Nhượng quyền 3–5 cơ sở vệ tinh; chuẩn CareTouch Academy đào tạo kỹ thuật viên.</a:t>
            </a:r>
            <a:endParaRPr lang="en-US" sz="1150" dirty="0"/>
          </a:p>
        </ns0:txBody>
      </ns0:sp>
      <ns0:sp>
        <ns0:nvSpPr>
          <ns0:cNvPr id="28" name="Shape 26"/>
          <ns0:cNvSpPr/>
          <ns0:nvPr/>
        </ns0:nvSpPr>
        <ns0:spPr>
          <a:xfrm>
            <a:off x="0" y="5577840"/>
            <a:ext cx="12188952" cy="658368"/>
          </a:xfrm>
          <a:prstGeom prst="rect">
            <a:avLst/>
          </a:prstGeom>
          <a:solidFill>
            <a:srgbClr val="E8F5F1"/>
          </a:solidFill>
          <a:ln/>
        </ns0:spPr>
      </ns0:sp>
      <ns0:sp>
        <ns0:nvSpPr>
          <ns0:cNvPr id="29" name="Text 27"/>
          <ns0:cNvSpPr/>
          <ns0:nvPr/>
        </ns0:nvSpPr>
        <ns0:spPr>
          <a:xfrm>
            <a:off x="502920" y="5577840"/>
            <a:ext cx="11183112" cy="658368"/>
          </a:xfrm>
          <a:prstGeom prst="rect">
            <a:avLst/>
          </a:prstGeom>
          <a:noFill/>
          <a:ln/>
        </ns0:spPr>
        <ns0:txBody>
          <a:bodyPr wrap="square" lIns="0" tIns="0" rIns="0" bIns="0" rtlCol="0" anchor="ctr"/>
          <a:lstStyle/>
          <a:p>
            <a:pPr indent="0" marL="0">
              <a:buNone/>
            </a:pPr>
            <a:r>
              <a:rPr lang="en-US" sz="1350" b="1" dirty="0">
                <a:solidFill>
                  <a:srgbClr val="16302B"/>
                </a:solidFill>
                <a:latin typeface="Segoe UI" pitchFamily="34" charset="0"/>
                <a:ea typeface="Segoe UI" pitchFamily="34" charset="-122"/>
                <a:cs typeface="Segoe UI" pitchFamily="34" charset="-120"/>
              </a:rPr>
              <a:t>Nguyên tắc mở rộng:  </a:t>
            </a:r>
            <a:r>
              <a:rPr lang="en-US" sz="1350" dirty="0">
                <a:solidFill>
                  <a:srgbClr val="16302B"/>
                </a:solidFill>
                <a:latin typeface="Segoe UI" pitchFamily="34" charset="0"/>
                <a:ea typeface="Segoe UI" pitchFamily="34" charset="-122"/>
                <a:cs typeface="Segoe UI" pitchFamily="34" charset="-120"/>
              </a:rPr>
              <a:t>chỉ mở cơ sở mới khi cơ sở hiện tại đạt ≥55% khách quay lại và quy trình an toàn đã được kiểm chứng — tăng trưởng đi theo chất lượng, không đi trước.</a:t>
            </a:r>
            <a:endParaRPr lang="en-US" sz="13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104"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400"/>
                                  </ns0:stCondLst>
                                  <ns0:childTnLst>
                                    <ns0:set>
                                      <ns0:cBhvr>
                                        <ns0:cTn id="21" dur="1" fill="hold">
                                          <ns0:stCondLst>
                                            <ns0:cond delay="0"/>
                                          </ns0:stCondLst>
                                        </ns0:cTn>
                                        <ns0:tgtEl>
                                          <ns0:spTgt spid="11"/>
                                        </ns0:tgtEl>
                                        <ns0:attrNameLst>
                                          <ns0:attrName>style.visibility</ns0:attrName>
                                        </ns0:attrNameLst>
                                      </ns0:cBhvr>
                                      <ns0:to>
                                        <ns0:strVal val="visible"/>
                                      </ns0:to>
                                    </ns0:set>
                                    <ns0:animEffect transition="in" filter="fade">
                                      <ns0:cBhvr>
                                        <ns0:cTn id="22" dur="500"/>
                                        <ns0:tgtEl>
                                          <ns0:spTgt spid="11"/>
                                        </ns0:tgtEl>
                                      </ns0:cBhvr>
                                    </ns0:animEffect>
                                    <ns0:anim calcmode="lin" valueType="num">
                                      <ns0:cBhvr additive="base">
                                        <ns0:cTn id="2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24" presetID="42" presetClass="entr" presetSubtype="0" fill="hold" grpId="0" nodeType="withEffect">
                                  <ns0:stCondLst>
                                    <ns0:cond delay="500"/>
                                  </ns0:stCondLst>
                                  <ns0:childTnLst>
                                    <ns0:set>
                                      <ns0:cBhvr>
                                        <ns0:cTn id="25" dur="1" fill="hold">
                                          <ns0:stCondLst>
                                            <ns0:cond delay="0"/>
                                          </ns0:stCondLst>
                                        </ns0:cTn>
                                        <ns0:tgtEl>
                                          <ns0:spTgt spid="12"/>
                                        </ns0:tgtEl>
                                        <ns0:attrNameLst>
                                          <ns0:attrName>style.visibility</ns0:attrName>
                                        </ns0:attrNameLst>
                                      </ns0:cBhvr>
                                      <ns0:to>
                                        <ns0:strVal val="visible"/>
                                      </ns0:to>
                                    </ns0:set>
                                    <ns0:animEffect transition="in" filter="fade">
                                      <ns0:cBhvr>
                                        <ns0:cTn id="26" dur="500"/>
                                        <ns0:tgtEl>
                                          <ns0:spTgt spid="12"/>
                                        </ns0:tgtEl>
                                      </ns0:cBhvr>
                                    </ns0:animEffect>
                                    <ns0:anim calcmode="lin" valueType="num">
                                      <ns0:cBhvr additive="base">
                                        <ns0:cTn id="27"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8" fill="hold">
                      <ns0:stCondLst>
                        <ns0:cond delay="indefinite"/>
                      </ns0:stCondLst>
                      <ns0:childTnLst>
                        <ns0:par>
                          <ns0:cTn id="29" fill="hold">
                            <ns0:stCondLst>
                              <ns0:cond delay="0"/>
                            </ns0:stCondLst>
                            <ns0:childTnLst>
                              <ns0:par>
                                <ns0:cTn id="30" presetID="42" presetClass="entr" presetSubtype="0" fill="hold" grpId="0" nodeType="clickEffect">
                                  <ns0:stCondLst>
                                    <ns0:cond delay="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1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38" presetID="42" presetClass="entr" presetSubtype="0" fill="hold" grpId="0" nodeType="withEffect">
                                  <ns0:stCondLst>
                                    <ns0:cond delay="200"/>
                                  </ns0:stCondLst>
                                  <ns0:childTnLst>
                                    <ns0:set>
                                      <ns0:cBhvr>
                                        <ns0:cTn id="39" dur="1" fill="hold">
                                          <ns0:stCondLst>
                                            <ns0:cond delay="0"/>
                                          </ns0:stCondLst>
                                        </ns0:cTn>
                                        <ns0:tgtEl>
                                          <ns0:spTgt spid="15"/>
                                        </ns0:tgtEl>
                                        <ns0:attrNameLst>
                                          <ns0:attrName>style.visibility</ns0:attrName>
                                        </ns0:attrNameLst>
                                      </ns0:cBhvr>
                                      <ns0:to>
                                        <ns0:strVal val="visible"/>
                                      </ns0:to>
                                    </ns0:set>
                                    <ns0:animEffect transition="in" filter="fade">
                                      <ns0:cBhvr>
                                        <ns0:cTn id="40" dur="500"/>
                                        <ns0:tgtEl>
                                          <ns0:spTgt spid="15"/>
                                        </ns0:tgtEl>
                                      </ns0:cBhvr>
                                    </ns0:animEffect>
                                    <ns0:anim calcmode="lin" valueType="num">
                                      <ns0:cBhvr additive="base">
                                        <ns0:cTn id="4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2" presetID="42" presetClass="entr" presetSubtype="0" fill="hold" grpId="0" nodeType="withEffect">
                                  <ns0:stCondLst>
                                    <ns0:cond delay="300"/>
                                  </ns0:stCondLst>
                                  <ns0:childTnLst>
                                    <ns0:set>
                                      <ns0:cBhvr>
                                        <ns0:cTn id="43" dur="1" fill="hold">
                                          <ns0:stCondLst>
                                            <ns0:cond delay="0"/>
                                          </ns0:stCondLst>
                                        </ns0:cTn>
                                        <ns0:tgtEl>
                                          <ns0:spTgt spid="16"/>
                                        </ns0:tgtEl>
                                        <ns0:attrNameLst>
                                          <ns0:attrName>style.visibility</ns0:attrName>
                                        </ns0:attrNameLst>
                                      </ns0:cBhvr>
                                      <ns0:to>
                                        <ns0:strVal val="visible"/>
                                      </ns0:to>
                                    </ns0:set>
                                    <ns0:animEffect transition="in" filter="fade">
                                      <ns0:cBhvr>
                                        <ns0:cTn id="44" dur="500"/>
                                        <ns0:tgtEl>
                                          <ns0:spTgt spid="16"/>
                                        </ns0:tgtEl>
                                      </ns0:cBhvr>
                                    </ns0:animEffect>
                                    <ns0:anim calcmode="lin" valueType="num">
                                      <ns0:cBhvr additive="base">
                                        <ns0:cTn id="4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par>
                                <ns0:cTn id="46" presetID="42" presetClass="entr" presetSubtype="0" fill="hold" grpId="0" nodeType="withEffect">
                                  <ns0:stCondLst>
                                    <ns0:cond delay="400"/>
                                  </ns0:stCondLst>
                                  <ns0:childTnLst>
                                    <ns0:set>
                                      <ns0:cBhvr>
                                        <ns0:cTn id="47" dur="1" fill="hold">
                                          <ns0:stCondLst>
                                            <ns0:cond delay="0"/>
                                          </ns0:stCondLst>
                                        </ns0:cTn>
                                        <ns0:tgtEl>
                                          <ns0:spTgt spid="17"/>
                                        </ns0:tgtEl>
                                        <ns0:attrNameLst>
                                          <ns0:attrName>style.visibility</ns0:attrName>
                                        </ns0:attrNameLst>
                                      </ns0:cBhvr>
                                      <ns0:to>
                                        <ns0:strVal val="visible"/>
                                      </ns0:to>
                                    </ns0:set>
                                    <ns0:animEffect transition="in" filter="fade">
                                      <ns0:cBhvr>
                                        <ns0:cTn id="48" dur="500"/>
                                        <ns0:tgtEl>
                                          <ns0:spTgt spid="17"/>
                                        </ns0:tgtEl>
                                      </ns0:cBhvr>
                                    </ns0:animEffect>
                                    <ns0:anim calcmode="lin" valueType="num">
                                      <ns0:cBhvr additive="base">
                                        <ns0:cTn id="49"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50" fill="hold">
                      <ns0:stCondLst>
                        <ns0:cond delay="indefinite"/>
                      </ns0:stCondLst>
                      <ns0:childTnLst>
                        <ns0:par>
                          <ns0:cTn id="51" fill="hold">
                            <ns0:stCondLst>
                              <ns0:cond delay="0"/>
                            </ns0:stCondLst>
                            <ns0:childTnLst>
                              <ns0:par>
                                <ns0:cTn id="52" presetID="42" presetClass="entr" presetSubtype="0" fill="hold" grpId="0" nodeType="clickEffect">
                                  <ns0:stCondLst>
                                    <ns0:cond delay="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100"/>
                                  </ns0:stCondLst>
                                  <ns0:childTnLst>
                                    <ns0:set>
                                      <ns0:cBhvr>
                                        <ns0:cTn id="57" dur="1" fill="hold">
                                          <ns0:stCondLst>
                                            <ns0:cond delay="0"/>
                                          </ns0:stCondLst>
                                        </ns0:cTn>
                                        <ns0:tgtEl>
                                          <ns0:spTgt spid="19"/>
                                        </ns0:tgtEl>
                                        <ns0:attrNameLst>
                                          <ns0:attrName>style.visibility</ns0:attrName>
                                        </ns0:attrNameLst>
                                      </ns0:cBhvr>
                                      <ns0:to>
                                        <ns0:strVal val="visible"/>
                                      </ns0:to>
                                    </ns0:set>
                                    <ns0:animEffect transition="in" filter="fade">
                                      <ns0:cBhvr>
                                        <ns0:cTn id="58" dur="500"/>
                                        <ns0:tgtEl>
                                          <ns0:spTgt spid="19"/>
                                        </ns0:tgtEl>
                                      </ns0:cBhvr>
                                    </ns0:animEffect>
                                    <ns0:anim calcmode="lin" valueType="num">
                                      <ns0:cBhvr additive="base">
                                        <ns0:cTn id="59"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200"/>
                                  </ns0:stCondLst>
                                  <ns0:childTnLst>
                                    <ns0:set>
                                      <ns0:cBhvr>
                                        <ns0:cTn id="61" dur="1" fill="hold">
                                          <ns0:stCondLst>
                                            <ns0:cond delay="0"/>
                                          </ns0:stCondLst>
                                        </ns0:cTn>
                                        <ns0:tgtEl>
                                          <ns0:spTgt spid="20"/>
                                        </ns0:tgtEl>
                                        <ns0:attrNameLst>
                                          <ns0:attrName>style.visibility</ns0:attrName>
                                        </ns0:attrNameLst>
                                      </ns0:cBhvr>
                                      <ns0:to>
                                        <ns0:strVal val="visible"/>
                                      </ns0:to>
                                    </ns0:set>
                                    <ns0:animEffect transition="in" filter="fade">
                                      <ns0:cBhvr>
                                        <ns0:cTn id="62" dur="500"/>
                                        <ns0:tgtEl>
                                          <ns0:spTgt spid="20"/>
                                        </ns0:tgtEl>
                                      </ns0:cBhvr>
                                    </ns0:animEffect>
                                    <ns0:anim calcmode="lin" valueType="num">
                                      <ns0:cBhvr additive="base">
                                        <ns0:cTn id="63"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64" presetID="42" presetClass="entr" presetSubtype="0" fill="hold" grpId="0" nodeType="withEffect">
                                  <ns0:stCondLst>
                                    <ns0:cond delay="300"/>
                                  </ns0:stCondLst>
                                  <ns0:childTnLst>
                                    <ns0:set>
                                      <ns0:cBhvr>
                                        <ns0:cTn id="65" dur="1" fill="hold">
                                          <ns0:stCondLst>
                                            <ns0:cond delay="0"/>
                                          </ns0:stCondLst>
                                        </ns0:cTn>
                                        <ns0:tgtEl>
                                          <ns0:spTgt spid="21"/>
                                        </ns0:tgtEl>
                                        <ns0:attrNameLst>
                                          <ns0:attrName>style.visibility</ns0:attrName>
                                        </ns0:attrNameLst>
                                      </ns0:cBhvr>
                                      <ns0:to>
                                        <ns0:strVal val="visible"/>
                                      </ns0:to>
                                    </ns0:set>
                                    <ns0:animEffect transition="in" filter="fade">
                                      <ns0:cBhvr>
                                        <ns0:cTn id="66" dur="500"/>
                                        <ns0:tgtEl>
                                          <ns0:spTgt spid="21"/>
                                        </ns0:tgtEl>
                                      </ns0:cBhvr>
                                    </ns0:animEffect>
                                    <ns0:anim calcmode="lin" valueType="num">
                                      <ns0:cBhvr additive="base">
                                        <ns0:cTn id="67"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par>
                                <ns0:cTn id="68" presetID="42" presetClass="entr" presetSubtype="0" fill="hold" grpId="0" nodeType="withEffect">
                                  <ns0:stCondLst>
                                    <ns0:cond delay="400"/>
                                  </ns0:stCondLst>
                                  <ns0:childTnLst>
                                    <ns0:set>
                                      <ns0:cBhvr>
                                        <ns0:cTn id="69" dur="1" fill="hold">
                                          <ns0:stCondLst>
                                            <ns0:cond delay="0"/>
                                          </ns0:stCondLst>
                                        </ns0:cTn>
                                        <ns0:tgtEl>
                                          <ns0:spTgt spid="22"/>
                                        </ns0:tgtEl>
                                        <ns0:attrNameLst>
                                          <ns0:attrName>style.visibility</ns0:attrName>
                                        </ns0:attrNameLst>
                                      </ns0:cBhvr>
                                      <ns0:to>
                                        <ns0:strVal val="visible"/>
                                      </ns0:to>
                                    </ns0:set>
                                    <ns0:animEffect transition="in" filter="fade">
                                      <ns0:cBhvr>
                                        <ns0:cTn id="70" dur="500"/>
                                        <ns0:tgtEl>
                                          <ns0:spTgt spid="22"/>
                                        </ns0:tgtEl>
                                      </ns0:cBhvr>
                                    </ns0:animEffect>
                                    <ns0:anim calcmode="lin" valueType="num">
                                      <ns0:cBhvr additive="base">
                                        <ns0:cTn id="71"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72" fill="hold">
                      <ns0:stCondLst>
                        <ns0:cond delay="indefinite"/>
                      </ns0:stCondLst>
                      <ns0:childTnLst>
                        <ns0:par>
                          <ns0:cTn id="73" fill="hold">
                            <ns0:stCondLst>
                              <ns0:cond delay="0"/>
                            </ns0:stCondLst>
                            <ns0:childTnLst>
                              <ns0:par>
                                <ns0:cTn id="74" presetID="42" presetClass="entr" presetSubtype="0" fill="hold" grpId="0" nodeType="clickEffect">
                                  <ns0:stCondLst>
                                    <ns0:cond delay="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par>
                                <ns0:cTn id="78" presetID="42" presetClass="entr" presetSubtype="0" fill="hold" grpId="0" nodeType="withEffect">
                                  <ns0:stCondLst>
                                    <ns0:cond delay="100"/>
                                  </ns0:stCondLst>
                                  <ns0:childTnLst>
                                    <ns0:set>
                                      <ns0:cBhvr>
                                        <ns0:cTn id="79" dur="1" fill="hold">
                                          <ns0:stCondLst>
                                            <ns0:cond delay="0"/>
                                          </ns0:stCondLst>
                                        </ns0:cTn>
                                        <ns0:tgtEl>
                                          <ns0:spTgt spid="24"/>
                                        </ns0:tgtEl>
                                        <ns0:attrNameLst>
                                          <ns0:attrName>style.visibility</ns0:attrName>
                                        </ns0:attrNameLst>
                                      </ns0:cBhvr>
                                      <ns0:to>
                                        <ns0:strVal val="visible"/>
                                      </ns0:to>
                                    </ns0:set>
                                    <ns0:animEffect transition="in" filter="fade">
                                      <ns0:cBhvr>
                                        <ns0:cTn id="80" dur="500"/>
                                        <ns0:tgtEl>
                                          <ns0:spTgt spid="24"/>
                                        </ns0:tgtEl>
                                      </ns0:cBhvr>
                                    </ns0:animEffect>
                                    <ns0:anim calcmode="lin" valueType="num">
                                      <ns0:cBhvr additive="base">
                                        <ns0:cTn id="81" dur="500" fill="hold"/>
                                        <ns0:tgtEl>
                                          <ns0:spTgt spid="24"/>
                                        </ns0:tgtEl>
                                        <ns0:attrNameLst>
                                          <ns0:attrName>ppt_y</ns0:attrName>
                                        </ns0:attrNameLst>
                                      </ns0:cBhvr>
                                      <ns0:tavLst>
                                        <ns0:tav tm="0">
                                          <ns0:val>
                                            <ns0:strVal val="#ppt_y+0.018"/>
                                          </ns0:val>
                                        </ns0:tav>
                                        <ns0:tav tm="100000">
                                          <ns0:val>
                                            <ns0:strVal val="#ppt_y"/>
                                          </ns0:val>
                                        </ns0:tav>
                                      </ns0:tavLst>
                                    </ns0:anim>
                                  </ns0:childTnLst>
                                </ns0:cTn>
                              </ns0:par>
                              <ns0:par>
                                <ns0:cTn id="82" presetID="42" presetClass="entr" presetSubtype="0" fill="hold" grpId="0" nodeType="withEffect">
                                  <ns0:stCondLst>
                                    <ns0:cond delay="200"/>
                                  </ns0:stCondLst>
                                  <ns0:childTnLst>
                                    <ns0:set>
                                      <ns0:cBhvr>
                                        <ns0:cTn id="83" dur="1" fill="hold">
                                          <ns0:stCondLst>
                                            <ns0:cond delay="0"/>
                                          </ns0:stCondLst>
                                        </ns0:cTn>
                                        <ns0:tgtEl>
                                          <ns0:spTgt spid="25"/>
                                        </ns0:tgtEl>
                                        <ns0:attrNameLst>
                                          <ns0:attrName>style.visibility</ns0:attrName>
                                        </ns0:attrNameLst>
                                      </ns0:cBhvr>
                                      <ns0:to>
                                        <ns0:strVal val="visible"/>
                                      </ns0:to>
                                    </ns0:set>
                                    <ns0:animEffect transition="in" filter="fade">
                                      <ns0:cBhvr>
                                        <ns0:cTn id="84" dur="500"/>
                                        <ns0:tgtEl>
                                          <ns0:spTgt spid="25"/>
                                        </ns0:tgtEl>
                                      </ns0:cBhvr>
                                    </ns0:animEffect>
                                    <ns0:anim calcmode="lin" valueType="num">
                                      <ns0:cBhvr additive="base">
                                        <ns0:cTn id="85" dur="500" fill="hold"/>
                                        <ns0:tgtEl>
                                          <ns0:spTgt spid="25"/>
                                        </ns0:tgtEl>
                                        <ns0:attrNameLst>
                                          <ns0:attrName>ppt_y</ns0:attrName>
                                        </ns0:attrNameLst>
                                      </ns0:cBhvr>
                                      <ns0:tavLst>
                                        <ns0:tav tm="0">
                                          <ns0:val>
                                            <ns0:strVal val="#ppt_y+0.018"/>
                                          </ns0:val>
                                        </ns0:tav>
                                        <ns0:tav tm="100000">
                                          <ns0:val>
                                            <ns0:strVal val="#ppt_y"/>
                                          </ns0:val>
                                        </ns0:tav>
                                      </ns0:tavLst>
                                    </ns0:anim>
                                  </ns0:childTnLst>
                                </ns0:cTn>
                              </ns0:par>
                              <ns0:par>
                                <ns0:cTn id="86" presetID="42" presetClass="entr" presetSubtype="0" fill="hold" grpId="0" nodeType="withEffect">
                                  <ns0:stCondLst>
                                    <ns0:cond delay="300"/>
                                  </ns0:stCondLst>
                                  <ns0:childTnLst>
                                    <ns0:set>
                                      <ns0:cBhvr>
                                        <ns0:cTn id="87" dur="1" fill="hold">
                                          <ns0:stCondLst>
                                            <ns0:cond delay="0"/>
                                          </ns0:stCondLst>
                                        </ns0:cTn>
                                        <ns0:tgtEl>
                                          <ns0:spTgt spid="26"/>
                                        </ns0:tgtEl>
                                        <ns0:attrNameLst>
                                          <ns0:attrName>style.visibility</ns0:attrName>
                                        </ns0:attrNameLst>
                                      </ns0:cBhvr>
                                      <ns0:to>
                                        <ns0:strVal val="visible"/>
                                      </ns0:to>
                                    </ns0:set>
                                    <ns0:animEffect transition="in" filter="fade">
                                      <ns0:cBhvr>
                                        <ns0:cTn id="88" dur="500"/>
                                        <ns0:tgtEl>
                                          <ns0:spTgt spid="26"/>
                                        </ns0:tgtEl>
                                      </ns0:cBhvr>
                                    </ns0:animEffect>
                                    <ns0:anim calcmode="lin" valueType="num">
                                      <ns0:cBhvr additive="base">
                                        <ns0:cTn id="89" dur="500" fill="hold"/>
                                        <ns0:tgtEl>
                                          <ns0:spTgt spid="26"/>
                                        </ns0:tgtEl>
                                        <ns0:attrNameLst>
                                          <ns0:attrName>ppt_y</ns0:attrName>
                                        </ns0:attrNameLst>
                                      </ns0:cBhvr>
                                      <ns0:tavLst>
                                        <ns0:tav tm="0">
                                          <ns0:val>
                                            <ns0:strVal val="#ppt_y+0.018"/>
                                          </ns0:val>
                                        </ns0:tav>
                                        <ns0:tav tm="100000">
                                          <ns0:val>
                                            <ns0:strVal val="#ppt_y"/>
                                          </ns0:val>
                                        </ns0:tav>
                                      </ns0:tavLst>
                                    </ns0:anim>
                                  </ns0:childTnLst>
                                </ns0:cTn>
                              </ns0:par>
                              <ns0:par>
                                <ns0:cTn id="90" presetID="42" presetClass="entr" presetSubtype="0" fill="hold" grpId="0" nodeType="withEffect">
                                  <ns0:stCondLst>
                                    <ns0:cond delay="400"/>
                                  </ns0:stCondLst>
                                  <ns0:childTnLst>
                                    <ns0:set>
                                      <ns0:cBhvr>
                                        <ns0:cTn id="91" dur="1" fill="hold">
                                          <ns0:stCondLst>
                                            <ns0:cond delay="0"/>
                                          </ns0:stCondLst>
                                        </ns0:cTn>
                                        <ns0:tgtEl>
                                          <ns0:spTgt spid="27"/>
                                        </ns0:tgtEl>
                                        <ns0:attrNameLst>
                                          <ns0:attrName>style.visibility</ns0:attrName>
                                        </ns0:attrNameLst>
                                      </ns0:cBhvr>
                                      <ns0:to>
                                        <ns0:strVal val="visible"/>
                                      </ns0:to>
                                    </ns0:set>
                                    <ns0:animEffect transition="in" filter="fade">
                                      <ns0:cBhvr>
                                        <ns0:cTn id="92" dur="500"/>
                                        <ns0:tgtEl>
                                          <ns0:spTgt spid="27"/>
                                        </ns0:tgtEl>
                                      </ns0:cBhvr>
                                    </ns0:animEffect>
                                    <ns0:anim calcmode="lin" valueType="num">
                                      <ns0:cBhvr additive="base">
                                        <ns0:cTn id="93" dur="500" fill="hold"/>
                                        <ns0:tgtEl>
                                          <ns0:spTgt spid="27"/>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94" fill="hold">
                      <ns0:stCondLst>
                        <ns0:cond delay="indefinite"/>
                      </ns0:stCondLst>
                      <ns0:childTnLst>
                        <ns0:par>
                          <ns0:cTn id="95" fill="hold">
                            <ns0:stCondLst>
                              <ns0:cond delay="0"/>
                            </ns0:stCondLst>
                            <ns0:childTnLst>
                              <ns0:par>
                                <ns0:cTn id="96" presetID="42" presetClass="entr" presetSubtype="0" fill="hold" grpId="0" nodeType="clickEffect">
                                  <ns0:stCondLst>
                                    <ns0:cond delay="0"/>
                                  </ns0:stCondLst>
                                  <ns0:childTnLst>
                                    <ns0:set>
                                      <ns0:cBhvr>
                                        <ns0:cTn id="97" dur="1" fill="hold">
                                          <ns0:stCondLst>
                                            <ns0:cond delay="0"/>
                                          </ns0:stCondLst>
                                        </ns0:cTn>
                                        <ns0:tgtEl>
                                          <ns0:spTgt spid="28"/>
                                        </ns0:tgtEl>
                                        <ns0:attrNameLst>
                                          <ns0:attrName>style.visibility</ns0:attrName>
                                        </ns0:attrNameLst>
                                      </ns0:cBhvr>
                                      <ns0:to>
                                        <ns0:strVal val="visible"/>
                                      </ns0:to>
                                    </ns0:set>
                                    <ns0:animEffect transition="in" filter="fade">
                                      <ns0:cBhvr>
                                        <ns0:cTn id="98" dur="500"/>
                                        <ns0:tgtEl>
                                          <ns0:spTgt spid="28"/>
                                        </ns0:tgtEl>
                                      </ns0:cBhvr>
                                    </ns0:animEffect>
                                    <ns0:anim calcmode="lin" valueType="num">
                                      <ns0:cBhvr additive="base">
                                        <ns0:cTn id="99" dur="500" fill="hold"/>
                                        <ns0:tgtEl>
                                          <ns0:spTgt spid="28"/>
                                        </ns0:tgtEl>
                                        <ns0:attrNameLst>
                                          <ns0:attrName>ppt_y</ns0:attrName>
                                        </ns0:attrNameLst>
                                      </ns0:cBhvr>
                                      <ns0:tavLst>
                                        <ns0:tav tm="0">
                                          <ns0:val>
                                            <ns0:strVal val="#ppt_y+0.018"/>
                                          </ns0:val>
                                        </ns0:tav>
                                        <ns0:tav tm="100000">
                                          <ns0:val>
                                            <ns0:strVal val="#ppt_y"/>
                                          </ns0:val>
                                        </ns0:tav>
                                      </ns0:tavLst>
                                    </ns0:anim>
                                  </ns0:childTnLst>
                                </ns0:cTn>
                              </ns0:par>
                              <ns0:par>
                                <ns0:cTn id="100" presetID="42" presetClass="entr" presetSubtype="0" fill="hold" grpId="0" nodeType="withEffect">
                                  <ns0:stCondLst>
                                    <ns0:cond delay="100"/>
                                  </ns0:stCondLst>
                                  <ns0:childTnLst>
                                    <ns0:set>
                                      <ns0:cBhvr>
                                        <ns0:cTn id="101" dur="1" fill="hold">
                                          <ns0:stCondLst>
                                            <ns0:cond delay="0"/>
                                          </ns0:stCondLst>
                                        </ns0:cTn>
                                        <ns0:tgtEl>
                                          <ns0:spTgt spid="29"/>
                                        </ns0:tgtEl>
                                        <ns0:attrNameLst>
                                          <ns0:attrName>style.visibility</ns0:attrName>
                                        </ns0:attrNameLst>
                                      </ns0:cBhvr>
                                      <ns0:to>
                                        <ns0:strVal val="visible"/>
                                      </ns0:to>
                                    </ns0:set>
                                    <ns0:animEffect transition="in" filter="fade">
                                      <ns0:cBhvr>
                                        <ns0:cTn id="102" dur="500"/>
                                        <ns0:tgtEl>
                                          <ns0:spTgt spid="29"/>
                                        </ns0:tgtEl>
                                      </ns0:cBhvr>
                                    </ns0:animEffect>
                                    <ns0:anim calcmode="lin" valueType="num">
                                      <ns0:cBhvr additive="base">
                                        <ns0:cTn id="103" dur="500" fill="hold"/>
                                        <ns0:tgtEl>
                                          <ns0:spTgt spid="29"/>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P spid="24" grpId="0"/>
      <ns0:bldP spid="25" grpId="0"/>
      <ns0:bldP spid="26" grpId="0"/>
      <ns0:bldP spid="27" grpId="0"/>
      <ns0:bldP spid="28" grpId="0"/>
      <ns0:bldP spid="29" grpId="0"/>
    </ns0:bldLst>
  </ns0:timing>
</ns0:sld>
</file>

<file path=ppt/slides/slide12.xml><?xml version="1.0" encoding="utf-8"?>
<ns0:sld xmlns:a="http://schemas.openxmlformats.org/drawingml/2006/main" xmlns:ns0="http://schemas.openxmlformats.org/presentationml/2006/main">
  <ns0:cSld name="Slide 12">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QUẢN TRỊ RỦI RO</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Nhìn thẳng rủi ro — và giải pháp ứng phó cho từng cái</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12</a:t>
            </a:r>
            <a:endParaRPr lang="en-US" sz="1050" dirty="0"/>
          </a:p>
        </ns0:txBody>
      </ns0:sp>
      <ns0:sp>
        <ns0:nvSpPr>
          <ns0:cNvPr id="7" name="Shape 5"/>
          <ns0:cNvSpPr/>
          <ns0:nvPr/>
        </ns0:nvSpPr>
        <ns0:spPr>
          <a:xfrm>
            <a:off x="502920" y="1828800"/>
            <a:ext cx="11183112" cy="969264"/>
          </a:xfrm>
          <a:prstGeom prst="roundRect">
            <a:avLst>
              <a:gd name="adj" fmla="val 6604"/>
            </a:avLst>
          </a:prstGeom>
          <a:solidFill>
            <a:srgbClr val="FFFFFF"/>
          </a:solidFill>
          <a:ln w="9525">
            <a:solidFill>
              <a:srgbClr val="DCEBE6"/>
            </a:solidFill>
            <a:prstDash val="solid"/>
          </a:ln>
        </ns0:spPr>
      </ns0:sp>
      <ns0:sp>
        <ns0:nvSpPr>
          <ns0:cNvPr id="8" name="Shape 6"/>
          <ns0:cNvSpPr/>
          <ns0:nvPr/>
        </ns0:nvSpPr>
        <ns0:spPr>
          <a:xfrm>
            <a:off x="704088" y="2130552"/>
            <a:ext cx="777240" cy="365760"/>
          </a:xfrm>
          <a:prstGeom prst="roundRect">
            <a:avLst>
              <a:gd name="adj" fmla="val 50000"/>
            </a:avLst>
          </a:prstGeom>
          <a:solidFill>
            <a:srgbClr val="E8590C"/>
          </a:solidFill>
          <a:ln/>
        </ns0:spPr>
      </ns0:sp>
      <ns0:sp>
        <ns0:nvSpPr>
          <ns0:cNvPr id="9" name="Text 7"/>
          <ns0:cNvSpPr/>
          <ns0:nvPr/>
        </ns0:nvSpPr>
        <ns0:spPr>
          <a:xfrm>
            <a:off x="704088" y="2130552"/>
            <a:ext cx="777240" cy="365760"/>
          </a:xfrm>
          <a:prstGeom prst="rect">
            <a:avLst/>
          </a:prstGeom>
          <a:noFill/>
          <a:ln/>
        </ns0:spPr>
        <ns0: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CAO</a:t>
            </a:r>
            <a:endParaRPr lang="en-US" sz="1050" dirty="0"/>
          </a:p>
        </ns0:txBody>
      </ns0:sp>
      <ns0:sp>
        <ns0:nvSpPr>
          <ns0:cNvPr id="10" name="Text 8"/>
          <ns0:cNvSpPr/>
          <ns0:nvPr/>
        </ns0:nvSpPr>
        <ns0:spPr>
          <a:xfrm>
            <a:off x="2331720" y="1938528"/>
            <a:ext cx="3291840" cy="777240"/>
          </a:xfrm>
          <a:prstGeom prst="rect">
            <a:avLst/>
          </a:prstGeom>
          <a:noFill/>
          <a:ln/>
        </ns0:spPr>
        <ns0:txBody>
          <a:bodyPr wrap="square" lIns="0" tIns="0" rIns="0" bIns="0" rtlCol="0" anchor="ctr"/>
          <a:lstStyle/>
          <a:p>
            <a:pPr indent="0" marL="0">
              <a:lnSpc>
                <a:spcPct val="105000"/>
              </a:lnSpc>
              <a:buNone/>
            </a:pPr>
            <a:r>
              <a:rPr lang="en-US" sz="1350" b="1" dirty="0">
                <a:solidFill>
                  <a:srgbClr val="16302B"/>
                </a:solidFill>
                <a:latin typeface="Segoe UI" pitchFamily="34" charset="0"/>
                <a:ea typeface="Segoe UI" pitchFamily="34" charset="-122"/>
                <a:cs typeface="Segoe UI" pitchFamily="34" charset="-120"/>
              </a:rPr>
              <a:t>Ranh giới pháp lý với “khám chữa bệnh”</a:t>
            </a:r>
            <a:endParaRPr lang="en-US" sz="1350" dirty="0"/>
          </a:p>
        </ns0:txBody>
      </ns0:sp>
      <ns0:sp>
        <ns0:nvSpPr>
          <ns0:cNvPr id="11" name="Text 9"/>
          <ns0:cNvSpPr/>
          <ns0:nvPr/>
        </ns0:nvSpPr>
        <ns0:spPr>
          <a:xfrm>
            <a:off x="5852160" y="1901952"/>
            <a:ext cx="5623560" cy="859536"/>
          </a:xfrm>
          <a:prstGeom prst="rect">
            <a:avLst/>
          </a:prstGeom>
          <a:noFill/>
          <a:ln/>
        </ns0:spPr>
        <ns0:txBody>
          <a:bodyPr wrap="square" lIns="0" tIns="0" rIns="0" bIns="0" rtlCol="0" anchor="ctr"/>
          <a:lstStyle/>
          <a:p>
            <a:pPr indent="0" marL="0">
              <a:lnSpc>
                <a:spcPct val="110000"/>
              </a:lnSpc>
              <a:buNone/>
            </a:pPr>
            <a:r>
              <a:rPr lang="en-US" sz="1080" b="1" dirty="0">
                <a:solidFill>
                  <a:srgbClr val="0E7C6B"/>
                </a:solidFill>
                <a:latin typeface="Segoe UI" pitchFamily="34" charset="0"/>
                <a:ea typeface="Segoe UI" pitchFamily="34" charset="-122"/>
                <a:cs typeface="Segoe UI" pitchFamily="34" charset="-120"/>
              </a:rPr>
              <a:t>Giải pháp:  </a:t>
            </a:r>
            <a:r>
              <a:rPr lang="en-US" sz="1080" dirty="0">
                <a:solidFill>
                  <a:srgbClr val="5C7370"/>
                </a:solidFill>
                <a:latin typeface="Segoe UI" pitchFamily="34" charset="0"/>
                <a:ea typeface="Segoe UI" pitchFamily="34" charset="-122"/>
                <a:cs typeface="Segoe UI" pitchFamily="34" charset="-120"/>
              </a:rPr>
              <a:t>Định vị chăm sóc – thư giãn – hỗ trợ vận động; không khám bệnh, không kê thuốc, không thực hiện kỹ thuật thuộc phạm vi khám chữa bệnh (Luật Khám bệnh, chữa bệnh 2023; Nghị định 96/2023/NĐ-CP); bác sĩ y học cổ truyền cộng tác; kỹ thuật viên thi chứng chỉ nghề.</a:t>
            </a:r>
            <a:endParaRPr lang="en-US" sz="1080" dirty="0"/>
          </a:p>
        </ns0:txBody>
      </ns0:sp>
      <ns0:sp>
        <ns0:nvSpPr>
          <ns0:cNvPr id="12" name="Shape 10"/>
          <ns0:cNvSpPr/>
          <ns0:nvPr/>
        </ns0:nvSpPr>
        <ns0:spPr>
          <a:xfrm>
            <a:off x="502920" y="2907792"/>
            <a:ext cx="11183112" cy="969264"/>
          </a:xfrm>
          <a:prstGeom prst="roundRect">
            <a:avLst>
              <a:gd name="adj" fmla="val 6604"/>
            </a:avLst>
          </a:prstGeom>
          <a:solidFill>
            <a:srgbClr val="F4FAF8"/>
          </a:solidFill>
          <a:ln w="9525">
            <a:solidFill>
              <a:srgbClr val="DCEBE6"/>
            </a:solidFill>
            <a:prstDash val="solid"/>
          </a:ln>
        </ns0:spPr>
      </ns0:sp>
      <ns0:sp>
        <ns0:nvSpPr>
          <ns0:cNvPr id="13" name="Shape 11"/>
          <ns0:cNvSpPr/>
          <ns0:nvPr/>
        </ns0:nvSpPr>
        <ns0:spPr>
          <a:xfrm>
            <a:off x="704088" y="3209544"/>
            <a:ext cx="777240" cy="365760"/>
          </a:xfrm>
          <a:prstGeom prst="roundRect">
            <a:avLst>
              <a:gd name="adj" fmla="val 50000"/>
            </a:avLst>
          </a:prstGeom>
          <a:solidFill>
            <a:srgbClr val="E8590C"/>
          </a:solidFill>
          <a:ln/>
        </ns0:spPr>
      </ns0:sp>
      <ns0:sp>
        <ns0:nvSpPr>
          <ns0:cNvPr id="14" name="Text 12"/>
          <ns0:cNvSpPr/>
          <ns0:nvPr/>
        </ns0:nvSpPr>
        <ns0:spPr>
          <a:xfrm>
            <a:off x="704088" y="3209544"/>
            <a:ext cx="777240" cy="365760"/>
          </a:xfrm>
          <a:prstGeom prst="rect">
            <a:avLst/>
          </a:prstGeom>
          <a:noFill/>
          <a:ln/>
        </ns0:spPr>
        <ns0: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CAO</a:t>
            </a:r>
            <a:endParaRPr lang="en-US" sz="1050" dirty="0"/>
          </a:p>
        </ns0:txBody>
      </ns0:sp>
      <ns0:sp>
        <ns0:nvSpPr>
          <ns0:cNvPr id="15" name="Text 13"/>
          <ns0:cNvSpPr/>
          <ns0:nvPr/>
        </ns0:nvSpPr>
        <ns0:spPr>
          <a:xfrm>
            <a:off x="2331720" y="3017520"/>
            <a:ext cx="3291840" cy="777240"/>
          </a:xfrm>
          <a:prstGeom prst="rect">
            <a:avLst/>
          </a:prstGeom>
          <a:noFill/>
          <a:ln/>
        </ns0:spPr>
        <ns0:txBody>
          <a:bodyPr wrap="square" lIns="0" tIns="0" rIns="0" bIns="0" rtlCol="0" anchor="ctr"/>
          <a:lstStyle/>
          <a:p>
            <a:pPr indent="0" marL="0">
              <a:lnSpc>
                <a:spcPct val="105000"/>
              </a:lnSpc>
              <a:buNone/>
            </a:pPr>
            <a:r>
              <a:rPr lang="en-US" sz="1350" b="1" dirty="0">
                <a:solidFill>
                  <a:srgbClr val="16302B"/>
                </a:solidFill>
                <a:latin typeface="Segoe UI" pitchFamily="34" charset="0"/>
                <a:ea typeface="Segoe UI" pitchFamily="34" charset="-122"/>
                <a:cs typeface="Segoe UI" pitchFamily="34" charset="-120"/>
              </a:rPr>
              <a:t>Sự cố với khách có bệnh nền</a:t>
            </a:r>
            <a:endParaRPr lang="en-US" sz="1350" dirty="0"/>
          </a:p>
        </ns0:txBody>
      </ns0:sp>
      <ns0:sp>
        <ns0:nvSpPr>
          <ns0:cNvPr id="16" name="Text 14"/>
          <ns0:cNvSpPr/>
          <ns0:nvPr/>
        </ns0:nvSpPr>
        <ns0:spPr>
          <a:xfrm>
            <a:off x="5852160" y="2980944"/>
            <a:ext cx="5623560" cy="859536"/>
          </a:xfrm>
          <a:prstGeom prst="rect">
            <a:avLst/>
          </a:prstGeom>
          <a:noFill/>
          <a:ln/>
        </ns0:spPr>
        <ns0:txBody>
          <a:bodyPr wrap="square" lIns="0" tIns="0" rIns="0" bIns="0" rtlCol="0" anchor="ctr"/>
          <a:lstStyle/>
          <a:p>
            <a:pPr indent="0" marL="0">
              <a:lnSpc>
                <a:spcPct val="110000"/>
              </a:lnSpc>
              <a:buNone/>
            </a:pPr>
            <a:r>
              <a:rPr lang="en-US" sz="1080" b="1" dirty="0">
                <a:solidFill>
                  <a:srgbClr val="0E7C6B"/>
                </a:solidFill>
                <a:latin typeface="Segoe UI" pitchFamily="34" charset="0"/>
                <a:ea typeface="Segoe UI" pitchFamily="34" charset="-122"/>
                <a:cs typeface="Segoe UI" pitchFamily="34" charset="-120"/>
              </a:rPr>
              <a:t>Giải pháp:  </a:t>
            </a:r>
            <a:r>
              <a:rPr lang="en-US" sz="1080" dirty="0">
                <a:solidFill>
                  <a:srgbClr val="5C7370"/>
                </a:solidFill>
                <a:latin typeface="Segoe UI" pitchFamily="34" charset="0"/>
                <a:ea typeface="Segoe UI" pitchFamily="34" charset="-122"/>
                <a:cs typeface="Segoe UI" pitchFamily="34" charset="-120"/>
              </a:rPr>
              <a:t>Khảo sát bắt buộc buổi đầu (hỏi bệnh nền, đo huyết áp); từ chối hoặc khuyên đi khám khi có chống chỉ định; mua bảo hiểm trách nhiệm dịch vụ.</a:t>
            </a:r>
            <a:endParaRPr lang="en-US" sz="1080" dirty="0"/>
          </a:p>
        </ns0:txBody>
      </ns0:sp>
      <ns0:sp>
        <ns0:nvSpPr>
          <ns0:cNvPr id="17" name="Shape 15"/>
          <ns0:cNvSpPr/>
          <ns0:nvPr/>
        </ns0:nvSpPr>
        <ns0:spPr>
          <a:xfrm>
            <a:off x="502920" y="3986784"/>
            <a:ext cx="11183112" cy="969264"/>
          </a:xfrm>
          <a:prstGeom prst="roundRect">
            <a:avLst>
              <a:gd name="adj" fmla="val 6604"/>
            </a:avLst>
          </a:prstGeom>
          <a:solidFill>
            <a:srgbClr val="FFFFFF"/>
          </a:solidFill>
          <a:ln w="9525">
            <a:solidFill>
              <a:srgbClr val="DCEBE6"/>
            </a:solidFill>
            <a:prstDash val="solid"/>
          </a:ln>
        </ns0:spPr>
      </ns0:sp>
      <ns0:sp>
        <ns0:nvSpPr>
          <ns0:cNvPr id="18" name="Shape 16"/>
          <ns0:cNvSpPr/>
          <ns0:nvPr/>
        </ns0:nvSpPr>
        <ns0:spPr>
          <a:xfrm>
            <a:off x="704088" y="4288536"/>
            <a:ext cx="1417320" cy="365760"/>
          </a:xfrm>
          <a:prstGeom prst="roundRect">
            <a:avLst>
              <a:gd name="adj" fmla="val 50000"/>
            </a:avLst>
          </a:prstGeom>
          <a:solidFill>
            <a:srgbClr val="2AA88F"/>
          </a:solidFill>
          <a:ln/>
        </ns0:spPr>
      </ns0:sp>
      <ns0:sp>
        <ns0:nvSpPr>
          <ns0:cNvPr id="19" name="Text 17"/>
          <ns0:cNvSpPr/>
          <ns0:nvPr/>
        </ns0:nvSpPr>
        <ns0:spPr>
          <a:xfrm>
            <a:off x="704088" y="4288536"/>
            <a:ext cx="1417320" cy="365760"/>
          </a:xfrm>
          <a:prstGeom prst="rect">
            <a:avLst/>
          </a:prstGeom>
          <a:noFill/>
          <a:ln/>
        </ns0:spPr>
        <ns0: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TRUNG BÌNH</a:t>
            </a:r>
            <a:endParaRPr lang="en-US" sz="1050" dirty="0"/>
          </a:p>
        </ns0:txBody>
      </ns0:sp>
      <ns0:sp>
        <ns0:nvSpPr>
          <ns0:cNvPr id="20" name="Text 18"/>
          <ns0:cNvSpPr/>
          <ns0:nvPr/>
        </ns0:nvSpPr>
        <ns0:spPr>
          <a:xfrm>
            <a:off x="2331720" y="4096512"/>
            <a:ext cx="3291840" cy="777240"/>
          </a:xfrm>
          <a:prstGeom prst="rect">
            <a:avLst/>
          </a:prstGeom>
          <a:noFill/>
          <a:ln/>
        </ns0:spPr>
        <ns0:txBody>
          <a:bodyPr wrap="square" lIns="0" tIns="0" rIns="0" bIns="0" rtlCol="0" anchor="ctr"/>
          <a:lstStyle/>
          <a:p>
            <a:pPr indent="0" marL="0">
              <a:lnSpc>
                <a:spcPct val="105000"/>
              </a:lnSpc>
              <a:buNone/>
            </a:pPr>
            <a:r>
              <a:rPr lang="en-US" sz="1350" b="1" dirty="0">
                <a:solidFill>
                  <a:srgbClr val="16302B"/>
                </a:solidFill>
                <a:latin typeface="Segoe UI" pitchFamily="34" charset="0"/>
                <a:ea typeface="Segoe UI" pitchFamily="34" charset="-122"/>
                <a:cs typeface="Segoe UI" pitchFamily="34" charset="-120"/>
              </a:rPr>
              <a:t>Nhân lực và tay nghề</a:t>
            </a:r>
            <a:endParaRPr lang="en-US" sz="1350" dirty="0"/>
          </a:p>
        </ns0:txBody>
      </ns0:sp>
      <ns0:sp>
        <ns0:nvSpPr>
          <ns0:cNvPr id="21" name="Text 19"/>
          <ns0:cNvSpPr/>
          <ns0:nvPr/>
        </ns0:nvSpPr>
        <ns0:spPr>
          <a:xfrm>
            <a:off x="5852160" y="4059936"/>
            <a:ext cx="5623560" cy="859536"/>
          </a:xfrm>
          <a:prstGeom prst="rect">
            <a:avLst/>
          </a:prstGeom>
          <a:noFill/>
          <a:ln/>
        </ns0:spPr>
        <ns0:txBody>
          <a:bodyPr wrap="square" lIns="0" tIns="0" rIns="0" bIns="0" rtlCol="0" anchor="ctr"/>
          <a:lstStyle/>
          <a:p>
            <a:pPr indent="0" marL="0">
              <a:lnSpc>
                <a:spcPct val="110000"/>
              </a:lnSpc>
              <a:buNone/>
            </a:pPr>
            <a:r>
              <a:rPr lang="en-US" sz="1080" b="1" dirty="0">
                <a:solidFill>
                  <a:srgbClr val="0E7C6B"/>
                </a:solidFill>
                <a:latin typeface="Segoe UI" pitchFamily="34" charset="0"/>
                <a:ea typeface="Segoe UI" pitchFamily="34" charset="-122"/>
                <a:cs typeface="Segoe UI" pitchFamily="34" charset="-120"/>
              </a:rPr>
              <a:t>Giải pháp:  </a:t>
            </a:r>
            <a:r>
              <a:rPr lang="en-US" sz="1080" dirty="0">
                <a:solidFill>
                  <a:srgbClr val="5C7370"/>
                </a:solidFill>
                <a:latin typeface="Segoe UI" pitchFamily="34" charset="0"/>
                <a:ea typeface="Segoe UI" pitchFamily="34" charset="-122"/>
                <a:cs typeface="Segoe UI" pitchFamily="34" charset="-120"/>
              </a:rPr>
              <a:t>Đào tạo nội bộ theo giáo trình chuẩn, kèm cặp thực tế; chất lượng đo bằng đánh giá sau mỗi buổi; người dạy nghề giữ cổ phần nhỏ.</a:t>
            </a:r>
            <a:endParaRPr lang="en-US" sz="1080" dirty="0"/>
          </a:p>
        </ns0:txBody>
      </ns0:sp>
      <ns0:sp>
        <ns0:nvSpPr>
          <ns0:cNvPr id="22" name="Shape 20"/>
          <ns0:cNvSpPr/>
          <ns0:nvPr/>
        </ns0:nvSpPr>
        <ns0:spPr>
          <a:xfrm>
            <a:off x="502920" y="5065776"/>
            <a:ext cx="11183112" cy="969264"/>
          </a:xfrm>
          <a:prstGeom prst="roundRect">
            <a:avLst>
              <a:gd name="adj" fmla="val 6604"/>
            </a:avLst>
          </a:prstGeom>
          <a:solidFill>
            <a:srgbClr val="F4FAF8"/>
          </a:solidFill>
          <a:ln w="9525">
            <a:solidFill>
              <a:srgbClr val="DCEBE6"/>
            </a:solidFill>
            <a:prstDash val="solid"/>
          </a:ln>
        </ns0:spPr>
      </ns0:sp>
      <ns0:sp>
        <ns0:nvSpPr>
          <ns0:cNvPr id="23" name="Shape 21"/>
          <ns0:cNvSpPr/>
          <ns0:nvPr/>
        </ns0:nvSpPr>
        <ns0:spPr>
          <a:xfrm>
            <a:off x="704088" y="5367528"/>
            <a:ext cx="1417320" cy="365760"/>
          </a:xfrm>
          <a:prstGeom prst="roundRect">
            <a:avLst>
              <a:gd name="adj" fmla="val 50000"/>
            </a:avLst>
          </a:prstGeom>
          <a:solidFill>
            <a:srgbClr val="2AA88F"/>
          </a:solidFill>
          <a:ln/>
        </ns0:spPr>
      </ns0:sp>
      <ns0:sp>
        <ns0:nvSpPr>
          <ns0:cNvPr id="24" name="Text 22"/>
          <ns0:cNvSpPr/>
          <ns0:nvPr/>
        </ns0:nvSpPr>
        <ns0:spPr>
          <a:xfrm>
            <a:off x="704088" y="5367528"/>
            <a:ext cx="1417320" cy="365760"/>
          </a:xfrm>
          <a:prstGeom prst="rect">
            <a:avLst/>
          </a:prstGeom>
          <a:noFill/>
          <a:ln/>
        </ns0:spPr>
        <ns0:txBody>
          <a:bodyPr wrap="square" lIns="0" tIns="0" rIns="0" bIns="0" rtlCol="0" anchor="ctr"/>
          <a:lstStyle/>
          <a:p>
            <a:pPr algn="ctr" indent="0" marL="0">
              <a:buNone/>
            </a:pPr>
            <a:r>
              <a:rPr lang="en-US" sz="1050" b="1" dirty="0">
                <a:solidFill>
                  <a:srgbClr val="FFFFFF"/>
                </a:solidFill>
                <a:latin typeface="Segoe UI" pitchFamily="34" charset="0"/>
                <a:ea typeface="Segoe UI" pitchFamily="34" charset="-122"/>
                <a:cs typeface="Segoe UI" pitchFamily="34" charset="-120"/>
              </a:rPr>
              <a:t>TRUNG BÌNH</a:t>
            </a:r>
            <a:endParaRPr lang="en-US" sz="1050" dirty="0"/>
          </a:p>
        </ns0:txBody>
      </ns0:sp>
      <ns0:sp>
        <ns0:nvSpPr>
          <ns0:cNvPr id="25" name="Text 23"/>
          <ns0:cNvSpPr/>
          <ns0:nvPr/>
        </ns0:nvSpPr>
        <ns0:spPr>
          <a:xfrm>
            <a:off x="2331720" y="5175504"/>
            <a:ext cx="3291840" cy="777240"/>
          </a:xfrm>
          <a:prstGeom prst="rect">
            <a:avLst/>
          </a:prstGeom>
          <a:noFill/>
          <a:ln/>
        </ns0:spPr>
        <ns0:txBody>
          <a:bodyPr wrap="square" lIns="0" tIns="0" rIns="0" bIns="0" rtlCol="0" anchor="ctr"/>
          <a:lstStyle/>
          <a:p>
            <a:pPr indent="0" marL="0">
              <a:lnSpc>
                <a:spcPct val="105000"/>
              </a:lnSpc>
              <a:buNone/>
            </a:pPr>
            <a:r>
              <a:rPr lang="en-US" sz="1350" b="1" dirty="0">
                <a:solidFill>
                  <a:srgbClr val="16302B"/>
                </a:solidFill>
                <a:latin typeface="Segoe UI" pitchFamily="34" charset="0"/>
                <a:ea typeface="Segoe UI" pitchFamily="34" charset="-122"/>
                <a:cs typeface="Segoe UI" pitchFamily="34" charset="-120"/>
              </a:rPr>
              <a:t>Cạnh tranh về giá</a:t>
            </a:r>
            <a:endParaRPr lang="en-US" sz="1350" dirty="0"/>
          </a:p>
        </ns0:txBody>
      </ns0:sp>
      <ns0:sp>
        <ns0:nvSpPr>
          <ns0:cNvPr id="26" name="Text 24"/>
          <ns0:cNvSpPr/>
          <ns0:nvPr/>
        </ns0:nvSpPr>
        <ns0:spPr>
          <a:xfrm>
            <a:off x="5852160" y="5138928"/>
            <a:ext cx="5623560" cy="859536"/>
          </a:xfrm>
          <a:prstGeom prst="rect">
            <a:avLst/>
          </a:prstGeom>
          <a:noFill/>
          <a:ln/>
        </ns0:spPr>
        <ns0:txBody>
          <a:bodyPr wrap="square" lIns="0" tIns="0" rIns="0" bIns="0" rtlCol="0" anchor="ctr"/>
          <a:lstStyle/>
          <a:p>
            <a:pPr indent="0" marL="0">
              <a:lnSpc>
                <a:spcPct val="110000"/>
              </a:lnSpc>
              <a:buNone/>
            </a:pPr>
            <a:r>
              <a:rPr lang="en-US" sz="1080" b="1" dirty="0">
                <a:solidFill>
                  <a:srgbClr val="0E7C6B"/>
                </a:solidFill>
                <a:latin typeface="Segoe UI" pitchFamily="34" charset="0"/>
                <a:ea typeface="Segoe UI" pitchFamily="34" charset="-122"/>
                <a:cs typeface="Segoe UI" pitchFamily="34" charset="-120"/>
              </a:rPr>
              <a:t>Giải pháp:  </a:t>
            </a:r>
            <a:r>
              <a:rPr lang="en-US" sz="1080" dirty="0">
                <a:solidFill>
                  <a:srgbClr val="5C7370"/>
                </a:solidFill>
                <a:latin typeface="Segoe UI" pitchFamily="34" charset="0"/>
                <a:ea typeface="Segoe UI" pitchFamily="34" charset="-122"/>
                <a:cs typeface="Segoe UI" pitchFamily="34" charset="-120"/>
              </a:rPr>
              <a:t>Không đua giá rẻ nhất; cạnh tranh bằng quy trình an toàn và niềm tin; gói combo &amp; CarePlus giữ khách dài hạn.</a:t>
            </a:r>
            <a:endParaRPr lang="en-US" sz="1080" dirty="0"/>
          </a:p>
        </ns0:txBody>
      </ns0:sp>
      <ns0:sp>
        <ns0:nvSpPr>
          <ns0:cNvPr id="27" name="Text 25"/>
          <ns0:cNvSpPr/>
          <ns0:nvPr/>
        </ns0:nvSpPr>
        <ns0:spPr>
          <a:xfrm>
            <a:off x="502920" y="6473952"/>
            <a:ext cx="11155680" cy="274320"/>
          </a:xfrm>
          <a:prstGeom prst="rect">
            <a:avLst/>
          </a:prstGeom>
          <a:noFill/>
          <a:ln/>
        </ns0:spPr>
        <ns0:txBody>
          <a:bodyPr wrap="square" lIns="0" tIns="0" rIns="0" bIns="0" rtlCol="0" anchor="ctr"/>
          <a:lstStyle/>
          <a:p>
            <a:pPr indent="0" marL="0">
              <a:buNone/>
            </a:pPr>
            <a:r>
              <a:rPr lang="en-US" sz="1050" i="1" dirty="0">
                <a:solidFill>
                  <a:srgbClr val="5C7370"/>
                </a:solidFill>
                <a:latin typeface="Segoe UI" pitchFamily="34" charset="0"/>
                <a:ea typeface="Segoe UI" pitchFamily="34" charset="-122"/>
                <a:cs typeface="Segoe UI" pitchFamily="34" charset="-120"/>
              </a:rPr>
              <a:t>Đánh giá rủi ro của nhóm dựa trên quy định hiện hành về massage – xoa bóp (Luật Khám bệnh, chữa bệnh 2023; Nghị định 96/2023/NĐ-CP) và khảo sát thực địa.</a:t>
            </a:r>
            <a:endParaRPr lang="en-US" sz="105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90"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400"/>
                                  </ns0:stCondLst>
                                  <ns0:childTnLst>
                                    <ns0:set>
                                      <ns0:cBhvr>
                                        <ns0:cTn id="21" dur="1" fill="hold">
                                          <ns0:stCondLst>
                                            <ns0:cond delay="0"/>
                                          </ns0:stCondLst>
                                        </ns0:cTn>
                                        <ns0:tgtEl>
                                          <ns0:spTgt spid="11"/>
                                        </ns0:tgtEl>
                                        <ns0:attrNameLst>
                                          <ns0:attrName>style.visibility</ns0:attrName>
                                        </ns0:attrNameLst>
                                      </ns0:cBhvr>
                                      <ns0:to>
                                        <ns0:strVal val="visible"/>
                                      </ns0:to>
                                    </ns0:set>
                                    <ns0:animEffect transition="in" filter="fade">
                                      <ns0:cBhvr>
                                        <ns0:cTn id="22" dur="500"/>
                                        <ns0:tgtEl>
                                          <ns0:spTgt spid="11"/>
                                        </ns0:tgtEl>
                                      </ns0:cBhvr>
                                    </ns0:animEffect>
                                    <ns0:anim calcmode="lin" valueType="num">
                                      <ns0:cBhvr additive="base">
                                        <ns0:cTn id="2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4" fill="hold">
                      <ns0:stCondLst>
                        <ns0:cond delay="indefinite"/>
                      </ns0:stCondLst>
                      <ns0:childTnLst>
                        <ns0:par>
                          <ns0:cTn id="25" fill="hold">
                            <ns0:stCondLst>
                              <ns0:cond delay="0"/>
                            </ns0:stCondLst>
                            <ns0:childTnLst>
                              <ns0:par>
                                <ns0:cTn id="26" presetID="42" presetClass="entr" presetSubtype="0" fill="hold" grpId="0" nodeType="clickEffect">
                                  <ns0:stCondLst>
                                    <ns0:cond delay="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1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2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38" presetID="42" presetClass="entr" presetSubtype="0" fill="hold" grpId="0" nodeType="withEffect">
                                  <ns0:stCondLst>
                                    <ns0:cond delay="300"/>
                                  </ns0:stCondLst>
                                  <ns0:childTnLst>
                                    <ns0:set>
                                      <ns0:cBhvr>
                                        <ns0:cTn id="39" dur="1" fill="hold">
                                          <ns0:stCondLst>
                                            <ns0:cond delay="0"/>
                                          </ns0:stCondLst>
                                        </ns0:cTn>
                                        <ns0:tgtEl>
                                          <ns0:spTgt spid="15"/>
                                        </ns0:tgtEl>
                                        <ns0:attrNameLst>
                                          <ns0:attrName>style.visibility</ns0:attrName>
                                        </ns0:attrNameLst>
                                      </ns0:cBhvr>
                                      <ns0:to>
                                        <ns0:strVal val="visible"/>
                                      </ns0:to>
                                    </ns0:set>
                                    <ns0:animEffect transition="in" filter="fade">
                                      <ns0:cBhvr>
                                        <ns0:cTn id="40" dur="500"/>
                                        <ns0:tgtEl>
                                          <ns0:spTgt spid="15"/>
                                        </ns0:tgtEl>
                                      </ns0:cBhvr>
                                    </ns0:animEffect>
                                    <ns0:anim calcmode="lin" valueType="num">
                                      <ns0:cBhvr additive="base">
                                        <ns0:cTn id="4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2" presetID="42" presetClass="entr" presetSubtype="0" fill="hold" grpId="0" nodeType="withEffect">
                                  <ns0:stCondLst>
                                    <ns0:cond delay="400"/>
                                  </ns0:stCondLst>
                                  <ns0:childTnLst>
                                    <ns0:set>
                                      <ns0:cBhvr>
                                        <ns0:cTn id="43" dur="1" fill="hold">
                                          <ns0:stCondLst>
                                            <ns0:cond delay="0"/>
                                          </ns0:stCondLst>
                                        </ns0:cTn>
                                        <ns0:tgtEl>
                                          <ns0:spTgt spid="16"/>
                                        </ns0:tgtEl>
                                        <ns0:attrNameLst>
                                          <ns0:attrName>style.visibility</ns0:attrName>
                                        </ns0:attrNameLst>
                                      </ns0:cBhvr>
                                      <ns0:to>
                                        <ns0:strVal val="visible"/>
                                      </ns0:to>
                                    </ns0:set>
                                    <ns0:animEffect transition="in" filter="fade">
                                      <ns0:cBhvr>
                                        <ns0:cTn id="44" dur="500"/>
                                        <ns0:tgtEl>
                                          <ns0:spTgt spid="16"/>
                                        </ns0:tgtEl>
                                      </ns0:cBhvr>
                                    </ns0:animEffect>
                                    <ns0:anim calcmode="lin" valueType="num">
                                      <ns0:cBhvr additive="base">
                                        <ns0:cTn id="4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46" fill="hold">
                      <ns0:stCondLst>
                        <ns0:cond delay="indefinite"/>
                      </ns0:stCondLst>
                      <ns0:childTnLst>
                        <ns0:par>
                          <ns0:cTn id="47" fill="hold">
                            <ns0:stCondLst>
                              <ns0:cond delay="0"/>
                            </ns0:stCondLst>
                            <ns0:childTnLst>
                              <ns0:par>
                                <ns0:cTn id="48" presetID="42" presetClass="entr" presetSubtype="0" fill="hold" grpId="0" nodeType="clickEffect">
                                  <ns0:stCondLst>
                                    <ns0:cond delay="0"/>
                                  </ns0:stCondLst>
                                  <ns0:childTnLst>
                                    <ns0:set>
                                      <ns0:cBhvr>
                                        <ns0:cTn id="49" dur="1" fill="hold">
                                          <ns0:stCondLst>
                                            <ns0:cond delay="0"/>
                                          </ns0:stCondLst>
                                        </ns0:cTn>
                                        <ns0:tgtEl>
                                          <ns0:spTgt spid="17"/>
                                        </ns0:tgtEl>
                                        <ns0:attrNameLst>
                                          <ns0:attrName>style.visibility</ns0:attrName>
                                        </ns0:attrNameLst>
                                      </ns0:cBhvr>
                                      <ns0:to>
                                        <ns0:strVal val="visible"/>
                                      </ns0:to>
                                    </ns0:set>
                                    <ns0:animEffect transition="in" filter="fade">
                                      <ns0:cBhvr>
                                        <ns0:cTn id="50" dur="500"/>
                                        <ns0:tgtEl>
                                          <ns0:spTgt spid="17"/>
                                        </ns0:tgtEl>
                                      </ns0:cBhvr>
                                    </ns0:animEffect>
                                    <ns0:anim calcmode="lin" valueType="num">
                                      <ns0:cBhvr additive="base">
                                        <ns0:cTn id="51"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52" presetID="42" presetClass="entr" presetSubtype="0" fill="hold" grpId="0" nodeType="withEffect">
                                  <ns0:stCondLst>
                                    <ns0:cond delay="10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200"/>
                                  </ns0:stCondLst>
                                  <ns0:childTnLst>
                                    <ns0:set>
                                      <ns0:cBhvr>
                                        <ns0:cTn id="57" dur="1" fill="hold">
                                          <ns0:stCondLst>
                                            <ns0:cond delay="0"/>
                                          </ns0:stCondLst>
                                        </ns0:cTn>
                                        <ns0:tgtEl>
                                          <ns0:spTgt spid="19"/>
                                        </ns0:tgtEl>
                                        <ns0:attrNameLst>
                                          <ns0:attrName>style.visibility</ns0:attrName>
                                        </ns0:attrNameLst>
                                      </ns0:cBhvr>
                                      <ns0:to>
                                        <ns0:strVal val="visible"/>
                                      </ns0:to>
                                    </ns0:set>
                                    <ns0:animEffect transition="in" filter="fade">
                                      <ns0:cBhvr>
                                        <ns0:cTn id="58" dur="500"/>
                                        <ns0:tgtEl>
                                          <ns0:spTgt spid="19"/>
                                        </ns0:tgtEl>
                                      </ns0:cBhvr>
                                    </ns0:animEffect>
                                    <ns0:anim calcmode="lin" valueType="num">
                                      <ns0:cBhvr additive="base">
                                        <ns0:cTn id="59"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300"/>
                                  </ns0:stCondLst>
                                  <ns0:childTnLst>
                                    <ns0:set>
                                      <ns0:cBhvr>
                                        <ns0:cTn id="61" dur="1" fill="hold">
                                          <ns0:stCondLst>
                                            <ns0:cond delay="0"/>
                                          </ns0:stCondLst>
                                        </ns0:cTn>
                                        <ns0:tgtEl>
                                          <ns0:spTgt spid="20"/>
                                        </ns0:tgtEl>
                                        <ns0:attrNameLst>
                                          <ns0:attrName>style.visibility</ns0:attrName>
                                        </ns0:attrNameLst>
                                      </ns0:cBhvr>
                                      <ns0:to>
                                        <ns0:strVal val="visible"/>
                                      </ns0:to>
                                    </ns0:set>
                                    <ns0:animEffect transition="in" filter="fade">
                                      <ns0:cBhvr>
                                        <ns0:cTn id="62" dur="500"/>
                                        <ns0:tgtEl>
                                          <ns0:spTgt spid="20"/>
                                        </ns0:tgtEl>
                                      </ns0:cBhvr>
                                    </ns0:animEffect>
                                    <ns0:anim calcmode="lin" valueType="num">
                                      <ns0:cBhvr additive="base">
                                        <ns0:cTn id="63"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64" presetID="42" presetClass="entr" presetSubtype="0" fill="hold" grpId="0" nodeType="withEffect">
                                  <ns0:stCondLst>
                                    <ns0:cond delay="400"/>
                                  </ns0:stCondLst>
                                  <ns0:childTnLst>
                                    <ns0:set>
                                      <ns0:cBhvr>
                                        <ns0:cTn id="65" dur="1" fill="hold">
                                          <ns0:stCondLst>
                                            <ns0:cond delay="0"/>
                                          </ns0:stCondLst>
                                        </ns0:cTn>
                                        <ns0:tgtEl>
                                          <ns0:spTgt spid="21"/>
                                        </ns0:tgtEl>
                                        <ns0:attrNameLst>
                                          <ns0:attrName>style.visibility</ns0:attrName>
                                        </ns0:attrNameLst>
                                      </ns0:cBhvr>
                                      <ns0:to>
                                        <ns0:strVal val="visible"/>
                                      </ns0:to>
                                    </ns0:set>
                                    <ns0:animEffect transition="in" filter="fade">
                                      <ns0:cBhvr>
                                        <ns0:cTn id="66" dur="500"/>
                                        <ns0:tgtEl>
                                          <ns0:spTgt spid="21"/>
                                        </ns0:tgtEl>
                                      </ns0:cBhvr>
                                    </ns0:animEffect>
                                    <ns0:anim calcmode="lin" valueType="num">
                                      <ns0:cBhvr additive="base">
                                        <ns0:cTn id="67"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68" fill="hold">
                      <ns0:stCondLst>
                        <ns0:cond delay="indefinite"/>
                      </ns0:stCondLst>
                      <ns0:childTnLst>
                        <ns0:par>
                          <ns0:cTn id="69" fill="hold">
                            <ns0:stCondLst>
                              <ns0:cond delay="0"/>
                            </ns0:stCondLst>
                            <ns0:childTnLst>
                              <ns0:par>
                                <ns0:cTn id="70" presetID="42" presetClass="entr" presetSubtype="0" fill="hold" grpId="0" nodeType="clickEffect">
                                  <ns0:stCondLst>
                                    <ns0:cond delay="0"/>
                                  </ns0:stCondLst>
                                  <ns0:childTnLst>
                                    <ns0:set>
                                      <ns0:cBhvr>
                                        <ns0:cTn id="71" dur="1" fill="hold">
                                          <ns0:stCondLst>
                                            <ns0:cond delay="0"/>
                                          </ns0:stCondLst>
                                        </ns0:cTn>
                                        <ns0:tgtEl>
                                          <ns0:spTgt spid="22"/>
                                        </ns0:tgtEl>
                                        <ns0:attrNameLst>
                                          <ns0:attrName>style.visibility</ns0:attrName>
                                        </ns0:attrNameLst>
                                      </ns0:cBhvr>
                                      <ns0:to>
                                        <ns0:strVal val="visible"/>
                                      </ns0:to>
                                    </ns0:set>
                                    <ns0:animEffect transition="in" filter="fade">
                                      <ns0:cBhvr>
                                        <ns0:cTn id="72" dur="500"/>
                                        <ns0:tgtEl>
                                          <ns0:spTgt spid="22"/>
                                        </ns0:tgtEl>
                                      </ns0:cBhvr>
                                    </ns0:animEffect>
                                    <ns0:anim calcmode="lin" valueType="num">
                                      <ns0:cBhvr additive="base">
                                        <ns0:cTn id="73"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par>
                                <ns0:cTn id="74" presetID="42" presetClass="entr" presetSubtype="0" fill="hold" grpId="0" nodeType="withEffect">
                                  <ns0:stCondLst>
                                    <ns0:cond delay="10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par>
                                <ns0:cTn id="78" presetID="42" presetClass="entr" presetSubtype="0" fill="hold" grpId="0" nodeType="withEffect">
                                  <ns0:stCondLst>
                                    <ns0:cond delay="200"/>
                                  </ns0:stCondLst>
                                  <ns0:childTnLst>
                                    <ns0:set>
                                      <ns0:cBhvr>
                                        <ns0:cTn id="79" dur="1" fill="hold">
                                          <ns0:stCondLst>
                                            <ns0:cond delay="0"/>
                                          </ns0:stCondLst>
                                        </ns0:cTn>
                                        <ns0:tgtEl>
                                          <ns0:spTgt spid="24"/>
                                        </ns0:tgtEl>
                                        <ns0:attrNameLst>
                                          <ns0:attrName>style.visibility</ns0:attrName>
                                        </ns0:attrNameLst>
                                      </ns0:cBhvr>
                                      <ns0:to>
                                        <ns0:strVal val="visible"/>
                                      </ns0:to>
                                    </ns0:set>
                                    <ns0:animEffect transition="in" filter="fade">
                                      <ns0:cBhvr>
                                        <ns0:cTn id="80" dur="500"/>
                                        <ns0:tgtEl>
                                          <ns0:spTgt spid="24"/>
                                        </ns0:tgtEl>
                                      </ns0:cBhvr>
                                    </ns0:animEffect>
                                    <ns0:anim calcmode="lin" valueType="num">
                                      <ns0:cBhvr additive="base">
                                        <ns0:cTn id="81" dur="500" fill="hold"/>
                                        <ns0:tgtEl>
                                          <ns0:spTgt spid="24"/>
                                        </ns0:tgtEl>
                                        <ns0:attrNameLst>
                                          <ns0:attrName>ppt_y</ns0:attrName>
                                        </ns0:attrNameLst>
                                      </ns0:cBhvr>
                                      <ns0:tavLst>
                                        <ns0:tav tm="0">
                                          <ns0:val>
                                            <ns0:strVal val="#ppt_y+0.018"/>
                                          </ns0:val>
                                        </ns0:tav>
                                        <ns0:tav tm="100000">
                                          <ns0:val>
                                            <ns0:strVal val="#ppt_y"/>
                                          </ns0:val>
                                        </ns0:tav>
                                      </ns0:tavLst>
                                    </ns0:anim>
                                  </ns0:childTnLst>
                                </ns0:cTn>
                              </ns0:par>
                              <ns0:par>
                                <ns0:cTn id="82" presetID="42" presetClass="entr" presetSubtype="0" fill="hold" grpId="0" nodeType="withEffect">
                                  <ns0:stCondLst>
                                    <ns0:cond delay="300"/>
                                  </ns0:stCondLst>
                                  <ns0:childTnLst>
                                    <ns0:set>
                                      <ns0:cBhvr>
                                        <ns0:cTn id="83" dur="1" fill="hold">
                                          <ns0:stCondLst>
                                            <ns0:cond delay="0"/>
                                          </ns0:stCondLst>
                                        </ns0:cTn>
                                        <ns0:tgtEl>
                                          <ns0:spTgt spid="25"/>
                                        </ns0:tgtEl>
                                        <ns0:attrNameLst>
                                          <ns0:attrName>style.visibility</ns0:attrName>
                                        </ns0:attrNameLst>
                                      </ns0:cBhvr>
                                      <ns0:to>
                                        <ns0:strVal val="visible"/>
                                      </ns0:to>
                                    </ns0:set>
                                    <ns0:animEffect transition="in" filter="fade">
                                      <ns0:cBhvr>
                                        <ns0:cTn id="84" dur="500"/>
                                        <ns0:tgtEl>
                                          <ns0:spTgt spid="25"/>
                                        </ns0:tgtEl>
                                      </ns0:cBhvr>
                                    </ns0:animEffect>
                                    <ns0:anim calcmode="lin" valueType="num">
                                      <ns0:cBhvr additive="base">
                                        <ns0:cTn id="85" dur="500" fill="hold"/>
                                        <ns0:tgtEl>
                                          <ns0:spTgt spid="25"/>
                                        </ns0:tgtEl>
                                        <ns0:attrNameLst>
                                          <ns0:attrName>ppt_y</ns0:attrName>
                                        </ns0:attrNameLst>
                                      </ns0:cBhvr>
                                      <ns0:tavLst>
                                        <ns0:tav tm="0">
                                          <ns0:val>
                                            <ns0:strVal val="#ppt_y+0.018"/>
                                          </ns0:val>
                                        </ns0:tav>
                                        <ns0:tav tm="100000">
                                          <ns0:val>
                                            <ns0:strVal val="#ppt_y"/>
                                          </ns0:val>
                                        </ns0:tav>
                                      </ns0:tavLst>
                                    </ns0:anim>
                                  </ns0:childTnLst>
                                </ns0:cTn>
                              </ns0:par>
                              <ns0:par>
                                <ns0:cTn id="86" presetID="42" presetClass="entr" presetSubtype="0" fill="hold" grpId="0" nodeType="withEffect">
                                  <ns0:stCondLst>
                                    <ns0:cond delay="400"/>
                                  </ns0:stCondLst>
                                  <ns0:childTnLst>
                                    <ns0:set>
                                      <ns0:cBhvr>
                                        <ns0:cTn id="87" dur="1" fill="hold">
                                          <ns0:stCondLst>
                                            <ns0:cond delay="0"/>
                                          </ns0:stCondLst>
                                        </ns0:cTn>
                                        <ns0:tgtEl>
                                          <ns0:spTgt spid="26"/>
                                        </ns0:tgtEl>
                                        <ns0:attrNameLst>
                                          <ns0:attrName>style.visibility</ns0:attrName>
                                        </ns0:attrNameLst>
                                      </ns0:cBhvr>
                                      <ns0:to>
                                        <ns0:strVal val="visible"/>
                                      </ns0:to>
                                    </ns0:set>
                                    <ns0:animEffect transition="in" filter="fade">
                                      <ns0:cBhvr>
                                        <ns0:cTn id="88" dur="500"/>
                                        <ns0:tgtEl>
                                          <ns0:spTgt spid="26"/>
                                        </ns0:tgtEl>
                                      </ns0:cBhvr>
                                    </ns0:animEffect>
                                    <ns0:anim calcmode="lin" valueType="num">
                                      <ns0:cBhvr additive="base">
                                        <ns0:cTn id="89" dur="500" fill="hold"/>
                                        <ns0:tgtEl>
                                          <ns0:spTgt spid="2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P spid="24" grpId="0"/>
      <ns0:bldP spid="25" grpId="0"/>
      <ns0:bldP spid="26" grpId="0"/>
    </ns0:bldLst>
  </ns0:timing>
</ns0:sld>
</file>

<file path=ppt/slides/slide13.xml><?xml version="1.0" encoding="utf-8"?>
<ns0:sld xmlns:a="http://schemas.openxmlformats.org/drawingml/2006/main" xmlns:ns0="http://schemas.openxmlformats.org/presentationml/2006/main">
  <ns0:cSld name="Slide 13">
    <ns0:bg>
      <ns0:bgPr>
        <a:solidFill>
          <a:srgbClr val="FFFFFF"/>
        </a:solidFill>
      </ns0:bgPr>
    </ns0:bg>
    <ns0:spTree>
      <ns0:nvGrpSpPr>
        <ns0:cNvPr id="1" name=""/>
        <ns0:cNvGrpSpPr/>
        <ns0:nvPr/>
      </ns0:nvGrpSpPr>
      <ns0:grpSpPr>
        <a:xfrm>
          <a:off x="0" y="0"/>
          <a:ext cx="0" cy="0"/>
          <a:chOff x="0" y="0"/>
          <a:chExt cx="0" cy="0"/>
        </a:xfrm>
      </ns0:grpSpPr>
      <ns0:sp>
        <ns0:nvSpPr>
          <ns0:cNvPr id="2" name="Text 0"/>
          <ns0:cNvSpPr/>
          <ns0:nvPr/>
        </ns0:nvSpPr>
        <ns0:spPr>
          <a:xfrm>
            <a:off x="502920" y="384048"/>
            <a:ext cx="8686800" cy="292608"/>
          </a:xfrm>
          <a:prstGeom prst="rect">
            <a:avLst/>
          </a:prstGeom>
          <a:noFill/>
          <a:ln/>
        </ns0:spPr>
        <ns0:txBody>
          <a:bodyPr wrap="square" lIns="0" tIns="0" rIns="0" bIns="0" rtlCol="0" anchor="ctr"/>
          <a:lstStyle/>
          <a:p>
            <a:pPr indent="0" marL="0">
              <a:buNone/>
            </a:pPr>
            <a:r>
              <a:rPr lang="en-US" sz="1200" b="1" spc="300" kern="0" dirty="0">
                <a:solidFill>
                  <a:srgbClr val="2AA88F"/>
                </a:solidFill>
                <a:latin typeface="Segoe UI" pitchFamily="34" charset="0"/>
                <a:ea typeface="Segoe UI" pitchFamily="34" charset="-122"/>
                <a:cs typeface="Segoe UI" pitchFamily="34" charset="-120"/>
              </a:rPr>
              <a:t>NHÓM SÁNG LẬP</a:t>
            </a:r>
            <a:endParaRPr lang="en-US" sz="1200" dirty="0"/>
          </a:p>
        </ns0:txBody>
      </ns0:sp>
      <ns0:sp>
        <ns0:nvSpPr>
          <ns0:cNvPr id="3" name="Text 1"/>
          <ns0:cNvSpPr/>
          <ns0:nvPr/>
        </ns0:nvSpPr>
        <ns0:spPr>
          <a:xfrm>
            <a:off x="502920" y="676656"/>
            <a:ext cx="10607040" cy="777240"/>
          </a:xfrm>
          <a:prstGeom prst="rect">
            <a:avLst/>
          </a:prstGeom>
          <a:noFill/>
          <a:ln/>
        </ns0:spPr>
        <ns0:txBody>
          <a:bodyPr wrap="square" lIns="0" tIns="0" rIns="0" bIns="0" rtlCol="0" anchor="t"/>
          <a:lstStyle/>
          <a:p>
            <a:pPr indent="0" marL="0">
              <a:buNone/>
            </a:pPr>
            <a:r>
              <a:rPr lang="en-US" sz="2700" b="1" dirty="0">
                <a:solidFill>
                  <a:srgbClr val="16302B"/>
                </a:solidFill>
                <a:latin typeface="Segoe UI" pitchFamily="34" charset="0"/>
                <a:ea typeface="Segoe UI" pitchFamily="34" charset="-122"/>
                <a:cs typeface="Segoe UI" pitchFamily="34" charset="-120"/>
              </a:rPr>
              <a:t>Nhóm 3 — Tổ 14 — Lớp A1K79</a:t>
            </a:r>
            <a:endParaRPr lang="en-US" sz="2700" dirty="0"/>
          </a:p>
        </ns0:txBody>
      </ns0:sp>
      <ns0:sp>
        <ns0:nvSpPr>
          <ns0:cNvPr id="4" name="Shape 2"/>
          <ns0:cNvSpPr/>
          <ns0:nvPr/>
        </ns0:nvSpPr>
        <ns0:spPr>
          <a:xfrm>
            <a:off x="11292840" y="384048"/>
            <a:ext cx="310896" cy="310896"/>
          </a:xfrm>
          <a:prstGeom prst="ellipse">
            <a:avLst/>
          </a:prstGeom>
          <a:solidFill>
            <a:srgbClr val="9ED9CC">
              <a:alpha val="75000"/>
            </a:srgbClr>
          </a:solidFill>
          <a:ln/>
        </ns0:spPr>
      </ns0:sp>
      <ns0:sp>
        <ns0:nvSpPr>
          <ns0:cNvPr id="5" name="Shape 3"/>
          <ns0:cNvSpPr/>
          <ns0:nvPr/>
        </ns0:nvSpPr>
        <ns0:spPr>
          <a:xfrm>
            <a:off x="11424971" y="422910"/>
            <a:ext cx="264262" cy="264262"/>
          </a:xfrm>
          <a:prstGeom prst="ellipse">
            <a:avLst/>
          </a:prstGeom>
          <a:solidFill>
            <a:srgbClr val="E8590C">
              <a:alpha val="88000"/>
            </a:srgbClr>
          </a:solidFill>
          <a:ln/>
        </ns0:spPr>
      </ns0:sp>
      <ns0:sp>
        <ns0:nvSpPr>
          <ns0:cNvPr id="6" name="Text 4"/>
          <ns0:cNvSpPr/>
          <ns0:nvPr/>
        </ns0:nvSpPr>
        <ns0:spPr>
          <a:xfrm>
            <a:off x="11539728" y="6455664"/>
            <a:ext cx="457200" cy="274320"/>
          </a:xfrm>
          <a:prstGeom prst="rect">
            <a:avLst/>
          </a:prstGeom>
          <a:noFill/>
          <a:ln/>
        </ns0:spPr>
        <ns0:txBody>
          <a:bodyPr wrap="square" lIns="0" tIns="0" rIns="0" bIns="0" rtlCol="0" anchor="ctr"/>
          <a:lstStyle/>
          <a:p>
            <a:pPr algn="r" indent="0" marL="0">
              <a:buNone/>
            </a:pPr>
            <a:r>
              <a:rPr lang="en-US" sz="1050" dirty="0">
                <a:solidFill>
                  <a:srgbClr val="5C7370"/>
                </a:solidFill>
                <a:latin typeface="Segoe UI" pitchFamily="34" charset="0"/>
                <a:ea typeface="Segoe UI" pitchFamily="34" charset="-122"/>
                <a:cs typeface="Segoe UI" pitchFamily="34" charset="-120"/>
              </a:rPr>
              <a:t>13</a:t>
            </a:r>
            <a:endParaRPr lang="en-US" sz="1050" dirty="0"/>
          </a:p>
        </ns0:txBody>
      </ns0:sp>
      <ns0:sp>
        <ns0:nvSpPr>
          <ns0:cNvPr id="7" name="Shape 5"/>
          <ns0:cNvSpPr/>
          <ns0:nvPr/>
        </ns0:nvSpPr>
        <ns0:spPr>
          <a:xfrm>
            <a:off x="502920" y="2286000"/>
            <a:ext cx="2084832" cy="2514600"/>
          </a:xfrm>
          <a:prstGeom prst="roundRect">
            <a:avLst>
              <a:gd name="adj" fmla="val 4386"/>
            </a:avLst>
          </a:prstGeom>
          <a:solidFill>
            <a:srgbClr val="E8F5F1"/>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8" name="Shape 6"/>
          <ns0:cNvSpPr/>
          <ns0:nvPr/>
        </ns0:nvSpPr>
        <ns0:spPr>
          <a:xfrm>
            <a:off x="1179576" y="2560320"/>
            <a:ext cx="731520" cy="731520"/>
          </a:xfrm>
          <a:prstGeom prst="ellipse">
            <a:avLst/>
          </a:prstGeom>
          <a:solidFill>
            <a:srgbClr val="0E7C6B"/>
          </a:solidFill>
          <a:ln/>
        </ns0:spPr>
      </ns0:sp>
      <ns0:sp>
        <ns0:nvSpPr>
          <ns0:cNvPr id="9" name="Text 7"/>
          <ns0:cNvSpPr/>
          <ns0:nvPr/>
        </ns0:nvSpPr>
        <ns0:spPr>
          <a:xfrm>
            <a:off x="1179576" y="2560320"/>
            <a:ext cx="731520" cy="731520"/>
          </a:xfrm>
          <a:prstGeom prst="rect">
            <a:avLst/>
          </a:prstGeom>
          <a:noFill/>
          <a:ln/>
        </ns0:spPr>
        <ns0: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HT</a:t>
            </a:r>
            <a:endParaRPr lang="en-US" sz="1700" dirty="0"/>
          </a:p>
        </ns0:txBody>
      </ns0:sp>
      <ns0:sp>
        <ns0:nvSpPr>
          <ns0:cNvPr id="10" name="Text 8"/>
          <ns0:cNvSpPr/>
          <ns0:nvPr/>
        </ns0:nvSpPr>
        <ns0:spPr>
          <a:xfrm>
            <a:off x="612648" y="3456432"/>
            <a:ext cx="1865376" cy="594360"/>
          </a:xfrm>
          <a:prstGeom prst="rect">
            <a:avLst/>
          </a:prstGeom>
          <a:noFill/>
          <a:ln/>
        </ns0:spPr>
        <ns0:txBody>
          <a:bodyPr wrap="square" lIns="0" tIns="0" rIns="0" bIns="0" rtlCol="0" anchor="t"/>
          <a:lstStyle/>
          <a:p>
            <a:pPr algn="ctr" indent="0" marL="0">
              <a:lnSpc>
                <a:spcPct val="105000"/>
              </a:lnSpc>
              <a:buNone/>
            </a:pPr>
            <a:r>
              <a:rPr lang="en-US" sz="1250" b="1" dirty="0">
                <a:solidFill>
                  <a:srgbClr val="16302B"/>
                </a:solidFill>
                <a:latin typeface="Segoe UI" pitchFamily="34" charset="0"/>
                <a:ea typeface="Segoe UI" pitchFamily="34" charset="-122"/>
                <a:cs typeface="Segoe UI" pitchFamily="34" charset="-120"/>
              </a:rPr>
              <a:t>Trịnh Hương Thảo</a:t>
            </a:r>
            <a:endParaRPr lang="en-US" sz="1250" dirty="0"/>
          </a:p>
        </ns0:txBody>
      </ns0:sp>
      <ns0:sp>
        <ns0:nvSpPr>
          <ns0:cNvPr id="11" name="Text 9"/>
          <ns0:cNvSpPr/>
          <ns0:nvPr/>
        </ns0:nvSpPr>
        <ns0:spPr>
          <a:xfrm>
            <a:off x="612648" y="4096512"/>
            <a:ext cx="1865376" cy="274320"/>
          </a:xfrm>
          <a:prstGeom prst="rect">
            <a:avLst/>
          </a:prstGeom>
          <a:noFill/>
          <a:ln/>
        </ns0:spPr>
        <ns0:txBody>
          <a:bodyPr wrap="square" lIns="0" tIns="0" rIns="0" bIns="0" rtlCol="0" anchor="ctr"/>
          <a:lstStyle/>
          <a:p>
            <a:pPr algn="ctr" indent="0" marL="0">
              <a:buNone/>
            </a:pPr>
            <a:r>
              <a:rPr lang="en-US" sz="1050" dirty="0">
                <a:solidFill>
                  <a:srgbClr val="5C7370"/>
                </a:solidFill>
                <a:latin typeface="Segoe UI" pitchFamily="34" charset="0"/>
                <a:ea typeface="Segoe UI" pitchFamily="34" charset="-122"/>
                <a:cs typeface="Segoe UI" pitchFamily="34" charset="-120"/>
              </a:rPr>
              <a:t>2401634</a:t>
            </a:r>
            <a:endParaRPr lang="en-US" sz="1050" dirty="0"/>
          </a:p>
        </ns0:txBody>
      </ns0:sp>
      <ns0:sp>
        <ns0:nvSpPr>
          <ns0:cNvPr id="12" name="Shape 10"/>
          <ns0:cNvSpPr/>
          <ns0:nvPr/>
        </ns0:nvSpPr>
        <ns0:spPr>
          <a:xfrm>
            <a:off x="2779776" y="2286000"/>
            <a:ext cx="2084832" cy="2514600"/>
          </a:xfrm>
          <a:prstGeom prst="roundRect">
            <a:avLst>
              <a:gd name="adj" fmla="val 4386"/>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3" name="Shape 11"/>
          <ns0:cNvSpPr/>
          <ns0:nvPr/>
        </ns0:nvSpPr>
        <ns0:spPr>
          <a:xfrm>
            <a:off x="3456432" y="2560320"/>
            <a:ext cx="731520" cy="731520"/>
          </a:xfrm>
          <a:prstGeom prst="ellipse">
            <a:avLst/>
          </a:prstGeom>
          <a:solidFill>
            <a:srgbClr val="E8590C"/>
          </a:solidFill>
          <a:ln/>
        </ns0:spPr>
      </ns0:sp>
      <ns0:sp>
        <ns0:nvSpPr>
          <ns0:cNvPr id="14" name="Text 12"/>
          <ns0:cNvSpPr/>
          <ns0:nvPr/>
        </ns0:nvSpPr>
        <ns0:spPr>
          <a:xfrm>
            <a:off x="3456432" y="2560320"/>
            <a:ext cx="731520" cy="731520"/>
          </a:xfrm>
          <a:prstGeom prst="rect">
            <a:avLst/>
          </a:prstGeom>
          <a:noFill/>
          <a:ln/>
        </ns0:spPr>
        <ns0: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TT</a:t>
            </a:r>
            <a:endParaRPr lang="en-US" sz="1700" dirty="0"/>
          </a:p>
        </ns0:txBody>
      </ns0:sp>
      <ns0:sp>
        <ns0:nvSpPr>
          <ns0:cNvPr id="15" name="Text 13"/>
          <ns0:cNvSpPr/>
          <ns0:nvPr/>
        </ns0:nvSpPr>
        <ns0:spPr>
          <a:xfrm>
            <a:off x="2889504" y="3456432"/>
            <a:ext cx="1865376" cy="594360"/>
          </a:xfrm>
          <a:prstGeom prst="rect">
            <a:avLst/>
          </a:prstGeom>
          <a:noFill/>
          <a:ln/>
        </ns0:spPr>
        <ns0:txBody>
          <a:bodyPr wrap="square" lIns="0" tIns="0" rIns="0" bIns="0" rtlCol="0" anchor="t"/>
          <a:lstStyle/>
          <a:p>
            <a:pPr algn="ctr" indent="0" marL="0">
              <a:lnSpc>
                <a:spcPct val="105000"/>
              </a:lnSpc>
              <a:buNone/>
            </a:pPr>
            <a:r>
              <a:rPr lang="en-US" sz="1250" b="1" dirty="0">
                <a:solidFill>
                  <a:srgbClr val="16302B"/>
                </a:solidFill>
                <a:latin typeface="Segoe UI" pitchFamily="34" charset="0"/>
                <a:ea typeface="Segoe UI" pitchFamily="34" charset="-122"/>
                <a:cs typeface="Segoe UI" pitchFamily="34" charset="-120"/>
              </a:rPr>
              <a:t>Bạch Thùy Trâm</a:t>
            </a:r>
            <a:endParaRPr lang="en-US" sz="1250" dirty="0"/>
          </a:p>
        </ns0:txBody>
      </ns0:sp>
      <ns0:sp>
        <ns0:nvSpPr>
          <ns0:cNvPr id="16" name="Text 14"/>
          <ns0:cNvSpPr/>
          <ns0:nvPr/>
        </ns0:nvSpPr>
        <ns0:spPr>
          <a:xfrm>
            <a:off x="2889504" y="4096512"/>
            <a:ext cx="1865376" cy="274320"/>
          </a:xfrm>
          <a:prstGeom prst="rect">
            <a:avLst/>
          </a:prstGeom>
          <a:noFill/>
          <a:ln/>
        </ns0:spPr>
        <ns0:txBody>
          <a:bodyPr wrap="square" lIns="0" tIns="0" rIns="0" bIns="0" rtlCol="0" anchor="ctr"/>
          <a:lstStyle/>
          <a:p>
            <a:pPr algn="ctr" indent="0" marL="0">
              <a:buNone/>
            </a:pPr>
            <a:r>
              <a:rPr lang="en-US" sz="1050" dirty="0">
                <a:solidFill>
                  <a:srgbClr val="5C7370"/>
                </a:solidFill>
                <a:latin typeface="Segoe UI" pitchFamily="34" charset="0"/>
                <a:ea typeface="Segoe UI" pitchFamily="34" charset="-122"/>
                <a:cs typeface="Segoe UI" pitchFamily="34" charset="-120"/>
              </a:rPr>
              <a:t>2401679</a:t>
            </a:r>
            <a:endParaRPr lang="en-US" sz="1050" dirty="0"/>
          </a:p>
        </ns0:txBody>
      </ns0:sp>
      <ns0:sp>
        <ns0:nvSpPr>
          <ns0:cNvPr id="17" name="Shape 15"/>
          <ns0:cNvSpPr/>
          <ns0:nvPr/>
        </ns0:nvSpPr>
        <ns0:spPr>
          <a:xfrm>
            <a:off x="5056632" y="2286000"/>
            <a:ext cx="2084832" cy="2514600"/>
          </a:xfrm>
          <a:prstGeom prst="roundRect">
            <a:avLst>
              <a:gd name="adj" fmla="val 4386"/>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18" name="Shape 16"/>
          <ns0:cNvSpPr/>
          <ns0:nvPr/>
        </ns0:nvSpPr>
        <ns0:spPr>
          <a:xfrm>
            <a:off x="5733288" y="2560320"/>
            <a:ext cx="731520" cy="731520"/>
          </a:xfrm>
          <a:prstGeom prst="ellipse">
            <a:avLst/>
          </a:prstGeom>
          <a:solidFill>
            <a:srgbClr val="0E7C6B"/>
          </a:solidFill>
          <a:ln/>
        </ns0:spPr>
      </ns0:sp>
      <ns0:sp>
        <ns0:nvSpPr>
          <ns0:cNvPr id="19" name="Text 17"/>
          <ns0:cNvSpPr/>
          <ns0:nvPr/>
        </ns0:nvSpPr>
        <ns0:spPr>
          <a:xfrm>
            <a:off x="5733288" y="2560320"/>
            <a:ext cx="731520" cy="731520"/>
          </a:xfrm>
          <a:prstGeom prst="rect">
            <a:avLst/>
          </a:prstGeom>
          <a:noFill/>
          <a:ln/>
        </ns0:spPr>
        <ns0: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AT</a:t>
            </a:r>
            <a:endParaRPr lang="en-US" sz="1700" dirty="0"/>
          </a:p>
        </ns0:txBody>
      </ns0:sp>
      <ns0:sp>
        <ns0:nvSpPr>
          <ns0:cNvPr id="20" name="Text 18"/>
          <ns0:cNvSpPr/>
          <ns0:nvPr/>
        </ns0:nvSpPr>
        <ns0:spPr>
          <a:xfrm>
            <a:off x="5166360" y="3456432"/>
            <a:ext cx="1865376" cy="594360"/>
          </a:xfrm>
          <a:prstGeom prst="rect">
            <a:avLst/>
          </a:prstGeom>
          <a:noFill/>
          <a:ln/>
        </ns0:spPr>
        <ns0:txBody>
          <a:bodyPr wrap="square" lIns="0" tIns="0" rIns="0" bIns="0" rtlCol="0" anchor="t"/>
          <a:lstStyle/>
          <a:p>
            <a:pPr algn="ctr" indent="0" marL="0">
              <a:lnSpc>
                <a:spcPct val="105000"/>
              </a:lnSpc>
              <a:buNone/>
            </a:pPr>
            <a:r>
              <a:rPr lang="en-US" sz="1250" b="1" dirty="0">
                <a:solidFill>
                  <a:srgbClr val="16302B"/>
                </a:solidFill>
                <a:latin typeface="Segoe UI" pitchFamily="34" charset="0"/>
                <a:ea typeface="Segoe UI" pitchFamily="34" charset="-122"/>
                <a:cs typeface="Segoe UI" pitchFamily="34" charset="-120"/>
              </a:rPr>
              <a:t>Bùi Thị Anh Trâm</a:t>
            </a:r>
            <a:endParaRPr lang="en-US" sz="1250" dirty="0"/>
          </a:p>
        </ns0:txBody>
      </ns0:sp>
      <ns0:sp>
        <ns0:nvSpPr>
          <ns0:cNvPr id="21" name="Text 19"/>
          <ns0:cNvSpPr/>
          <ns0:nvPr/>
        </ns0:nvSpPr>
        <ns0:spPr>
          <a:xfrm>
            <a:off x="5166360" y="4096512"/>
            <a:ext cx="1865376" cy="274320"/>
          </a:xfrm>
          <a:prstGeom prst="rect">
            <a:avLst/>
          </a:prstGeom>
          <a:noFill/>
          <a:ln/>
        </ns0:spPr>
        <ns0:txBody>
          <a:bodyPr wrap="square" lIns="0" tIns="0" rIns="0" bIns="0" rtlCol="0" anchor="ctr"/>
          <a:lstStyle/>
          <a:p>
            <a:pPr algn="ctr" indent="0" marL="0">
              <a:buNone/>
            </a:pPr>
            <a:r>
              <a:rPr lang="en-US" sz="1050" dirty="0">
                <a:solidFill>
                  <a:srgbClr val="5C7370"/>
                </a:solidFill>
                <a:latin typeface="Segoe UI" pitchFamily="34" charset="0"/>
                <a:ea typeface="Segoe UI" pitchFamily="34" charset="-122"/>
                <a:cs typeface="Segoe UI" pitchFamily="34" charset="-120"/>
              </a:rPr>
              <a:t>2401681</a:t>
            </a:r>
            <a:endParaRPr lang="en-US" sz="1050" dirty="0"/>
          </a:p>
        </ns0:txBody>
      </ns0:sp>
      <ns0:sp>
        <ns0:nvSpPr>
          <ns0:cNvPr id="22" name="Shape 20"/>
          <ns0:cNvSpPr/>
          <ns0:nvPr/>
        </ns0:nvSpPr>
        <ns0:spPr>
          <a:xfrm>
            <a:off x="7333488" y="2286000"/>
            <a:ext cx="2084832" cy="2514600"/>
          </a:xfrm>
          <a:prstGeom prst="roundRect">
            <a:avLst>
              <a:gd name="adj" fmla="val 4386"/>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23" name="Shape 21"/>
          <ns0:cNvSpPr/>
          <ns0:nvPr/>
        </ns0:nvSpPr>
        <ns0:spPr>
          <a:xfrm>
            <a:off x="8010144" y="2560320"/>
            <a:ext cx="731520" cy="731520"/>
          </a:xfrm>
          <a:prstGeom prst="ellipse">
            <a:avLst/>
          </a:prstGeom>
          <a:solidFill>
            <a:srgbClr val="E8590C"/>
          </a:solidFill>
          <a:ln/>
        </ns0:spPr>
      </ns0:sp>
      <ns0:sp>
        <ns0:nvSpPr>
          <ns0:cNvPr id="24" name="Text 22"/>
          <ns0:cNvSpPr/>
          <ns0:nvPr/>
        </ns0:nvSpPr>
        <ns0:spPr>
          <a:xfrm>
            <a:off x="8010144" y="2560320"/>
            <a:ext cx="731520" cy="731520"/>
          </a:xfrm>
          <a:prstGeom prst="rect">
            <a:avLst/>
          </a:prstGeom>
          <a:noFill/>
          <a:ln/>
        </ns0:spPr>
        <ns0: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QV</a:t>
            </a:r>
            <a:endParaRPr lang="en-US" sz="1700" dirty="0"/>
          </a:p>
        </ns0:txBody>
      </ns0:sp>
      <ns0:sp>
        <ns0:nvSpPr>
          <ns0:cNvPr id="25" name="Text 23"/>
          <ns0:cNvSpPr/>
          <ns0:nvPr/>
        </ns0:nvSpPr>
        <ns0:spPr>
          <a:xfrm>
            <a:off x="7443216" y="3456432"/>
            <a:ext cx="1865376" cy="594360"/>
          </a:xfrm>
          <a:prstGeom prst="rect">
            <a:avLst/>
          </a:prstGeom>
          <a:noFill/>
          <a:ln/>
        </ns0:spPr>
        <ns0:txBody>
          <a:bodyPr wrap="square" lIns="0" tIns="0" rIns="0" bIns="0" rtlCol="0" anchor="t"/>
          <a:lstStyle/>
          <a:p>
            <a:pPr algn="ctr" indent="0" marL="0">
              <a:lnSpc>
                <a:spcPct val="105000"/>
              </a:lnSpc>
              <a:buNone/>
            </a:pPr>
            <a:r>
              <a:rPr lang="en-US" sz="1250" b="1" dirty="0">
                <a:solidFill>
                  <a:srgbClr val="16302B"/>
                </a:solidFill>
                <a:latin typeface="Segoe UI" pitchFamily="34" charset="0"/>
                <a:ea typeface="Segoe UI" pitchFamily="34" charset="-122"/>
                <a:cs typeface="Segoe UI" pitchFamily="34" charset="-120"/>
              </a:rPr>
              <a:t>Phạm Quốc Việt</a:t>
            </a:r>
            <a:endParaRPr lang="en-US" sz="1250" dirty="0"/>
          </a:p>
        </ns0:txBody>
      </ns0:sp>
      <ns0:sp>
        <ns0:nvSpPr>
          <ns0:cNvPr id="26" name="Text 24"/>
          <ns0:cNvSpPr/>
          <ns0:nvPr/>
        </ns0:nvSpPr>
        <ns0:spPr>
          <a:xfrm>
            <a:off x="7443216" y="4096512"/>
            <a:ext cx="1865376" cy="274320"/>
          </a:xfrm>
          <a:prstGeom prst="rect">
            <a:avLst/>
          </a:prstGeom>
          <a:noFill/>
          <a:ln/>
        </ns0:spPr>
        <ns0:txBody>
          <a:bodyPr wrap="square" lIns="0" tIns="0" rIns="0" bIns="0" rtlCol="0" anchor="ctr"/>
          <a:lstStyle/>
          <a:p>
            <a:pPr algn="ctr" indent="0" marL="0">
              <a:buNone/>
            </a:pPr>
            <a:r>
              <a:rPr lang="en-US" sz="1050" dirty="0">
                <a:solidFill>
                  <a:srgbClr val="5C7370"/>
                </a:solidFill>
                <a:latin typeface="Segoe UI" pitchFamily="34" charset="0"/>
                <a:ea typeface="Segoe UI" pitchFamily="34" charset="-122"/>
                <a:cs typeface="Segoe UI" pitchFamily="34" charset="-120"/>
              </a:rPr>
              <a:t>2401742</a:t>
            </a:r>
            <a:endParaRPr lang="en-US" sz="1050" dirty="0"/>
          </a:p>
        </ns0:txBody>
      </ns0:sp>
      <ns0:sp>
        <ns0:nvSpPr>
          <ns0:cNvPr id="27" name="Shape 25"/>
          <ns0:cNvSpPr/>
          <ns0:nvPr/>
        </ns0:nvSpPr>
        <ns0:spPr>
          <a:xfrm>
            <a:off x="9610344" y="2286000"/>
            <a:ext cx="2084832" cy="2514600"/>
          </a:xfrm>
          <a:prstGeom prst="roundRect">
            <a:avLst>
              <a:gd name="adj" fmla="val 4386"/>
            </a:avLst>
          </a:prstGeom>
          <a:solidFill>
            <a:srgbClr val="FFFFFF"/>
          </a:solidFill>
          <a:ln w="9525">
            <a:solidFill>
              <a:srgbClr val="DCEBE6"/>
            </a:solidFill>
            <a:prstDash val="solid"/>
          </a:ln>
          <a:effectLst>
            <a:outerShdw sx="100000" sy="100000" kx="0" ky="0" algn="bl" rotWithShape="0" blurRad="101600" dist="25400" dir="5400000">
              <a:srgbClr val="0B3B34">
                <a:alpha val="13000"/>
              </a:srgbClr>
            </a:outerShdw>
          </a:effectLst>
        </ns0:spPr>
      </ns0:sp>
      <ns0:sp>
        <ns0:nvSpPr>
          <ns0:cNvPr id="28" name="Shape 26"/>
          <ns0:cNvSpPr/>
          <ns0:nvPr/>
        </ns0:nvSpPr>
        <ns0:spPr>
          <a:xfrm>
            <a:off x="10287000" y="2560320"/>
            <a:ext cx="731520" cy="731520"/>
          </a:xfrm>
          <a:prstGeom prst="ellipse">
            <a:avLst/>
          </a:prstGeom>
          <a:solidFill>
            <a:srgbClr val="0E7C6B"/>
          </a:solidFill>
          <a:ln/>
        </ns0:spPr>
      </ns0:sp>
      <ns0:sp>
        <ns0:nvSpPr>
          <ns0:cNvPr id="29" name="Text 27"/>
          <ns0:cNvSpPr/>
          <ns0:nvPr/>
        </ns0:nvSpPr>
        <ns0:spPr>
          <a:xfrm>
            <a:off x="10287000" y="2560320"/>
            <a:ext cx="731520" cy="731520"/>
          </a:xfrm>
          <a:prstGeom prst="rect">
            <a:avLst/>
          </a:prstGeom>
          <a:noFill/>
          <a:ln/>
        </ns0:spPr>
        <ns0:txBody>
          <a:bodyPr wrap="square" lIns="0" tIns="0" rIns="0" bIns="0" rtlCol="0" anchor="ctr"/>
          <a:lstStyle/>
          <a:p>
            <a:pPr algn="ctr" indent="0" marL="0">
              <a:buNone/>
            </a:pPr>
            <a:r>
              <a:rPr lang="en-US" sz="1700" b="1" dirty="0">
                <a:solidFill>
                  <a:srgbClr val="FFFFFF"/>
                </a:solidFill>
                <a:latin typeface="Segoe UI" pitchFamily="34" charset="0"/>
                <a:ea typeface="Segoe UI" pitchFamily="34" charset="-122"/>
                <a:cs typeface="Segoe UI" pitchFamily="34" charset="-120"/>
              </a:rPr>
              <a:t>VS</a:t>
            </a:r>
            <a:endParaRPr lang="en-US" sz="1700" dirty="0"/>
          </a:p>
        </ns0:txBody>
      </ns0:sp>
      <ns0:sp>
        <ns0:nvSpPr>
          <ns0:cNvPr id="30" name="Text 28"/>
          <ns0:cNvSpPr/>
          <ns0:nvPr/>
        </ns0:nvSpPr>
        <ns0:spPr>
          <a:xfrm>
            <a:off x="9720072" y="3456432"/>
            <a:ext cx="1865376" cy="594360"/>
          </a:xfrm>
          <a:prstGeom prst="rect">
            <a:avLst/>
          </a:prstGeom>
          <a:noFill/>
          <a:ln/>
        </ns0:spPr>
        <ns0:txBody>
          <a:bodyPr wrap="square" lIns="0" tIns="0" rIns="0" bIns="0" rtlCol="0" anchor="t"/>
          <a:lstStyle/>
          <a:p>
            <a:pPr algn="ctr" indent="0" marL="0">
              <a:lnSpc>
                <a:spcPct val="105000"/>
              </a:lnSpc>
              <a:buNone/>
            </a:pPr>
            <a:r>
              <a:rPr lang="en-US" sz="1250" b="1" dirty="0">
                <a:solidFill>
                  <a:srgbClr val="16302B"/>
                </a:solidFill>
                <a:latin typeface="Segoe UI" pitchFamily="34" charset="0"/>
                <a:ea typeface="Segoe UI" pitchFamily="34" charset="-122"/>
                <a:cs typeface="Segoe UI" pitchFamily="34" charset="-120"/>
              </a:rPr>
              <a:t>Viengkeo Shengchan</a:t>
            </a:r>
            <a:endParaRPr lang="en-US" sz="1250" dirty="0"/>
          </a:p>
        </ns0:txBody>
      </ns0:sp>
      <ns0:sp>
        <ns0:nvSpPr>
          <ns0:cNvPr id="31" name="Text 29"/>
          <ns0:cNvSpPr/>
          <ns0:nvPr/>
        </ns0:nvSpPr>
        <ns0:spPr>
          <a:xfrm>
            <a:off x="9720072" y="4096512"/>
            <a:ext cx="1865376" cy="274320"/>
          </a:xfrm>
          <a:prstGeom prst="rect">
            <a:avLst/>
          </a:prstGeom>
          <a:noFill/>
          <a:ln/>
        </ns0:spPr>
        <ns0:txBody>
          <a:bodyPr wrap="square" lIns="0" tIns="0" rIns="0" bIns="0" rtlCol="0" anchor="ctr"/>
          <a:lstStyle/>
          <a:p>
            <a:pPr algn="ctr" indent="0" marL="0">
              <a:buNone/>
            </a:pPr>
            <a:r>
              <a:rPr lang="en-US" sz="1050" dirty="0">
                <a:solidFill>
                  <a:srgbClr val="5C7370"/>
                </a:solidFill>
                <a:latin typeface="Segoe UI" pitchFamily="34" charset="0"/>
                <a:ea typeface="Segoe UI" pitchFamily="34" charset="-122"/>
                <a:cs typeface="Segoe UI" pitchFamily="34" charset="-120"/>
              </a:rPr>
              <a:t>2401761</a:t>
            </a:r>
            <a:endParaRPr lang="en-US" sz="1050" dirty="0"/>
          </a:p>
        </ns0:txBody>
      </ns0:sp>
      <ns0:sp>
        <ns0:nvSpPr>
          <ns0:cNvPr id="32" name="Shape 30"/>
          <ns0:cNvSpPr/>
          <ns0:nvPr/>
        </ns0:nvSpPr>
        <ns0:spPr>
          <a:xfrm>
            <a:off x="0" y="5440680"/>
            <a:ext cx="12188952" cy="685800"/>
          </a:xfrm>
          <a:prstGeom prst="rect">
            <a:avLst/>
          </a:prstGeom>
          <a:solidFill>
            <a:srgbClr val="E8F5F1"/>
          </a:solidFill>
          <a:ln/>
        </ns0:spPr>
      </ns0:sp>
      <ns0:sp>
        <ns0:nvSpPr>
          <ns0:cNvPr id="33" name="Text 31"/>
          <ns0:cNvSpPr/>
          <ns0:nvPr/>
        </ns0:nvSpPr>
        <ns0:spPr>
          <a:xfrm>
            <a:off x="502920" y="5440680"/>
            <a:ext cx="11183112" cy="685800"/>
          </a:xfrm>
          <a:prstGeom prst="rect">
            <a:avLst/>
          </a:prstGeom>
          <a:noFill/>
          <a:ln/>
        </ns0:spPr>
        <ns0:txBody>
          <a:bodyPr wrap="square" lIns="0" tIns="0" rIns="0" bIns="0" rtlCol="0" anchor="ctr"/>
          <a:lstStyle/>
          <a:p>
            <a:pPr indent="0" marL="0">
              <a:buNone/>
            </a:pPr>
            <a:r>
              <a:rPr lang="en-US" sz="1350" b="1" dirty="0">
                <a:solidFill>
                  <a:srgbClr val="16302B"/>
                </a:solidFill>
                <a:latin typeface="Segoe UI" pitchFamily="34" charset="0"/>
                <a:ea typeface="Segoe UI" pitchFamily="34" charset="-122"/>
                <a:cs typeface="Segoe UI" pitchFamily="34" charset="-120"/>
              </a:rPr>
              <a:t>Cam kết vận hành:  </a:t>
            </a:r>
            <a:r>
              <a:rPr lang="en-US" sz="1350" dirty="0">
                <a:solidFill>
                  <a:srgbClr val="16302B"/>
                </a:solidFill>
                <a:latin typeface="Segoe UI" pitchFamily="34" charset="0"/>
                <a:ea typeface="Segoe UI" pitchFamily="34" charset="-122"/>
                <a:cs typeface="Segoe UI" pitchFamily="34" charset="-120"/>
              </a:rPr>
              <a:t>kỹ thuật viên thi chứng chỉ nghề · bác sĩ y học cổ truyền cộng tác · bảo hiểm trách nhiệm dịch vụ · quy trình khảo sát thể trạng an toàn cho mọi buổi trị liệu.</a:t>
            </a:r>
            <a:endParaRPr lang="en-US" sz="1350" dirty="0"/>
          </a:p>
        </ns0:txBody>
      </ns0:sp>
      <ns0:sp>
        <ns0:nvSpPr>
          <ns0:cNvPr id="34" name="Text 32"/>
          <ns0:cNvSpPr/>
          <ns0:nvPr/>
        </ns0:nvSpPr>
        <ns0:spPr>
          <a:xfrm>
            <a:off x="502920" y="6272784"/>
            <a:ext cx="11183112" cy="274320"/>
          </a:xfrm>
          <a:prstGeom prst="rect">
            <a:avLst/>
          </a:prstGeom>
          <a:noFill/>
          <a:ln/>
        </ns0:spPr>
        <ns0:txBody>
          <a:bodyPr wrap="square" lIns="0" tIns="0" rIns="0" bIns="0" rtlCol="0" anchor="ctr"/>
          <a:lstStyle/>
          <a:p>
            <a:pPr indent="0" marL="0">
              <a:buNone/>
            </a:pPr>
            <a:r>
              <a:rPr lang="en-US" sz="1100" i="1" dirty="0">
                <a:solidFill>
                  <a:srgbClr val="5C7370"/>
                </a:solidFill>
                <a:latin typeface="Segoe UI" pitchFamily="34" charset="0"/>
                <a:ea typeface="Segoe UI" pitchFamily="34" charset="-122"/>
                <a:cs typeface="Segoe UI" pitchFamily="34" charset="-120"/>
              </a:rPr>
              <a:t>Giai đoạn đầu, 5 thành viên sáng lập trực tiếp điều phối lịch, marketing và chăm sóc khách; năm 2 tuyển thêm điều phối viên toàn thời gian.</a:t>
            </a:r>
            <a:endParaRPr lang="en-US" sz="110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112" dur="indefinite" nodeType="mainSeq">
                <ns0:childTnLst>
                  <ns0:par>
                    <ns0:cTn id="2" fill="hold">
                      <ns0:stCondLst>
                        <ns0:cond delay="indefinite"/>
                      </ns0:stCondLst>
                      <ns0:childTnLst>
                        <ns0:par>
                          <ns0:cTn id="3" fill="hold">
                            <ns0:stCondLst>
                              <ns0:cond delay="0"/>
                            </ns0:stCondLst>
                            <ns0:childTnLst>
                              <ns0:par>
                                <ns0:cTn id="4" presetID="42" presetClass="entr" presetSubtype="0" fill="hold" grpId="0" nodeType="clickEffect">
                                  <ns0:stCondLst>
                                    <ns0:cond delay="0"/>
                                  </ns0:stCondLst>
                                  <ns0:childTnLst>
                                    <ns0:set>
                                      <ns0:cBhvr>
                                        <ns0:cTn id="5" dur="1" fill="hold">
                                          <ns0:stCondLst>
                                            <ns0:cond delay="0"/>
                                          </ns0:stCondLst>
                                        </ns0:cTn>
                                        <ns0:tgtEl>
                                          <ns0:spTgt spid="7"/>
                                        </ns0:tgtEl>
                                        <ns0:attrNameLst>
                                          <ns0:attrName>style.visibility</ns0:attrName>
                                        </ns0:attrNameLst>
                                      </ns0:cBhvr>
                                      <ns0:to>
                                        <ns0:strVal val="visible"/>
                                      </ns0:to>
                                    </ns0:set>
                                    <ns0:animEffect transition="in" filter="fade">
                                      <ns0:cBhvr>
                                        <ns0:cTn id="6" dur="500"/>
                                        <ns0:tgtEl>
                                          <ns0:spTgt spid="7"/>
                                        </ns0:tgtEl>
                                      </ns0:cBhvr>
                                    </ns0:animEffect>
                                    <ns0:anim calcmode="lin" valueType="num">
                                      <ns0:cBhvr additive="base">
                                        <ns0:cTn id="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100"/>
                                  </ns0:stCondLst>
                                  <ns0:childTnLst>
                                    <ns0:set>
                                      <ns0:cBhvr>
                                        <ns0:cTn id="9" dur="1" fill="hold">
                                          <ns0:stCondLst>
                                            <ns0:cond delay="0"/>
                                          </ns0:stCondLst>
                                        </ns0:cTn>
                                        <ns0:tgtEl>
                                          <ns0:spTgt spid="8"/>
                                        </ns0:tgtEl>
                                        <ns0:attrNameLst>
                                          <ns0:attrName>style.visibility</ns0:attrName>
                                        </ns0:attrNameLst>
                                      </ns0:cBhvr>
                                      <ns0:to>
                                        <ns0:strVal val="visible"/>
                                      </ns0:to>
                                    </ns0:set>
                                    <ns0:animEffect transition="in" filter="fade">
                                      <ns0:cBhvr>
                                        <ns0:cTn id="10" dur="500"/>
                                        <ns0:tgtEl>
                                          <ns0:spTgt spid="8"/>
                                        </ns0:tgtEl>
                                      </ns0:cBhvr>
                                    </ns0:animEffect>
                                    <ns0:anim calcmode="lin" valueType="num">
                                      <ns0:cBhvr additive="base">
                                        <ns0:cTn id="1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200"/>
                                  </ns0:stCondLst>
                                  <ns0:childTnLst>
                                    <ns0:set>
                                      <ns0:cBhvr>
                                        <ns0:cTn id="13" dur="1" fill="hold">
                                          <ns0:stCondLst>
                                            <ns0:cond delay="0"/>
                                          </ns0:stCondLst>
                                        </ns0:cTn>
                                        <ns0:tgtEl>
                                          <ns0:spTgt spid="9"/>
                                        </ns0:tgtEl>
                                        <ns0:attrNameLst>
                                          <ns0:attrName>style.visibility</ns0:attrName>
                                        </ns0:attrNameLst>
                                      </ns0:cBhvr>
                                      <ns0:to>
                                        <ns0:strVal val="visible"/>
                                      </ns0:to>
                                    </ns0:set>
                                    <ns0:animEffect transition="in" filter="fade">
                                      <ns0:cBhvr>
                                        <ns0:cTn id="14" dur="500"/>
                                        <ns0:tgtEl>
                                          <ns0:spTgt spid="9"/>
                                        </ns0:tgtEl>
                                      </ns0:cBhvr>
                                    </ns0:animEffect>
                                    <ns0:anim calcmode="lin" valueType="num">
                                      <ns0:cBhvr additive="base">
                                        <ns0:cTn id="1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300"/>
                                  </ns0:stCondLst>
                                  <ns0:childTnLst>
                                    <ns0:set>
                                      <ns0:cBhvr>
                                        <ns0:cTn id="17" dur="1" fill="hold">
                                          <ns0:stCondLst>
                                            <ns0:cond delay="0"/>
                                          </ns0:stCondLst>
                                        </ns0:cTn>
                                        <ns0:tgtEl>
                                          <ns0:spTgt spid="10"/>
                                        </ns0:tgtEl>
                                        <ns0:attrNameLst>
                                          <ns0:attrName>style.visibility</ns0:attrName>
                                        </ns0:attrNameLst>
                                      </ns0:cBhvr>
                                      <ns0:to>
                                        <ns0:strVal val="visible"/>
                                      </ns0:to>
                                    </ns0:set>
                                    <ns0:animEffect transition="in" filter="fade">
                                      <ns0:cBhvr>
                                        <ns0:cTn id="18" dur="500"/>
                                        <ns0:tgtEl>
                                          <ns0:spTgt spid="10"/>
                                        </ns0:tgtEl>
                                      </ns0:cBhvr>
                                    </ns0:animEffect>
                                    <ns0:anim calcmode="lin" valueType="num">
                                      <ns0:cBhvr additive="base">
                                        <ns0:cTn id="1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400"/>
                                  </ns0:stCondLst>
                                  <ns0:childTnLst>
                                    <ns0:set>
                                      <ns0:cBhvr>
                                        <ns0:cTn id="21" dur="1" fill="hold">
                                          <ns0:stCondLst>
                                            <ns0:cond delay="0"/>
                                          </ns0:stCondLst>
                                        </ns0:cTn>
                                        <ns0:tgtEl>
                                          <ns0:spTgt spid="11"/>
                                        </ns0:tgtEl>
                                        <ns0:attrNameLst>
                                          <ns0:attrName>style.visibility</ns0:attrName>
                                        </ns0:attrNameLst>
                                      </ns0:cBhvr>
                                      <ns0:to>
                                        <ns0:strVal val="visible"/>
                                      </ns0:to>
                                    </ns0:set>
                                    <ns0:animEffect transition="in" filter="fade">
                                      <ns0:cBhvr>
                                        <ns0:cTn id="22" dur="500"/>
                                        <ns0:tgtEl>
                                          <ns0:spTgt spid="11"/>
                                        </ns0:tgtEl>
                                      </ns0:cBhvr>
                                    </ns0:animEffect>
                                    <ns0:anim calcmode="lin" valueType="num">
                                      <ns0:cBhvr additive="base">
                                        <ns0:cTn id="2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24" fill="hold">
                      <ns0:stCondLst>
                        <ns0:cond delay="indefinite"/>
                      </ns0:stCondLst>
                      <ns0:childTnLst>
                        <ns0:par>
                          <ns0:cTn id="25" fill="hold">
                            <ns0:stCondLst>
                              <ns0:cond delay="0"/>
                            </ns0:stCondLst>
                            <ns0:childTnLst>
                              <ns0:par>
                                <ns0:cTn id="26" presetID="42" presetClass="entr" presetSubtype="0" fill="hold" grpId="0" nodeType="clickEffect">
                                  <ns0:stCondLst>
                                    <ns0:cond delay="0"/>
                                  </ns0:stCondLst>
                                  <ns0:childTnLst>
                                    <ns0:set>
                                      <ns0:cBhvr>
                                        <ns0:cTn id="27" dur="1" fill="hold">
                                          <ns0:stCondLst>
                                            <ns0:cond delay="0"/>
                                          </ns0:stCondLst>
                                        </ns0:cTn>
                                        <ns0:tgtEl>
                                          <ns0:spTgt spid="12"/>
                                        </ns0:tgtEl>
                                        <ns0:attrNameLst>
                                          <ns0:attrName>style.visibility</ns0:attrName>
                                        </ns0:attrNameLst>
                                      </ns0:cBhvr>
                                      <ns0:to>
                                        <ns0:strVal val="visible"/>
                                      </ns0:to>
                                    </ns0:set>
                                    <ns0:animEffect transition="in" filter="fade">
                                      <ns0:cBhvr>
                                        <ns0:cTn id="28" dur="500"/>
                                        <ns0:tgtEl>
                                          <ns0:spTgt spid="12"/>
                                        </ns0:tgtEl>
                                      </ns0:cBhvr>
                                    </ns0:animEffect>
                                    <ns0:anim calcmode="lin" valueType="num">
                                      <ns0:cBhvr additive="base">
                                        <ns0:cTn id="29"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par>
                                <ns0:cTn id="30" presetID="42" presetClass="entr" presetSubtype="0" fill="hold" grpId="0" nodeType="withEffect">
                                  <ns0:stCondLst>
                                    <ns0:cond delay="100"/>
                                  </ns0:stCondLst>
                                  <ns0:childTnLst>
                                    <ns0:set>
                                      <ns0:cBhvr>
                                        <ns0:cTn id="31" dur="1" fill="hold">
                                          <ns0:stCondLst>
                                            <ns0:cond delay="0"/>
                                          </ns0:stCondLst>
                                        </ns0:cTn>
                                        <ns0:tgtEl>
                                          <ns0:spTgt spid="13"/>
                                        </ns0:tgtEl>
                                        <ns0:attrNameLst>
                                          <ns0:attrName>style.visibility</ns0:attrName>
                                        </ns0:attrNameLst>
                                      </ns0:cBhvr>
                                      <ns0:to>
                                        <ns0:strVal val="visible"/>
                                      </ns0:to>
                                    </ns0:set>
                                    <ns0:animEffect transition="in" filter="fade">
                                      <ns0:cBhvr>
                                        <ns0:cTn id="32" dur="500"/>
                                        <ns0:tgtEl>
                                          <ns0:spTgt spid="13"/>
                                        </ns0:tgtEl>
                                      </ns0:cBhvr>
                                    </ns0:animEffect>
                                    <ns0:anim calcmode="lin" valueType="num">
                                      <ns0:cBhvr additive="base">
                                        <ns0:cTn id="33" dur="500" fill="hold"/>
                                        <ns0:tgtEl>
                                          <ns0:spTgt spid="13"/>
                                        </ns0:tgtEl>
                                        <ns0:attrNameLst>
                                          <ns0:attrName>ppt_y</ns0:attrName>
                                        </ns0:attrNameLst>
                                      </ns0:cBhvr>
                                      <ns0:tavLst>
                                        <ns0:tav tm="0">
                                          <ns0:val>
                                            <ns0:strVal val="#ppt_y+0.018"/>
                                          </ns0:val>
                                        </ns0:tav>
                                        <ns0:tav tm="100000">
                                          <ns0:val>
                                            <ns0:strVal val="#ppt_y"/>
                                          </ns0:val>
                                        </ns0:tav>
                                      </ns0:tavLst>
                                    </ns0:anim>
                                  </ns0:childTnLst>
                                </ns0:cTn>
                              </ns0:par>
                              <ns0:par>
                                <ns0:cTn id="34" presetID="42" presetClass="entr" presetSubtype="0" fill="hold" grpId="0" nodeType="withEffect">
                                  <ns0:stCondLst>
                                    <ns0:cond delay="200"/>
                                  </ns0:stCondLst>
                                  <ns0:childTnLst>
                                    <ns0:set>
                                      <ns0:cBhvr>
                                        <ns0:cTn id="35" dur="1" fill="hold">
                                          <ns0:stCondLst>
                                            <ns0:cond delay="0"/>
                                          </ns0:stCondLst>
                                        </ns0:cTn>
                                        <ns0:tgtEl>
                                          <ns0:spTgt spid="14"/>
                                        </ns0:tgtEl>
                                        <ns0:attrNameLst>
                                          <ns0:attrName>style.visibility</ns0:attrName>
                                        </ns0:attrNameLst>
                                      </ns0:cBhvr>
                                      <ns0:to>
                                        <ns0:strVal val="visible"/>
                                      </ns0:to>
                                    </ns0:set>
                                    <ns0:animEffect transition="in" filter="fade">
                                      <ns0:cBhvr>
                                        <ns0:cTn id="36" dur="500"/>
                                        <ns0:tgtEl>
                                          <ns0:spTgt spid="14"/>
                                        </ns0:tgtEl>
                                      </ns0:cBhvr>
                                    </ns0:animEffect>
                                    <ns0:anim calcmode="lin" valueType="num">
                                      <ns0:cBhvr additive="base">
                                        <ns0:cTn id="37" dur="500" fill="hold"/>
                                        <ns0:tgtEl>
                                          <ns0:spTgt spid="14"/>
                                        </ns0:tgtEl>
                                        <ns0:attrNameLst>
                                          <ns0:attrName>ppt_y</ns0:attrName>
                                        </ns0:attrNameLst>
                                      </ns0:cBhvr>
                                      <ns0:tavLst>
                                        <ns0:tav tm="0">
                                          <ns0:val>
                                            <ns0:strVal val="#ppt_y+0.018"/>
                                          </ns0:val>
                                        </ns0:tav>
                                        <ns0:tav tm="100000">
                                          <ns0:val>
                                            <ns0:strVal val="#ppt_y"/>
                                          </ns0:val>
                                        </ns0:tav>
                                      </ns0:tavLst>
                                    </ns0:anim>
                                  </ns0:childTnLst>
                                </ns0:cTn>
                              </ns0:par>
                              <ns0:par>
                                <ns0:cTn id="38" presetID="42" presetClass="entr" presetSubtype="0" fill="hold" grpId="0" nodeType="withEffect">
                                  <ns0:stCondLst>
                                    <ns0:cond delay="300"/>
                                  </ns0:stCondLst>
                                  <ns0:childTnLst>
                                    <ns0:set>
                                      <ns0:cBhvr>
                                        <ns0:cTn id="39" dur="1" fill="hold">
                                          <ns0:stCondLst>
                                            <ns0:cond delay="0"/>
                                          </ns0:stCondLst>
                                        </ns0:cTn>
                                        <ns0:tgtEl>
                                          <ns0:spTgt spid="15"/>
                                        </ns0:tgtEl>
                                        <ns0:attrNameLst>
                                          <ns0:attrName>style.visibility</ns0:attrName>
                                        </ns0:attrNameLst>
                                      </ns0:cBhvr>
                                      <ns0:to>
                                        <ns0:strVal val="visible"/>
                                      </ns0:to>
                                    </ns0:set>
                                    <ns0:animEffect transition="in" filter="fade">
                                      <ns0:cBhvr>
                                        <ns0:cTn id="40" dur="500"/>
                                        <ns0:tgtEl>
                                          <ns0:spTgt spid="15"/>
                                        </ns0:tgtEl>
                                      </ns0:cBhvr>
                                    </ns0:animEffect>
                                    <ns0:anim calcmode="lin" valueType="num">
                                      <ns0:cBhvr additive="base">
                                        <ns0:cTn id="41" dur="500" fill="hold"/>
                                        <ns0:tgtEl>
                                          <ns0:spTgt spid="15"/>
                                        </ns0:tgtEl>
                                        <ns0:attrNameLst>
                                          <ns0:attrName>ppt_y</ns0:attrName>
                                        </ns0:attrNameLst>
                                      </ns0:cBhvr>
                                      <ns0:tavLst>
                                        <ns0:tav tm="0">
                                          <ns0:val>
                                            <ns0:strVal val="#ppt_y+0.018"/>
                                          </ns0:val>
                                        </ns0:tav>
                                        <ns0:tav tm="100000">
                                          <ns0:val>
                                            <ns0:strVal val="#ppt_y"/>
                                          </ns0:val>
                                        </ns0:tav>
                                      </ns0:tavLst>
                                    </ns0:anim>
                                  </ns0:childTnLst>
                                </ns0:cTn>
                              </ns0:par>
                              <ns0:par>
                                <ns0:cTn id="42" presetID="42" presetClass="entr" presetSubtype="0" fill="hold" grpId="0" nodeType="withEffect">
                                  <ns0:stCondLst>
                                    <ns0:cond delay="400"/>
                                  </ns0:stCondLst>
                                  <ns0:childTnLst>
                                    <ns0:set>
                                      <ns0:cBhvr>
                                        <ns0:cTn id="43" dur="1" fill="hold">
                                          <ns0:stCondLst>
                                            <ns0:cond delay="0"/>
                                          </ns0:stCondLst>
                                        </ns0:cTn>
                                        <ns0:tgtEl>
                                          <ns0:spTgt spid="16"/>
                                        </ns0:tgtEl>
                                        <ns0:attrNameLst>
                                          <ns0:attrName>style.visibility</ns0:attrName>
                                        </ns0:attrNameLst>
                                      </ns0:cBhvr>
                                      <ns0:to>
                                        <ns0:strVal val="visible"/>
                                      </ns0:to>
                                    </ns0:set>
                                    <ns0:animEffect transition="in" filter="fade">
                                      <ns0:cBhvr>
                                        <ns0:cTn id="44" dur="500"/>
                                        <ns0:tgtEl>
                                          <ns0:spTgt spid="16"/>
                                        </ns0:tgtEl>
                                      </ns0:cBhvr>
                                    </ns0:animEffect>
                                    <ns0:anim calcmode="lin" valueType="num">
                                      <ns0:cBhvr additive="base">
                                        <ns0:cTn id="45" dur="500" fill="hold"/>
                                        <ns0:tgtEl>
                                          <ns0:spTgt spid="1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46" fill="hold">
                      <ns0:stCondLst>
                        <ns0:cond delay="indefinite"/>
                      </ns0:stCondLst>
                      <ns0:childTnLst>
                        <ns0:par>
                          <ns0:cTn id="47" fill="hold">
                            <ns0:stCondLst>
                              <ns0:cond delay="0"/>
                            </ns0:stCondLst>
                            <ns0:childTnLst>
                              <ns0:par>
                                <ns0:cTn id="48" presetID="42" presetClass="entr" presetSubtype="0" fill="hold" grpId="0" nodeType="clickEffect">
                                  <ns0:stCondLst>
                                    <ns0:cond delay="0"/>
                                  </ns0:stCondLst>
                                  <ns0:childTnLst>
                                    <ns0:set>
                                      <ns0:cBhvr>
                                        <ns0:cTn id="49" dur="1" fill="hold">
                                          <ns0:stCondLst>
                                            <ns0:cond delay="0"/>
                                          </ns0:stCondLst>
                                        </ns0:cTn>
                                        <ns0:tgtEl>
                                          <ns0:spTgt spid="17"/>
                                        </ns0:tgtEl>
                                        <ns0:attrNameLst>
                                          <ns0:attrName>style.visibility</ns0:attrName>
                                        </ns0:attrNameLst>
                                      </ns0:cBhvr>
                                      <ns0:to>
                                        <ns0:strVal val="visible"/>
                                      </ns0:to>
                                    </ns0:set>
                                    <ns0:animEffect transition="in" filter="fade">
                                      <ns0:cBhvr>
                                        <ns0:cTn id="50" dur="500"/>
                                        <ns0:tgtEl>
                                          <ns0:spTgt spid="17"/>
                                        </ns0:tgtEl>
                                      </ns0:cBhvr>
                                    </ns0:animEffect>
                                    <ns0:anim calcmode="lin" valueType="num">
                                      <ns0:cBhvr additive="base">
                                        <ns0:cTn id="51" dur="500" fill="hold"/>
                                        <ns0:tgtEl>
                                          <ns0:spTgt spid="17"/>
                                        </ns0:tgtEl>
                                        <ns0:attrNameLst>
                                          <ns0:attrName>ppt_y</ns0:attrName>
                                        </ns0:attrNameLst>
                                      </ns0:cBhvr>
                                      <ns0:tavLst>
                                        <ns0:tav tm="0">
                                          <ns0:val>
                                            <ns0:strVal val="#ppt_y+0.018"/>
                                          </ns0:val>
                                        </ns0:tav>
                                        <ns0:tav tm="100000">
                                          <ns0:val>
                                            <ns0:strVal val="#ppt_y"/>
                                          </ns0:val>
                                        </ns0:tav>
                                      </ns0:tavLst>
                                    </ns0:anim>
                                  </ns0:childTnLst>
                                </ns0:cTn>
                              </ns0:par>
                              <ns0:par>
                                <ns0:cTn id="52" presetID="42" presetClass="entr" presetSubtype="0" fill="hold" grpId="0" nodeType="withEffect">
                                  <ns0:stCondLst>
                                    <ns0:cond delay="100"/>
                                  </ns0:stCondLst>
                                  <ns0:childTnLst>
                                    <ns0:set>
                                      <ns0:cBhvr>
                                        <ns0:cTn id="53" dur="1" fill="hold">
                                          <ns0:stCondLst>
                                            <ns0:cond delay="0"/>
                                          </ns0:stCondLst>
                                        </ns0:cTn>
                                        <ns0:tgtEl>
                                          <ns0:spTgt spid="18"/>
                                        </ns0:tgtEl>
                                        <ns0:attrNameLst>
                                          <ns0:attrName>style.visibility</ns0:attrName>
                                        </ns0:attrNameLst>
                                      </ns0:cBhvr>
                                      <ns0:to>
                                        <ns0:strVal val="visible"/>
                                      </ns0:to>
                                    </ns0:set>
                                    <ns0:animEffect transition="in" filter="fade">
                                      <ns0:cBhvr>
                                        <ns0:cTn id="54" dur="500"/>
                                        <ns0:tgtEl>
                                          <ns0:spTgt spid="18"/>
                                        </ns0:tgtEl>
                                      </ns0:cBhvr>
                                    </ns0:animEffect>
                                    <ns0:anim calcmode="lin" valueType="num">
                                      <ns0:cBhvr additive="base">
                                        <ns0:cTn id="55" dur="500" fill="hold"/>
                                        <ns0:tgtEl>
                                          <ns0:spTgt spid="18"/>
                                        </ns0:tgtEl>
                                        <ns0:attrNameLst>
                                          <ns0:attrName>ppt_y</ns0:attrName>
                                        </ns0:attrNameLst>
                                      </ns0:cBhvr>
                                      <ns0:tavLst>
                                        <ns0:tav tm="0">
                                          <ns0:val>
                                            <ns0:strVal val="#ppt_y+0.018"/>
                                          </ns0:val>
                                        </ns0:tav>
                                        <ns0:tav tm="100000">
                                          <ns0:val>
                                            <ns0:strVal val="#ppt_y"/>
                                          </ns0:val>
                                        </ns0:tav>
                                      </ns0:tavLst>
                                    </ns0:anim>
                                  </ns0:childTnLst>
                                </ns0:cTn>
                              </ns0:par>
                              <ns0:par>
                                <ns0:cTn id="56" presetID="42" presetClass="entr" presetSubtype="0" fill="hold" grpId="0" nodeType="withEffect">
                                  <ns0:stCondLst>
                                    <ns0:cond delay="200"/>
                                  </ns0:stCondLst>
                                  <ns0:childTnLst>
                                    <ns0:set>
                                      <ns0:cBhvr>
                                        <ns0:cTn id="57" dur="1" fill="hold">
                                          <ns0:stCondLst>
                                            <ns0:cond delay="0"/>
                                          </ns0:stCondLst>
                                        </ns0:cTn>
                                        <ns0:tgtEl>
                                          <ns0:spTgt spid="19"/>
                                        </ns0:tgtEl>
                                        <ns0:attrNameLst>
                                          <ns0:attrName>style.visibility</ns0:attrName>
                                        </ns0:attrNameLst>
                                      </ns0:cBhvr>
                                      <ns0:to>
                                        <ns0:strVal val="visible"/>
                                      </ns0:to>
                                    </ns0:set>
                                    <ns0:animEffect transition="in" filter="fade">
                                      <ns0:cBhvr>
                                        <ns0:cTn id="58" dur="500"/>
                                        <ns0:tgtEl>
                                          <ns0:spTgt spid="19"/>
                                        </ns0:tgtEl>
                                      </ns0:cBhvr>
                                    </ns0:animEffect>
                                    <ns0:anim calcmode="lin" valueType="num">
                                      <ns0:cBhvr additive="base">
                                        <ns0:cTn id="59" dur="500" fill="hold"/>
                                        <ns0:tgtEl>
                                          <ns0:spTgt spid="19"/>
                                        </ns0:tgtEl>
                                        <ns0:attrNameLst>
                                          <ns0:attrName>ppt_y</ns0:attrName>
                                        </ns0:attrNameLst>
                                      </ns0:cBhvr>
                                      <ns0:tavLst>
                                        <ns0:tav tm="0">
                                          <ns0:val>
                                            <ns0:strVal val="#ppt_y+0.018"/>
                                          </ns0:val>
                                        </ns0:tav>
                                        <ns0:tav tm="100000">
                                          <ns0:val>
                                            <ns0:strVal val="#ppt_y"/>
                                          </ns0:val>
                                        </ns0:tav>
                                      </ns0:tavLst>
                                    </ns0:anim>
                                  </ns0:childTnLst>
                                </ns0:cTn>
                              </ns0:par>
                              <ns0:par>
                                <ns0:cTn id="60" presetID="42" presetClass="entr" presetSubtype="0" fill="hold" grpId="0" nodeType="withEffect">
                                  <ns0:stCondLst>
                                    <ns0:cond delay="300"/>
                                  </ns0:stCondLst>
                                  <ns0:childTnLst>
                                    <ns0:set>
                                      <ns0:cBhvr>
                                        <ns0:cTn id="61" dur="1" fill="hold">
                                          <ns0:stCondLst>
                                            <ns0:cond delay="0"/>
                                          </ns0:stCondLst>
                                        </ns0:cTn>
                                        <ns0:tgtEl>
                                          <ns0:spTgt spid="20"/>
                                        </ns0:tgtEl>
                                        <ns0:attrNameLst>
                                          <ns0:attrName>style.visibility</ns0:attrName>
                                        </ns0:attrNameLst>
                                      </ns0:cBhvr>
                                      <ns0:to>
                                        <ns0:strVal val="visible"/>
                                      </ns0:to>
                                    </ns0:set>
                                    <ns0:animEffect transition="in" filter="fade">
                                      <ns0:cBhvr>
                                        <ns0:cTn id="62" dur="500"/>
                                        <ns0:tgtEl>
                                          <ns0:spTgt spid="20"/>
                                        </ns0:tgtEl>
                                      </ns0:cBhvr>
                                    </ns0:animEffect>
                                    <ns0:anim calcmode="lin" valueType="num">
                                      <ns0:cBhvr additive="base">
                                        <ns0:cTn id="63" dur="500" fill="hold"/>
                                        <ns0:tgtEl>
                                          <ns0:spTgt spid="20"/>
                                        </ns0:tgtEl>
                                        <ns0:attrNameLst>
                                          <ns0:attrName>ppt_y</ns0:attrName>
                                        </ns0:attrNameLst>
                                      </ns0:cBhvr>
                                      <ns0:tavLst>
                                        <ns0:tav tm="0">
                                          <ns0:val>
                                            <ns0:strVal val="#ppt_y+0.018"/>
                                          </ns0:val>
                                        </ns0:tav>
                                        <ns0:tav tm="100000">
                                          <ns0:val>
                                            <ns0:strVal val="#ppt_y"/>
                                          </ns0:val>
                                        </ns0:tav>
                                      </ns0:tavLst>
                                    </ns0:anim>
                                  </ns0:childTnLst>
                                </ns0:cTn>
                              </ns0:par>
                              <ns0:par>
                                <ns0:cTn id="64" presetID="42" presetClass="entr" presetSubtype="0" fill="hold" grpId="0" nodeType="withEffect">
                                  <ns0:stCondLst>
                                    <ns0:cond delay="400"/>
                                  </ns0:stCondLst>
                                  <ns0:childTnLst>
                                    <ns0:set>
                                      <ns0:cBhvr>
                                        <ns0:cTn id="65" dur="1" fill="hold">
                                          <ns0:stCondLst>
                                            <ns0:cond delay="0"/>
                                          </ns0:stCondLst>
                                        </ns0:cTn>
                                        <ns0:tgtEl>
                                          <ns0:spTgt spid="21"/>
                                        </ns0:tgtEl>
                                        <ns0:attrNameLst>
                                          <ns0:attrName>style.visibility</ns0:attrName>
                                        </ns0:attrNameLst>
                                      </ns0:cBhvr>
                                      <ns0:to>
                                        <ns0:strVal val="visible"/>
                                      </ns0:to>
                                    </ns0:set>
                                    <ns0:animEffect transition="in" filter="fade">
                                      <ns0:cBhvr>
                                        <ns0:cTn id="66" dur="500"/>
                                        <ns0:tgtEl>
                                          <ns0:spTgt spid="21"/>
                                        </ns0:tgtEl>
                                      </ns0:cBhvr>
                                    </ns0:animEffect>
                                    <ns0:anim calcmode="lin" valueType="num">
                                      <ns0:cBhvr additive="base">
                                        <ns0:cTn id="67" dur="500" fill="hold"/>
                                        <ns0:tgtEl>
                                          <ns0:spTgt spid="2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68" fill="hold">
                      <ns0:stCondLst>
                        <ns0:cond delay="indefinite"/>
                      </ns0:stCondLst>
                      <ns0:childTnLst>
                        <ns0:par>
                          <ns0:cTn id="69" fill="hold">
                            <ns0:stCondLst>
                              <ns0:cond delay="0"/>
                            </ns0:stCondLst>
                            <ns0:childTnLst>
                              <ns0:par>
                                <ns0:cTn id="70" presetID="42" presetClass="entr" presetSubtype="0" fill="hold" grpId="0" nodeType="clickEffect">
                                  <ns0:stCondLst>
                                    <ns0:cond delay="0"/>
                                  </ns0:stCondLst>
                                  <ns0:childTnLst>
                                    <ns0:set>
                                      <ns0:cBhvr>
                                        <ns0:cTn id="71" dur="1" fill="hold">
                                          <ns0:stCondLst>
                                            <ns0:cond delay="0"/>
                                          </ns0:stCondLst>
                                        </ns0:cTn>
                                        <ns0:tgtEl>
                                          <ns0:spTgt spid="22"/>
                                        </ns0:tgtEl>
                                        <ns0:attrNameLst>
                                          <ns0:attrName>style.visibility</ns0:attrName>
                                        </ns0:attrNameLst>
                                      </ns0:cBhvr>
                                      <ns0:to>
                                        <ns0:strVal val="visible"/>
                                      </ns0:to>
                                    </ns0:set>
                                    <ns0:animEffect transition="in" filter="fade">
                                      <ns0:cBhvr>
                                        <ns0:cTn id="72" dur="500"/>
                                        <ns0:tgtEl>
                                          <ns0:spTgt spid="22"/>
                                        </ns0:tgtEl>
                                      </ns0:cBhvr>
                                    </ns0:animEffect>
                                    <ns0:anim calcmode="lin" valueType="num">
                                      <ns0:cBhvr additive="base">
                                        <ns0:cTn id="73" dur="500" fill="hold"/>
                                        <ns0:tgtEl>
                                          <ns0:spTgt spid="22"/>
                                        </ns0:tgtEl>
                                        <ns0:attrNameLst>
                                          <ns0:attrName>ppt_y</ns0:attrName>
                                        </ns0:attrNameLst>
                                      </ns0:cBhvr>
                                      <ns0:tavLst>
                                        <ns0:tav tm="0">
                                          <ns0:val>
                                            <ns0:strVal val="#ppt_y+0.018"/>
                                          </ns0:val>
                                        </ns0:tav>
                                        <ns0:tav tm="100000">
                                          <ns0:val>
                                            <ns0:strVal val="#ppt_y"/>
                                          </ns0:val>
                                        </ns0:tav>
                                      </ns0:tavLst>
                                    </ns0:anim>
                                  </ns0:childTnLst>
                                </ns0:cTn>
                              </ns0:par>
                              <ns0:par>
                                <ns0:cTn id="74" presetID="42" presetClass="entr" presetSubtype="0" fill="hold" grpId="0" nodeType="withEffect">
                                  <ns0:stCondLst>
                                    <ns0:cond delay="100"/>
                                  </ns0:stCondLst>
                                  <ns0:childTnLst>
                                    <ns0:set>
                                      <ns0:cBhvr>
                                        <ns0:cTn id="75" dur="1" fill="hold">
                                          <ns0:stCondLst>
                                            <ns0:cond delay="0"/>
                                          </ns0:stCondLst>
                                        </ns0:cTn>
                                        <ns0:tgtEl>
                                          <ns0:spTgt spid="23"/>
                                        </ns0:tgtEl>
                                        <ns0:attrNameLst>
                                          <ns0:attrName>style.visibility</ns0:attrName>
                                        </ns0:attrNameLst>
                                      </ns0:cBhvr>
                                      <ns0:to>
                                        <ns0:strVal val="visible"/>
                                      </ns0:to>
                                    </ns0:set>
                                    <ns0:animEffect transition="in" filter="fade">
                                      <ns0:cBhvr>
                                        <ns0:cTn id="76" dur="500"/>
                                        <ns0:tgtEl>
                                          <ns0:spTgt spid="23"/>
                                        </ns0:tgtEl>
                                      </ns0:cBhvr>
                                    </ns0:animEffect>
                                    <ns0:anim calcmode="lin" valueType="num">
                                      <ns0:cBhvr additive="base">
                                        <ns0:cTn id="77" dur="500" fill="hold"/>
                                        <ns0:tgtEl>
                                          <ns0:spTgt spid="23"/>
                                        </ns0:tgtEl>
                                        <ns0:attrNameLst>
                                          <ns0:attrName>ppt_y</ns0:attrName>
                                        </ns0:attrNameLst>
                                      </ns0:cBhvr>
                                      <ns0:tavLst>
                                        <ns0:tav tm="0">
                                          <ns0:val>
                                            <ns0:strVal val="#ppt_y+0.018"/>
                                          </ns0:val>
                                        </ns0:tav>
                                        <ns0:tav tm="100000">
                                          <ns0:val>
                                            <ns0:strVal val="#ppt_y"/>
                                          </ns0:val>
                                        </ns0:tav>
                                      </ns0:tavLst>
                                    </ns0:anim>
                                  </ns0:childTnLst>
                                </ns0:cTn>
                              </ns0:par>
                              <ns0:par>
                                <ns0:cTn id="78" presetID="42" presetClass="entr" presetSubtype="0" fill="hold" grpId="0" nodeType="withEffect">
                                  <ns0:stCondLst>
                                    <ns0:cond delay="200"/>
                                  </ns0:stCondLst>
                                  <ns0:childTnLst>
                                    <ns0:set>
                                      <ns0:cBhvr>
                                        <ns0:cTn id="79" dur="1" fill="hold">
                                          <ns0:stCondLst>
                                            <ns0:cond delay="0"/>
                                          </ns0:stCondLst>
                                        </ns0:cTn>
                                        <ns0:tgtEl>
                                          <ns0:spTgt spid="24"/>
                                        </ns0:tgtEl>
                                        <ns0:attrNameLst>
                                          <ns0:attrName>style.visibility</ns0:attrName>
                                        </ns0:attrNameLst>
                                      </ns0:cBhvr>
                                      <ns0:to>
                                        <ns0:strVal val="visible"/>
                                      </ns0:to>
                                    </ns0:set>
                                    <ns0:animEffect transition="in" filter="fade">
                                      <ns0:cBhvr>
                                        <ns0:cTn id="80" dur="500"/>
                                        <ns0:tgtEl>
                                          <ns0:spTgt spid="24"/>
                                        </ns0:tgtEl>
                                      </ns0:cBhvr>
                                    </ns0:animEffect>
                                    <ns0:anim calcmode="lin" valueType="num">
                                      <ns0:cBhvr additive="base">
                                        <ns0:cTn id="81" dur="500" fill="hold"/>
                                        <ns0:tgtEl>
                                          <ns0:spTgt spid="24"/>
                                        </ns0:tgtEl>
                                        <ns0:attrNameLst>
                                          <ns0:attrName>ppt_y</ns0:attrName>
                                        </ns0:attrNameLst>
                                      </ns0:cBhvr>
                                      <ns0:tavLst>
                                        <ns0:tav tm="0">
                                          <ns0:val>
                                            <ns0:strVal val="#ppt_y+0.018"/>
                                          </ns0:val>
                                        </ns0:tav>
                                        <ns0:tav tm="100000">
                                          <ns0:val>
                                            <ns0:strVal val="#ppt_y"/>
                                          </ns0:val>
                                        </ns0:tav>
                                      </ns0:tavLst>
                                    </ns0:anim>
                                  </ns0:childTnLst>
                                </ns0:cTn>
                              </ns0:par>
                              <ns0:par>
                                <ns0:cTn id="82" presetID="42" presetClass="entr" presetSubtype="0" fill="hold" grpId="0" nodeType="withEffect">
                                  <ns0:stCondLst>
                                    <ns0:cond delay="300"/>
                                  </ns0:stCondLst>
                                  <ns0:childTnLst>
                                    <ns0:set>
                                      <ns0:cBhvr>
                                        <ns0:cTn id="83" dur="1" fill="hold">
                                          <ns0:stCondLst>
                                            <ns0:cond delay="0"/>
                                          </ns0:stCondLst>
                                        </ns0:cTn>
                                        <ns0:tgtEl>
                                          <ns0:spTgt spid="25"/>
                                        </ns0:tgtEl>
                                        <ns0:attrNameLst>
                                          <ns0:attrName>style.visibility</ns0:attrName>
                                        </ns0:attrNameLst>
                                      </ns0:cBhvr>
                                      <ns0:to>
                                        <ns0:strVal val="visible"/>
                                      </ns0:to>
                                    </ns0:set>
                                    <ns0:animEffect transition="in" filter="fade">
                                      <ns0:cBhvr>
                                        <ns0:cTn id="84" dur="500"/>
                                        <ns0:tgtEl>
                                          <ns0:spTgt spid="25"/>
                                        </ns0:tgtEl>
                                      </ns0:cBhvr>
                                    </ns0:animEffect>
                                    <ns0:anim calcmode="lin" valueType="num">
                                      <ns0:cBhvr additive="base">
                                        <ns0:cTn id="85" dur="500" fill="hold"/>
                                        <ns0:tgtEl>
                                          <ns0:spTgt spid="25"/>
                                        </ns0:tgtEl>
                                        <ns0:attrNameLst>
                                          <ns0:attrName>ppt_y</ns0:attrName>
                                        </ns0:attrNameLst>
                                      </ns0:cBhvr>
                                      <ns0:tavLst>
                                        <ns0:tav tm="0">
                                          <ns0:val>
                                            <ns0:strVal val="#ppt_y+0.018"/>
                                          </ns0:val>
                                        </ns0:tav>
                                        <ns0:tav tm="100000">
                                          <ns0:val>
                                            <ns0:strVal val="#ppt_y"/>
                                          </ns0:val>
                                        </ns0:tav>
                                      </ns0:tavLst>
                                    </ns0:anim>
                                  </ns0:childTnLst>
                                </ns0:cTn>
                              </ns0:par>
                              <ns0:par>
                                <ns0:cTn id="86" presetID="42" presetClass="entr" presetSubtype="0" fill="hold" grpId="0" nodeType="withEffect">
                                  <ns0:stCondLst>
                                    <ns0:cond delay="400"/>
                                  </ns0:stCondLst>
                                  <ns0:childTnLst>
                                    <ns0:set>
                                      <ns0:cBhvr>
                                        <ns0:cTn id="87" dur="1" fill="hold">
                                          <ns0:stCondLst>
                                            <ns0:cond delay="0"/>
                                          </ns0:stCondLst>
                                        </ns0:cTn>
                                        <ns0:tgtEl>
                                          <ns0:spTgt spid="26"/>
                                        </ns0:tgtEl>
                                        <ns0:attrNameLst>
                                          <ns0:attrName>style.visibility</ns0:attrName>
                                        </ns0:attrNameLst>
                                      </ns0:cBhvr>
                                      <ns0:to>
                                        <ns0:strVal val="visible"/>
                                      </ns0:to>
                                    </ns0:set>
                                    <ns0:animEffect transition="in" filter="fade">
                                      <ns0:cBhvr>
                                        <ns0:cTn id="88" dur="500"/>
                                        <ns0:tgtEl>
                                          <ns0:spTgt spid="26"/>
                                        </ns0:tgtEl>
                                      </ns0:cBhvr>
                                    </ns0:animEffect>
                                    <ns0:anim calcmode="lin" valueType="num">
                                      <ns0:cBhvr additive="base">
                                        <ns0:cTn id="89" dur="500" fill="hold"/>
                                        <ns0:tgtEl>
                                          <ns0:spTgt spid="26"/>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par>
                    <ns0:cTn id="90" fill="hold">
                      <ns0:stCondLst>
                        <ns0:cond delay="indefinite"/>
                      </ns0:stCondLst>
                      <ns0:childTnLst>
                        <ns0:par>
                          <ns0:cTn id="91" fill="hold">
                            <ns0:stCondLst>
                              <ns0:cond delay="0"/>
                            </ns0:stCondLst>
                            <ns0:childTnLst>
                              <ns0:par>
                                <ns0:cTn id="92" presetID="42" presetClass="entr" presetSubtype="0" fill="hold" grpId="0" nodeType="clickEffect">
                                  <ns0:stCondLst>
                                    <ns0:cond delay="0"/>
                                  </ns0:stCondLst>
                                  <ns0:childTnLst>
                                    <ns0:set>
                                      <ns0:cBhvr>
                                        <ns0:cTn id="93" dur="1" fill="hold">
                                          <ns0:stCondLst>
                                            <ns0:cond delay="0"/>
                                          </ns0:stCondLst>
                                        </ns0:cTn>
                                        <ns0:tgtEl>
                                          <ns0:spTgt spid="27"/>
                                        </ns0:tgtEl>
                                        <ns0:attrNameLst>
                                          <ns0:attrName>style.visibility</ns0:attrName>
                                        </ns0:attrNameLst>
                                      </ns0:cBhvr>
                                      <ns0:to>
                                        <ns0:strVal val="visible"/>
                                      </ns0:to>
                                    </ns0:set>
                                    <ns0:animEffect transition="in" filter="fade">
                                      <ns0:cBhvr>
                                        <ns0:cTn id="94" dur="500"/>
                                        <ns0:tgtEl>
                                          <ns0:spTgt spid="27"/>
                                        </ns0:tgtEl>
                                      </ns0:cBhvr>
                                    </ns0:animEffect>
                                    <ns0:anim calcmode="lin" valueType="num">
                                      <ns0:cBhvr additive="base">
                                        <ns0:cTn id="95" dur="500" fill="hold"/>
                                        <ns0:tgtEl>
                                          <ns0:spTgt spid="27"/>
                                        </ns0:tgtEl>
                                        <ns0:attrNameLst>
                                          <ns0:attrName>ppt_y</ns0:attrName>
                                        </ns0:attrNameLst>
                                      </ns0:cBhvr>
                                      <ns0:tavLst>
                                        <ns0:tav tm="0">
                                          <ns0:val>
                                            <ns0:strVal val="#ppt_y+0.018"/>
                                          </ns0:val>
                                        </ns0:tav>
                                        <ns0:tav tm="100000">
                                          <ns0:val>
                                            <ns0:strVal val="#ppt_y"/>
                                          </ns0:val>
                                        </ns0:tav>
                                      </ns0:tavLst>
                                    </ns0:anim>
                                  </ns0:childTnLst>
                                </ns0:cTn>
                              </ns0:par>
                              <ns0:par>
                                <ns0:cTn id="96" presetID="42" presetClass="entr" presetSubtype="0" fill="hold" grpId="0" nodeType="withEffect">
                                  <ns0:stCondLst>
                                    <ns0:cond delay="100"/>
                                  </ns0:stCondLst>
                                  <ns0:childTnLst>
                                    <ns0:set>
                                      <ns0:cBhvr>
                                        <ns0:cTn id="97" dur="1" fill="hold">
                                          <ns0:stCondLst>
                                            <ns0:cond delay="0"/>
                                          </ns0:stCondLst>
                                        </ns0:cTn>
                                        <ns0:tgtEl>
                                          <ns0:spTgt spid="28"/>
                                        </ns0:tgtEl>
                                        <ns0:attrNameLst>
                                          <ns0:attrName>style.visibility</ns0:attrName>
                                        </ns0:attrNameLst>
                                      </ns0:cBhvr>
                                      <ns0:to>
                                        <ns0:strVal val="visible"/>
                                      </ns0:to>
                                    </ns0:set>
                                    <ns0:animEffect transition="in" filter="fade">
                                      <ns0:cBhvr>
                                        <ns0:cTn id="98" dur="500"/>
                                        <ns0:tgtEl>
                                          <ns0:spTgt spid="28"/>
                                        </ns0:tgtEl>
                                      </ns0:cBhvr>
                                    </ns0:animEffect>
                                    <ns0:anim calcmode="lin" valueType="num">
                                      <ns0:cBhvr additive="base">
                                        <ns0:cTn id="99" dur="500" fill="hold"/>
                                        <ns0:tgtEl>
                                          <ns0:spTgt spid="28"/>
                                        </ns0:tgtEl>
                                        <ns0:attrNameLst>
                                          <ns0:attrName>ppt_y</ns0:attrName>
                                        </ns0:attrNameLst>
                                      </ns0:cBhvr>
                                      <ns0:tavLst>
                                        <ns0:tav tm="0">
                                          <ns0:val>
                                            <ns0:strVal val="#ppt_y+0.018"/>
                                          </ns0:val>
                                        </ns0:tav>
                                        <ns0:tav tm="100000">
                                          <ns0:val>
                                            <ns0:strVal val="#ppt_y"/>
                                          </ns0:val>
                                        </ns0:tav>
                                      </ns0:tavLst>
                                    </ns0:anim>
                                  </ns0:childTnLst>
                                </ns0:cTn>
                              </ns0:par>
                              <ns0:par>
                                <ns0:cTn id="100" presetID="42" presetClass="entr" presetSubtype="0" fill="hold" grpId="0" nodeType="withEffect">
                                  <ns0:stCondLst>
                                    <ns0:cond delay="200"/>
                                  </ns0:stCondLst>
                                  <ns0:childTnLst>
                                    <ns0:set>
                                      <ns0:cBhvr>
                                        <ns0:cTn id="101" dur="1" fill="hold">
                                          <ns0:stCondLst>
                                            <ns0:cond delay="0"/>
                                          </ns0:stCondLst>
                                        </ns0:cTn>
                                        <ns0:tgtEl>
                                          <ns0:spTgt spid="29"/>
                                        </ns0:tgtEl>
                                        <ns0:attrNameLst>
                                          <ns0:attrName>style.visibility</ns0:attrName>
                                        </ns0:attrNameLst>
                                      </ns0:cBhvr>
                                      <ns0:to>
                                        <ns0:strVal val="visible"/>
                                      </ns0:to>
                                    </ns0:set>
                                    <ns0:animEffect transition="in" filter="fade">
                                      <ns0:cBhvr>
                                        <ns0:cTn id="102" dur="500"/>
                                        <ns0:tgtEl>
                                          <ns0:spTgt spid="29"/>
                                        </ns0:tgtEl>
                                      </ns0:cBhvr>
                                    </ns0:animEffect>
                                    <ns0:anim calcmode="lin" valueType="num">
                                      <ns0:cBhvr additive="base">
                                        <ns0:cTn id="103" dur="500" fill="hold"/>
                                        <ns0:tgtEl>
                                          <ns0:spTgt spid="29"/>
                                        </ns0:tgtEl>
                                        <ns0:attrNameLst>
                                          <ns0:attrName>ppt_y</ns0:attrName>
                                        </ns0:attrNameLst>
                                      </ns0:cBhvr>
                                      <ns0:tavLst>
                                        <ns0:tav tm="0">
                                          <ns0:val>
                                            <ns0:strVal val="#ppt_y+0.018"/>
                                          </ns0:val>
                                        </ns0:tav>
                                        <ns0:tav tm="100000">
                                          <ns0:val>
                                            <ns0:strVal val="#ppt_y"/>
                                          </ns0:val>
                                        </ns0:tav>
                                      </ns0:tavLst>
                                    </ns0:anim>
                                  </ns0:childTnLst>
                                </ns0:cTn>
                              </ns0:par>
                              <ns0:par>
                                <ns0:cTn id="104" presetID="42" presetClass="entr" presetSubtype="0" fill="hold" grpId="0" nodeType="withEffect">
                                  <ns0:stCondLst>
                                    <ns0:cond delay="300"/>
                                  </ns0:stCondLst>
                                  <ns0:childTnLst>
                                    <ns0:set>
                                      <ns0:cBhvr>
                                        <ns0:cTn id="105" dur="1" fill="hold">
                                          <ns0:stCondLst>
                                            <ns0:cond delay="0"/>
                                          </ns0:stCondLst>
                                        </ns0:cTn>
                                        <ns0:tgtEl>
                                          <ns0:spTgt spid="30"/>
                                        </ns0:tgtEl>
                                        <ns0:attrNameLst>
                                          <ns0:attrName>style.visibility</ns0:attrName>
                                        </ns0:attrNameLst>
                                      </ns0:cBhvr>
                                      <ns0:to>
                                        <ns0:strVal val="visible"/>
                                      </ns0:to>
                                    </ns0:set>
                                    <ns0:animEffect transition="in" filter="fade">
                                      <ns0:cBhvr>
                                        <ns0:cTn id="106" dur="500"/>
                                        <ns0:tgtEl>
                                          <ns0:spTgt spid="30"/>
                                        </ns0:tgtEl>
                                      </ns0:cBhvr>
                                    </ns0:animEffect>
                                    <ns0:anim calcmode="lin" valueType="num">
                                      <ns0:cBhvr additive="base">
                                        <ns0:cTn id="107" dur="500" fill="hold"/>
                                        <ns0:tgtEl>
                                          <ns0:spTgt spid="30"/>
                                        </ns0:tgtEl>
                                        <ns0:attrNameLst>
                                          <ns0:attrName>ppt_y</ns0:attrName>
                                        </ns0:attrNameLst>
                                      </ns0:cBhvr>
                                      <ns0:tavLst>
                                        <ns0:tav tm="0">
                                          <ns0:val>
                                            <ns0:strVal val="#ppt_y+0.018"/>
                                          </ns0:val>
                                        </ns0:tav>
                                        <ns0:tav tm="100000">
                                          <ns0:val>
                                            <ns0:strVal val="#ppt_y"/>
                                          </ns0:val>
                                        </ns0:tav>
                                      </ns0:tavLst>
                                    </ns0:anim>
                                  </ns0:childTnLst>
                                </ns0:cTn>
                              </ns0:par>
                              <ns0:par>
                                <ns0:cTn id="108" presetID="42" presetClass="entr" presetSubtype="0" fill="hold" grpId="0" nodeType="withEffect">
                                  <ns0:stCondLst>
                                    <ns0:cond delay="400"/>
                                  </ns0:stCondLst>
                                  <ns0:childTnLst>
                                    <ns0:set>
                                      <ns0:cBhvr>
                                        <ns0:cTn id="109" dur="1" fill="hold">
                                          <ns0:stCondLst>
                                            <ns0:cond delay="0"/>
                                          </ns0:stCondLst>
                                        </ns0:cTn>
                                        <ns0:tgtEl>
                                          <ns0:spTgt spid="31"/>
                                        </ns0:tgtEl>
                                        <ns0:attrNameLst>
                                          <ns0:attrName>style.visibility</ns0:attrName>
                                        </ns0:attrNameLst>
                                      </ns0:cBhvr>
                                      <ns0:to>
                                        <ns0:strVal val="visible"/>
                                      </ns0:to>
                                    </ns0:set>
                                    <ns0:animEffect transition="in" filter="fade">
                                      <ns0:cBhvr>
                                        <ns0:cTn id="110" dur="500"/>
                                        <ns0:tgtEl>
                                          <ns0:spTgt spid="31"/>
                                        </ns0:tgtEl>
                                      </ns0:cBhvr>
                                    </ns0:animEffect>
                                    <ns0:anim calcmode="lin" valueType="num">
                                      <ns0:cBhvr additive="base">
                                        <ns0:cTn id="111" dur="500" fill="hold"/>
                                        <ns0:tgtEl>
                                          <ns0:spTgt spid="31"/>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7" grpId="0"/>
      <ns0:bldP spid="8" grpId="0"/>
      <ns0:bldP spid="9" grpId="0"/>
      <ns0:bldP spid="10" grpId="0"/>
      <ns0:bldP spid="11" grpId="0"/>
      <ns0:bldP spid="12" grpId="0"/>
      <ns0:bldP spid="13" grpId="0"/>
      <ns0:bldP spid="14" grpId="0"/>
      <ns0:bldP spid="15" grpId="0"/>
      <ns0:bldP spid="16" grpId="0"/>
      <ns0:bldP spid="17" grpId="0"/>
      <ns0:bldP spid="18" grpId="0"/>
      <ns0:bldP spid="19" grpId="0"/>
      <ns0:bldP spid="20" grpId="0"/>
      <ns0:bldP spid="21" grpId="0"/>
      <ns0:bldP spid="22" grpId="0"/>
      <ns0:bldP spid="23" grpId="0"/>
      <ns0:bldP spid="24" grpId="0"/>
      <ns0:bldP spid="25" grpId="0"/>
      <ns0:bldP spid="26" grpId="0"/>
      <ns0:bldP spid="27" grpId="0"/>
      <ns0:bldP spid="28" grpId="0"/>
      <ns0:bldP spid="29" grpId="0"/>
      <ns0:bldP spid="30" grpId="0"/>
      <ns0:bldP spid="31" grpId="0"/>
    </ns0:bldLst>
  </ns0:timing>
</ns0:sld>
</file>

<file path=ppt/slides/slide14.xml><?xml version="1.0" encoding="utf-8"?>
<ns0:sld xmlns:a="http://schemas.openxmlformats.org/drawingml/2006/main" xmlns:ns0="http://schemas.openxmlformats.org/presentationml/2006/main" xmlns:ns2="http://schemas.openxmlformats.org/officeDocument/2006/relationships">
  <ns0:cSld name="Slide 14">
    <ns0:bg>
      <ns0:bgPr>
        <a:blipFill dpi="0" rotWithShape="1">
          <a:blip ns2:embed="rId1">
            <a:lum/>
          </a:blip>
          <a:srcRect/>
          <a:stretch>
            <a:fillRect/>
          </a:stretch>
        </a:blipFill>
        <a:effectLst/>
      </ns0:bgPr>
    </ns0:bg>
    <ns0:spTree>
      <ns0:nvGrpSpPr>
        <ns0:cNvPr id="1" name=""/>
        <ns0:cNvGrpSpPr/>
        <ns0:nvPr/>
      </ns0:nvGrpSpPr>
      <ns0:grpSpPr>
        <a:xfrm>
          <a:off x="0" y="0"/>
          <a:ext cx="0" cy="0"/>
          <a:chOff x="0" y="0"/>
          <a:chExt cx="0" cy="0"/>
        </a:xfrm>
      </ns0:grpSpPr>
      <ns0:sp>
        <ns0:nvSpPr>
          <ns0:cNvPr id="2" name="Text 0"/>
          <ns0:cNvSpPr/>
          <ns0:nvPr/>
        </ns0:nvSpPr>
        <ns0:spPr>
          <a:xfrm>
            <a:off x="822960" y="1554480"/>
            <a:ext cx="7863840" cy="1737360"/>
          </a:xfrm>
          <a:prstGeom prst="rect">
            <a:avLst/>
          </a:prstGeom>
          <a:noFill/>
          <a:ln/>
        </ns0:spPr>
        <ns0:txBody>
          <a:bodyPr wrap="square" lIns="0" tIns="0" rIns="0" bIns="0" rtlCol="0" anchor="ctr"/>
          <a:lstStyle/>
          <a:p>
            <a:pPr indent="0" marL="0">
              <a:lnSpc>
                <a:spcPct val="108000"/>
              </a:lnSpc>
              <a:buNone/>
            </a:pPr>
            <a:r>
              <a:rPr lang="en-US" sz="4400" b="1" dirty="0">
                <a:solidFill>
                  <a:srgbClr val="FFFFFF"/>
                </a:solidFill>
                <a:latin typeface="Segoe UI" pitchFamily="34" charset="0"/>
                <a:ea typeface="Segoe UI" pitchFamily="34" charset="-122"/>
                <a:cs typeface="Segoe UI" pitchFamily="34" charset="-120"/>
              </a:rPr>
              <a:t>Cùng CareTouch chạm đến</a:t>
            </a:r>
            <a:endParaRPr lang="en-US" sz="4400" dirty="0"/>
          </a:p>
          <a:p>
            <a:pPr indent="0" marL="0">
              <a:lnSpc>
                <a:spcPct val="108000"/>
              </a:lnSpc>
              <a:buNone/>
            </a:pPr>
            <a:r>
              <a:rPr lang="en-US" sz="4400" b="1" dirty="0">
                <a:solidFill>
                  <a:srgbClr val="FFFFFF"/>
                </a:solidFill>
                <a:latin typeface="Segoe UI" pitchFamily="34" charset="0"/>
                <a:ea typeface="Segoe UI" pitchFamily="34" charset="-122"/>
                <a:cs typeface="Segoe UI" pitchFamily="34" charset="-120"/>
              </a:rPr>
              <a:t>sức khỏe Việt Nam.</a:t>
            </a:r>
            <a:endParaRPr lang="en-US" sz="4400" dirty="0"/>
          </a:p>
        </ns0:txBody>
      </ns0:sp>
      <ns0:sp>
        <ns0:nvSpPr>
          <ns0:cNvPr id="3" name="Text 1"/>
          <ns0:cNvSpPr/>
          <ns0:nvPr/>
        </ns0:nvSpPr>
        <ns0:spPr>
          <a:xfrm>
            <a:off x="822960" y="3383280"/>
            <a:ext cx="7315200" cy="502920"/>
          </a:xfrm>
          <a:prstGeom prst="rect">
            <a:avLst/>
          </a:prstGeom>
          <a:noFill/>
          <a:ln/>
        </ns0:spPr>
        <ns0:txBody>
          <a:bodyPr wrap="square" lIns="0" tIns="0" rIns="0" bIns="0" rtlCol="0" anchor="ctr"/>
          <a:lstStyle/>
          <a:p>
            <a:pPr indent="0" marL="0">
              <a:buNone/>
            </a:pPr>
            <a:r>
              <a:rPr lang="en-US" sz="2200" i="1" dirty="0">
                <a:solidFill>
                  <a:srgbClr val="F7965A"/>
                </a:solidFill>
                <a:latin typeface="Georgia" pitchFamily="34" charset="0"/>
                <a:ea typeface="Georgia" pitchFamily="34" charset="-122"/>
                <a:cs typeface="Georgia" pitchFamily="34" charset="-120"/>
              </a:rPr>
              <a:t>Healing Touch, Healthy Life.</a:t>
            </a:r>
            <a:endParaRPr lang="en-US" sz="2200" dirty="0"/>
          </a:p>
        </ns0:txBody>
      </ns0:sp>
      <ns0:sp>
        <ns0:nvSpPr>
          <ns0:cNvPr id="4" name="Shape 2"/>
          <ns0:cNvSpPr/>
          <ns0:nvPr/>
        </ns0:nvSpPr>
        <ns0:spPr>
          <a:xfrm>
            <a:off x="822960" y="4041648"/>
            <a:ext cx="6949440" cy="1901952"/>
          </a:xfrm>
          <a:prstGeom prst="roundRect">
            <a:avLst>
              <a:gd name="adj" fmla="val 5769"/>
            </a:avLst>
          </a:prstGeom>
          <a:solidFill>
            <a:srgbClr val="0E4A41">
              <a:alpha val="82000"/>
            </a:srgbClr>
          </a:solidFill>
          <a:ln w="12700">
            <a:solidFill>
              <a:srgbClr val="2AA88F"/>
            </a:solidFill>
            <a:prstDash val="solid"/>
          </a:ln>
        </ns0:spPr>
      </ns0:sp>
      <ns0:sp>
        <ns0:nvSpPr>
          <ns0:cNvPr id="5" name="Text 3"/>
          <ns0:cNvSpPr/>
          <ns0:nvPr/>
        </ns0:nvSpPr>
        <ns0:spPr>
          <a:xfrm>
            <a:off x="1097280" y="4187952"/>
            <a:ext cx="6400800" cy="713232"/>
          </a:xfrm>
          <a:prstGeom prst="rect">
            <a:avLst/>
          </a:prstGeom>
          <a:noFill/>
          <a:ln/>
        </ns0:spPr>
        <ns0:txBody>
          <a:bodyPr wrap="square" lIns="0" tIns="0" rIns="0" bIns="0" rtlCol="0" anchor="ctr"/>
          <a:lstStyle/>
          <a:p>
            <a:pPr indent="0" marL="0">
              <a:spcAft>
                <a:spcPts val="500"/>
              </a:spcAft>
              <a:buNone/>
            </a:pPr>
            <a:r>
              <a:rPr lang="en-US" sz="1700" b="1" dirty="0">
                <a:solidFill>
                  <a:srgbClr val="FFFFFF"/>
                </a:solidFill>
                <a:latin typeface="Segoe UI" pitchFamily="34" charset="0"/>
                <a:ea typeface="Segoe UI" pitchFamily="34" charset="-122"/>
                <a:cs typeface="Segoe UI" pitchFamily="34" charset="-120"/>
              </a:rPr>
              <a:t>Vốn gọi đề xuất (minh họa): 500 triệu đồng</a:t>
            </a:r>
            <a:endParaRPr lang="en-US" sz="1700" dirty="0"/>
          </a:p>
          <a:p>
            <a:pPr indent="0" marL="0">
              <a:spcAft>
                <a:spcPts val="500"/>
              </a:spcAft>
              <a:buNone/>
            </a:pPr>
            <a:r>
              <a:rPr lang="en-US" sz="1250" dirty="0">
                <a:solidFill>
                  <a:srgbClr val="CFE6DF"/>
                </a:solidFill>
                <a:latin typeface="Segoe UI" pitchFamily="34" charset="0"/>
                <a:ea typeface="Segoe UI" pitchFamily="34" charset="-122"/>
                <a:cs typeface="Segoe UI" pitchFamily="34" charset="-120"/>
              </a:rPr>
              <a:t>mở cơ sở thứ 2 và xây nền tảng đặt lịch đa kênh &amp; CRM — mục tiêu doanh thu năm 2 gấp đôi năm 1.</a:t>
            </a:r>
            <a:endParaRPr lang="en-US" sz="1700" dirty="0"/>
          </a:p>
        </ns0:txBody>
      </ns0:sp>
      <ns0:sp>
        <ns0:nvSpPr>
          <ns0:cNvPr id="6" name="Shape 4"/>
          <ns0:cNvSpPr/>
          <ns0:nvPr/>
        </ns0:nvSpPr>
        <ns0:spPr>
          <a:xfrm>
            <a:off x="1097280" y="4974336"/>
            <a:ext cx="2532888" cy="146304"/>
          </a:xfrm>
          <a:prstGeom prst="rect">
            <a:avLst/>
          </a:prstGeom>
          <a:solidFill>
            <a:srgbClr val="F7965A"/>
          </a:solidFill>
          <a:ln/>
        </ns0:spPr>
      </ns0:sp>
      <ns0:sp>
        <ns0:nvSpPr>
          <ns0:cNvPr id="7" name="Shape 5"/>
          <ns0:cNvSpPr/>
          <ns0:nvPr/>
        </ns0:nvSpPr>
        <ns0:spPr>
          <a:xfrm>
            <a:off x="3657600" y="4974336"/>
            <a:ext cx="996696" cy="146304"/>
          </a:xfrm>
          <a:prstGeom prst="rect">
            <a:avLst/>
          </a:prstGeom>
          <a:solidFill>
            <a:srgbClr val="0E7C6B"/>
          </a:solidFill>
          <a:ln/>
        </ns0:spPr>
      </ns0:sp>
      <ns0:sp>
        <ns0:nvSpPr>
          <ns0:cNvPr id="8" name="Shape 6"/>
          <ns0:cNvSpPr/>
          <ns0:nvPr/>
        </ns0:nvSpPr>
        <ns0:spPr>
          <a:xfrm>
            <a:off x="4681728" y="4974336"/>
            <a:ext cx="1252728" cy="146304"/>
          </a:xfrm>
          <a:prstGeom prst="rect">
            <a:avLst/>
          </a:prstGeom>
          <a:solidFill>
            <a:srgbClr val="9ED9CC"/>
          </a:solidFill>
          <a:ln/>
        </ns0:spPr>
      </ns0:sp>
      <ns0:sp>
        <ns0:nvSpPr>
          <ns0:cNvPr id="9" name="Shape 7"/>
          <ns0:cNvSpPr/>
          <ns0:nvPr/>
        </ns0:nvSpPr>
        <ns0:spPr>
          <a:xfrm>
            <a:off x="5961888" y="4974336"/>
            <a:ext cx="1508760" cy="146304"/>
          </a:xfrm>
          <a:prstGeom prst="rect">
            <a:avLst/>
          </a:prstGeom>
          <a:solidFill>
            <a:srgbClr val="CFE6DF"/>
          </a:solidFill>
          <a:ln/>
        </ns0:spPr>
      </ns0:sp>
      <ns0:sp>
        <ns0:nvSpPr>
          <ns0:cNvPr id="10" name="Text 8"/>
          <ns0:cNvSpPr/>
          <ns0:nvPr/>
        </ns0:nvSpPr>
        <ns0:spPr>
          <a:xfrm>
            <a:off x="1097280" y="5175504"/>
            <a:ext cx="6400800" cy="219456"/>
          </a:xfrm>
          <a:prstGeom prst="rect">
            <a:avLst/>
          </a:prstGeom>
          <a:noFill/>
          <a:ln/>
        </ns0:spPr>
        <ns0:txBody>
          <a:bodyPr wrap="square" lIns="0" tIns="0" rIns="0" bIns="0"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200 tr.</a:t>
            </a:r>
            <a:r>
              <a:rPr lang="en-US" sz="1000" dirty="0">
                <a:solidFill>
                  <a:srgbClr val="CFE6DF"/>
                </a:solidFill>
                <a:latin typeface="Segoe UI" pitchFamily="34" charset="0"/>
                <a:ea typeface="Segoe UI" pitchFamily="34" charset="-122"/>
                <a:cs typeface="Segoe UI" pitchFamily="34" charset="-120"/>
              </a:rPr>
              <a:t> cơ sở thứ 2      </a:t>
            </a:r>
            <a:r>
              <a:rPr lang="en-US" sz="1000" b="1" dirty="0">
                <a:solidFill>
                  <a:srgbClr val="FFFFFF"/>
                </a:solidFill>
                <a:latin typeface="Segoe UI" pitchFamily="34" charset="0"/>
                <a:ea typeface="Segoe UI" pitchFamily="34" charset="-122"/>
                <a:cs typeface="Segoe UI" pitchFamily="34" charset="-120"/>
              </a:rPr>
              <a:t>80 tr.</a:t>
            </a:r>
            <a:r>
              <a:rPr lang="en-US" sz="1000" dirty="0">
                <a:solidFill>
                  <a:srgbClr val="CFE6DF"/>
                </a:solidFill>
                <a:latin typeface="Segoe UI" pitchFamily="34" charset="0"/>
                <a:ea typeface="Segoe UI" pitchFamily="34" charset="-122"/>
                <a:cs typeface="Segoe UI" pitchFamily="34" charset="-120"/>
              </a:rPr>
              <a:t> nền tảng đặt lịch &amp; CRM      </a:t>
            </a:r>
            <a:r>
              <a:rPr lang="en-US" sz="1000" b="1" dirty="0">
                <a:solidFill>
                  <a:srgbClr val="FFFFFF"/>
                </a:solidFill>
                <a:latin typeface="Segoe UI" pitchFamily="34" charset="0"/>
                <a:ea typeface="Segoe UI" pitchFamily="34" charset="-122"/>
                <a:cs typeface="Segoe UI" pitchFamily="34" charset="-120"/>
              </a:rPr>
              <a:t>100 tr.</a:t>
            </a:r>
            <a:r>
              <a:rPr lang="en-US" sz="1000" dirty="0">
                <a:solidFill>
                  <a:srgbClr val="CFE6DF"/>
                </a:solidFill>
                <a:latin typeface="Segoe UI" pitchFamily="34" charset="0"/>
                <a:ea typeface="Segoe UI" pitchFamily="34" charset="-122"/>
                <a:cs typeface="Segoe UI" pitchFamily="34" charset="-120"/>
              </a:rPr>
              <a:t> marketing &amp; nhân sự      </a:t>
            </a:r>
            <a:r>
              <a:rPr lang="en-US" sz="1000" b="1" dirty="0">
                <a:solidFill>
                  <a:srgbClr val="FFFFFF"/>
                </a:solidFill>
                <a:latin typeface="Segoe UI" pitchFamily="34" charset="0"/>
                <a:ea typeface="Segoe UI" pitchFamily="34" charset="-122"/>
                <a:cs typeface="Segoe UI" pitchFamily="34" charset="-120"/>
              </a:rPr>
              <a:t>120 tr.</a:t>
            </a:r>
            <a:r>
              <a:rPr lang="en-US" sz="1000" dirty="0">
                <a:solidFill>
                  <a:srgbClr val="CFE6DF"/>
                </a:solidFill>
                <a:latin typeface="Segoe UI" pitchFamily="34" charset="0"/>
                <a:ea typeface="Segoe UI" pitchFamily="34" charset="-122"/>
                <a:cs typeface="Segoe UI" pitchFamily="34" charset="-120"/>
              </a:rPr>
              <a:t> vốn lưu động</a:t>
            </a:r>
            <a:endParaRPr lang="en-US" sz="1000" dirty="0"/>
          </a:p>
        </ns0:txBody>
      </ns0:sp>
      <ns0:sp>
        <ns0:nvSpPr>
          <ns0:cNvPr id="11" name="Text 9"/>
          <ns0:cNvSpPr/>
          <ns0:nvPr/>
        </ns0:nvSpPr>
        <ns0:spPr>
          <a:xfrm>
            <a:off x="1097280" y="5468112"/>
            <a:ext cx="6400800" cy="237744"/>
          </a:xfrm>
          <a:prstGeom prst="rect">
            <a:avLst/>
          </a:prstGeom>
          <a:noFill/>
          <a:ln/>
        </ns0:spPr>
        <ns0:txBody>
          <a:bodyPr wrap="square" lIns="0" tIns="0" rIns="0" bIns="0" rtlCol="0" anchor="ctr"/>
          <a:lstStyle/>
          <a:p>
            <a:pPr indent="0" marL="0">
              <a:buNone/>
            </a:pPr>
            <a:r>
              <a:rPr lang="en-US" sz="1050" i="1" dirty="0">
                <a:solidFill>
                  <a:srgbClr val="9EC9BF"/>
                </a:solidFill>
                <a:latin typeface="Segoe UI" pitchFamily="34" charset="0"/>
                <a:ea typeface="Segoe UI" pitchFamily="34" charset="-122"/>
                <a:cs typeface="Segoe UI" pitchFamily="34" charset="-120"/>
              </a:rPr>
              <a:t>Hình thức huy động: góp vốn đổi cổ phần — 500 triệu ≈ 12–15% (tỷ lệ minh họa, định giá xác lập khi đàm phán).</a:t>
            </a:r>
            <a:endParaRPr lang="en-US" sz="1050" dirty="0"/>
          </a:p>
        </ns0:txBody>
      </ns0:sp>
      <ns0:sp>
        <ns0:nvSpPr>
          <ns0:cNvPr id="12" name="Text 10"/>
          <ns0:cNvSpPr/>
          <ns0:nvPr/>
        </ns0:nvSpPr>
        <ns0:spPr>
          <a:xfrm>
            <a:off x="822960" y="6089904"/>
            <a:ext cx="10515600" cy="731520"/>
          </a:xfrm>
          <a:prstGeom prst="rect">
            <a:avLst/>
          </a:prstGeom>
          <a:noFill/>
          <a:ln/>
        </ns0:spPr>
        <ns0:txBody>
          <a:bodyPr wrap="square" lIns="0" tIns="0" rIns="0" bIns="0" rtlCol="0" anchor="ctr"/>
          <a:lstStyle/>
          <a:p>
            <a:pPr indent="0" marL="0">
              <a:spcAft>
                <a:spcPts val="400"/>
              </a:spcAft>
              <a:buNone/>
            </a:pPr>
            <a:r>
              <a:rPr lang="en-US" sz="1200" b="1" dirty="0">
                <a:solidFill>
                  <a:srgbClr val="FFFFFF"/>
                </a:solidFill>
                <a:latin typeface="Segoe UI" pitchFamily="34" charset="0"/>
                <a:ea typeface="Segoe UI" pitchFamily="34" charset="-122"/>
                <a:cs typeface="Segoe UI" pitchFamily="34" charset="-120"/>
              </a:rPr>
              <a:t>Nhóm 3 · Tổ 14 · Lớp A1K79</a:t>
            </a:r>
            <a:endParaRPr lang="en-US" sz="1200" dirty="0"/>
          </a:p>
          <a:p>
            <a:pPr indent="0" marL="0">
              <a:spcAft>
                <a:spcPts val="400"/>
              </a:spcAft>
              <a:buNone/>
            </a:pPr>
            <a:r>
              <a:rPr lang="en-US" sz="1200" dirty="0">
                <a:solidFill>
                  <a:srgbClr val="9EC9BF"/>
                </a:solidFill>
                <a:latin typeface="Segoe UI" pitchFamily="34" charset="0"/>
                <a:ea typeface="Segoe UI" pitchFamily="34" charset="-122"/>
                <a:cs typeface="Segoe UI" pitchFamily="34" charset="-120"/>
              </a:rPr>
              <a:t>Trịnh Hương Thảo · Bạch Thùy Trâm · Bùi Thị Anh Trâm · Phạm Quốc Việt · Viengkeo Shengchan</a:t>
            </a:r>
            <a:endParaRPr lang="en-US" sz="1200" dirty="0"/>
          </a:p>
        </ns0:txBody>
      </ns0:sp>
    </ns0:spTree>
  </ns0:cSld>
  <ns0:clrMapOvr>
    <a:masterClrMapping/>
  </ns0:clrMapOvr>
  <mc:AlternateContent xmlns:mc="httns0://schemas.openxmlformats.org/markup-compatibility/2006">
    <mc:Choice xmlns:p14="httns0://schemas.microsoft.com/office/powerpoint/2010/main" Requires="p14">
      <ns0:transition spd="med" p14:dur="600">
        <ns0:fade/>
      </ns0:transition>
    </mc:Choice>
    <mc:Fallback>
      <ns0:transition spd="med">
        <ns0:fade/>
      </ns0:transition>
    </mc:Fallback>
  </mc:AlternateContent>
  <ns0:timing>
    <ns0:tnLst>
      <ns0:par>
        <ns0:cTn id="1" dur="indefinite" restart="never" nodeType="tmRoot">
          <ns0:childTnLst>
            <ns0:seq concurrent="1" nextAc="seek">
              <ns0:cTn id="48" dur="indefinite" nodeType="mainSeq">
                <ns0:childTnLst>
                  <ns0:par>
                    <ns0:cTn id="2" fill="hold">
                      <ns0:stCondLst>
                        <ns0:cond delay="0"/>
                      </ns0:stCondLst>
                      <ns0:childTnLst>
                        <ns0:par>
                          <ns0:cTn id="3" fill="hold">
                            <ns0:stCondLst>
                              <ns0:cond delay="0"/>
                            </ns0:stCondLst>
                            <ns0:childTnLst>
                              <ns0:par>
                                <ns0:cTn id="4" presetID="42" presetClass="entr" presetSubtype="0" fill="hold" grpId="0" nodeType="afterEffect">
                                  <ns0:stCondLst>
                                    <ns0:cond delay="0"/>
                                  </ns0:stCondLst>
                                  <ns0:childTnLst>
                                    <ns0:set>
                                      <ns0:cBhvr>
                                        <ns0:cTn id="5" dur="1" fill="hold">
                                          <ns0:stCondLst>
                                            <ns0:cond delay="0"/>
                                          </ns0:stCondLst>
                                        </ns0:cTn>
                                        <ns0:tgtEl>
                                          <ns0:spTgt spid="2"/>
                                        </ns0:tgtEl>
                                        <ns0:attrNameLst>
                                          <ns0:attrName>style.visibility</ns0:attrName>
                                        </ns0:attrNameLst>
                                      </ns0:cBhvr>
                                      <ns0:to>
                                        <ns0:strVal val="visible"/>
                                      </ns0:to>
                                    </ns0:set>
                                    <ns0:animEffect transition="in" filter="fade">
                                      <ns0:cBhvr>
                                        <ns0:cTn id="6" dur="500"/>
                                        <ns0:tgtEl>
                                          <ns0:spTgt spid="2"/>
                                        </ns0:tgtEl>
                                      </ns0:cBhvr>
                                    </ns0:animEffect>
                                    <ns0:anim calcmode="lin" valueType="num">
                                      <ns0:cBhvr additive="base">
                                        <ns0:cTn id="7" dur="500" fill="hold"/>
                                        <ns0:tgtEl>
                                          <ns0:spTgt spid="2"/>
                                        </ns0:tgtEl>
                                        <ns0:attrNameLst>
                                          <ns0:attrName>ppt_y</ns0:attrName>
                                        </ns0:attrNameLst>
                                      </ns0:cBhvr>
                                      <ns0:tavLst>
                                        <ns0:tav tm="0">
                                          <ns0:val>
                                            <ns0:strVal val="#ppt_y+0.018"/>
                                          </ns0:val>
                                        </ns0:tav>
                                        <ns0:tav tm="100000">
                                          <ns0:val>
                                            <ns0:strVal val="#ppt_y"/>
                                          </ns0:val>
                                        </ns0:tav>
                                      </ns0:tavLst>
                                    </ns0:anim>
                                  </ns0:childTnLst>
                                </ns0:cTn>
                              </ns0:par>
                              <ns0:par>
                                <ns0:cTn id="8" presetID="42" presetClass="entr" presetSubtype="0" fill="hold" grpId="0" nodeType="withEffect">
                                  <ns0:stCondLst>
                                    <ns0:cond delay="400"/>
                                  </ns0:stCondLst>
                                  <ns0:childTnLst>
                                    <ns0:set>
                                      <ns0:cBhvr>
                                        <ns0:cTn id="9" dur="1" fill="hold">
                                          <ns0:stCondLst>
                                            <ns0:cond delay="0"/>
                                          </ns0:stCondLst>
                                        </ns0:cTn>
                                        <ns0:tgtEl>
                                          <ns0:spTgt spid="3"/>
                                        </ns0:tgtEl>
                                        <ns0:attrNameLst>
                                          <ns0:attrName>style.visibility</ns0:attrName>
                                        </ns0:attrNameLst>
                                      </ns0:cBhvr>
                                      <ns0:to>
                                        <ns0:strVal val="visible"/>
                                      </ns0:to>
                                    </ns0:set>
                                    <ns0:animEffect transition="in" filter="fade">
                                      <ns0:cBhvr>
                                        <ns0:cTn id="10" dur="500"/>
                                        <ns0:tgtEl>
                                          <ns0:spTgt spid="3"/>
                                        </ns0:tgtEl>
                                      </ns0:cBhvr>
                                    </ns0:animEffect>
                                    <ns0:anim calcmode="lin" valueType="num">
                                      <ns0:cBhvr additive="base">
                                        <ns0:cTn id="11" dur="500" fill="hold"/>
                                        <ns0:tgtEl>
                                          <ns0:spTgt spid="3"/>
                                        </ns0:tgtEl>
                                        <ns0:attrNameLst>
                                          <ns0:attrName>ppt_y</ns0:attrName>
                                        </ns0:attrNameLst>
                                      </ns0:cBhvr>
                                      <ns0:tavLst>
                                        <ns0:tav tm="0">
                                          <ns0:val>
                                            <ns0:strVal val="#ppt_y+0.018"/>
                                          </ns0:val>
                                        </ns0:tav>
                                        <ns0:tav tm="100000">
                                          <ns0:val>
                                            <ns0:strVal val="#ppt_y"/>
                                          </ns0:val>
                                        </ns0:tav>
                                      </ns0:tavLst>
                                    </ns0:anim>
                                  </ns0:childTnLst>
                                </ns0:cTn>
                              </ns0:par>
                              <ns0:par>
                                <ns0:cTn id="12" presetID="42" presetClass="entr" presetSubtype="0" fill="hold" grpId="0" nodeType="withEffect">
                                  <ns0:stCondLst>
                                    <ns0:cond delay="700"/>
                                  </ns0:stCondLst>
                                  <ns0:childTnLst>
                                    <ns0:set>
                                      <ns0:cBhvr>
                                        <ns0:cTn id="13" dur="1" fill="hold">
                                          <ns0:stCondLst>
                                            <ns0:cond delay="0"/>
                                          </ns0:stCondLst>
                                        </ns0:cTn>
                                        <ns0:tgtEl>
                                          <ns0:spTgt spid="4"/>
                                        </ns0:tgtEl>
                                        <ns0:attrNameLst>
                                          <ns0:attrName>style.visibility</ns0:attrName>
                                        </ns0:attrNameLst>
                                      </ns0:cBhvr>
                                      <ns0:to>
                                        <ns0:strVal val="visible"/>
                                      </ns0:to>
                                    </ns0:set>
                                    <ns0:animEffect transition="in" filter="fade">
                                      <ns0:cBhvr>
                                        <ns0:cTn id="14" dur="500"/>
                                        <ns0:tgtEl>
                                          <ns0:spTgt spid="4"/>
                                        </ns0:tgtEl>
                                      </ns0:cBhvr>
                                    </ns0:animEffect>
                                    <ns0:anim calcmode="lin" valueType="num">
                                      <ns0:cBhvr additive="base">
                                        <ns0:cTn id="15" dur="500" fill="hold"/>
                                        <ns0:tgtEl>
                                          <ns0:spTgt spid="4"/>
                                        </ns0:tgtEl>
                                        <ns0:attrNameLst>
                                          <ns0:attrName>ppt_y</ns0:attrName>
                                        </ns0:attrNameLst>
                                      </ns0:cBhvr>
                                      <ns0:tavLst>
                                        <ns0:tav tm="0">
                                          <ns0:val>
                                            <ns0:strVal val="#ppt_y+0.018"/>
                                          </ns0:val>
                                        </ns0:tav>
                                        <ns0:tav tm="100000">
                                          <ns0:val>
                                            <ns0:strVal val="#ppt_y"/>
                                          </ns0:val>
                                        </ns0:tav>
                                      </ns0:tavLst>
                                    </ns0:anim>
                                  </ns0:childTnLst>
                                </ns0:cTn>
                              </ns0:par>
                              <ns0:par>
                                <ns0:cTn id="16" presetID="42" presetClass="entr" presetSubtype="0" fill="hold" grpId="0" nodeType="withEffect">
                                  <ns0:stCondLst>
                                    <ns0:cond delay="850"/>
                                  </ns0:stCondLst>
                                  <ns0:childTnLst>
                                    <ns0:set>
                                      <ns0:cBhvr>
                                        <ns0:cTn id="17" dur="1" fill="hold">
                                          <ns0:stCondLst>
                                            <ns0:cond delay="0"/>
                                          </ns0:stCondLst>
                                        </ns0:cTn>
                                        <ns0:tgtEl>
                                          <ns0:spTgt spid="5"/>
                                        </ns0:tgtEl>
                                        <ns0:attrNameLst>
                                          <ns0:attrName>style.visibility</ns0:attrName>
                                        </ns0:attrNameLst>
                                      </ns0:cBhvr>
                                      <ns0:to>
                                        <ns0:strVal val="visible"/>
                                      </ns0:to>
                                    </ns0:set>
                                    <ns0:animEffect transition="in" filter="fade">
                                      <ns0:cBhvr>
                                        <ns0:cTn id="18" dur="500"/>
                                        <ns0:tgtEl>
                                          <ns0:spTgt spid="5"/>
                                        </ns0:tgtEl>
                                      </ns0:cBhvr>
                                    </ns0:animEffect>
                                    <ns0:anim calcmode="lin" valueType="num">
                                      <ns0:cBhvr additive="base">
                                        <ns0:cTn id="19" dur="500" fill="hold"/>
                                        <ns0:tgtEl>
                                          <ns0:spTgt spid="5"/>
                                        </ns0:tgtEl>
                                        <ns0:attrNameLst>
                                          <ns0:attrName>ppt_y</ns0:attrName>
                                        </ns0:attrNameLst>
                                      </ns0:cBhvr>
                                      <ns0:tavLst>
                                        <ns0:tav tm="0">
                                          <ns0:val>
                                            <ns0:strVal val="#ppt_y+0.018"/>
                                          </ns0:val>
                                        </ns0:tav>
                                        <ns0:tav tm="100000">
                                          <ns0:val>
                                            <ns0:strVal val="#ppt_y"/>
                                          </ns0:val>
                                        </ns0:tav>
                                      </ns0:tavLst>
                                    </ns0:anim>
                                  </ns0:childTnLst>
                                </ns0:cTn>
                              </ns0:par>
                              <ns0:par>
                                <ns0:cTn id="20" presetID="42" presetClass="entr" presetSubtype="0" fill="hold" grpId="0" nodeType="withEffect">
                                  <ns0:stCondLst>
                                    <ns0:cond delay="1050"/>
                                  </ns0:stCondLst>
                                  <ns0:childTnLst>
                                    <ns0:set>
                                      <ns0:cBhvr>
                                        <ns0:cTn id="21" dur="1" fill="hold">
                                          <ns0:stCondLst>
                                            <ns0:cond delay="0"/>
                                          </ns0:stCondLst>
                                        </ns0:cTn>
                                        <ns0:tgtEl>
                                          <ns0:spTgt spid="6"/>
                                        </ns0:tgtEl>
                                        <ns0:attrNameLst>
                                          <ns0:attrName>style.visibility</ns0:attrName>
                                        </ns0:attrNameLst>
                                      </ns0:cBhvr>
                                      <ns0:to>
                                        <ns0:strVal val="visible"/>
                                      </ns0:to>
                                    </ns0:set>
                                    <ns0:animEffect transition="in" filter="fade">
                                      <ns0:cBhvr>
                                        <ns0:cTn id="22" dur="500"/>
                                        <ns0:tgtEl>
                                          <ns0:spTgt spid="6"/>
                                        </ns0:tgtEl>
                                      </ns0:cBhvr>
                                    </ns0:animEffect>
                                    <ns0:anim calcmode="lin" valueType="num">
                                      <ns0:cBhvr additive="base">
                                        <ns0:cTn id="23" dur="500" fill="hold"/>
                                        <ns0:tgtEl>
                                          <ns0:spTgt spid="6"/>
                                        </ns0:tgtEl>
                                        <ns0:attrNameLst>
                                          <ns0:attrName>ppt_y</ns0:attrName>
                                        </ns0:attrNameLst>
                                      </ns0:cBhvr>
                                      <ns0:tavLst>
                                        <ns0:tav tm="0">
                                          <ns0:val>
                                            <ns0:strVal val="#ppt_y+0.018"/>
                                          </ns0:val>
                                        </ns0:tav>
                                        <ns0:tav tm="100000">
                                          <ns0:val>
                                            <ns0:strVal val="#ppt_y"/>
                                          </ns0:val>
                                        </ns0:tav>
                                      </ns0:tavLst>
                                    </ns0:anim>
                                  </ns0:childTnLst>
                                </ns0:cTn>
                              </ns0:par>
                              <ns0:par>
                                <ns0:cTn id="24" presetID="42" presetClass="entr" presetSubtype="0" fill="hold" grpId="0" nodeType="withEffect">
                                  <ns0:stCondLst>
                                    <ns0:cond delay="1130"/>
                                  </ns0:stCondLst>
                                  <ns0:childTnLst>
                                    <ns0:set>
                                      <ns0:cBhvr>
                                        <ns0:cTn id="25" dur="1" fill="hold">
                                          <ns0:stCondLst>
                                            <ns0:cond delay="0"/>
                                          </ns0:stCondLst>
                                        </ns0:cTn>
                                        <ns0:tgtEl>
                                          <ns0:spTgt spid="7"/>
                                        </ns0:tgtEl>
                                        <ns0:attrNameLst>
                                          <ns0:attrName>style.visibility</ns0:attrName>
                                        </ns0:attrNameLst>
                                      </ns0:cBhvr>
                                      <ns0:to>
                                        <ns0:strVal val="visible"/>
                                      </ns0:to>
                                    </ns0:set>
                                    <ns0:animEffect transition="in" filter="fade">
                                      <ns0:cBhvr>
                                        <ns0:cTn id="26" dur="500"/>
                                        <ns0:tgtEl>
                                          <ns0:spTgt spid="7"/>
                                        </ns0:tgtEl>
                                      </ns0:cBhvr>
                                    </ns0:animEffect>
                                    <ns0:anim calcmode="lin" valueType="num">
                                      <ns0:cBhvr additive="base">
                                        <ns0:cTn id="27" dur="500" fill="hold"/>
                                        <ns0:tgtEl>
                                          <ns0:spTgt spid="7"/>
                                        </ns0:tgtEl>
                                        <ns0:attrNameLst>
                                          <ns0:attrName>ppt_y</ns0:attrName>
                                        </ns0:attrNameLst>
                                      </ns0:cBhvr>
                                      <ns0:tavLst>
                                        <ns0:tav tm="0">
                                          <ns0:val>
                                            <ns0:strVal val="#ppt_y+0.018"/>
                                          </ns0:val>
                                        </ns0:tav>
                                        <ns0:tav tm="100000">
                                          <ns0:val>
                                            <ns0:strVal val="#ppt_y"/>
                                          </ns0:val>
                                        </ns0:tav>
                                      </ns0:tavLst>
                                    </ns0:anim>
                                  </ns0:childTnLst>
                                </ns0:cTn>
                              </ns0:par>
                              <ns0:par>
                                <ns0:cTn id="28" presetID="42" presetClass="entr" presetSubtype="0" fill="hold" grpId="0" nodeType="withEffect">
                                  <ns0:stCondLst>
                                    <ns0:cond delay="1210"/>
                                  </ns0:stCondLst>
                                  <ns0:childTnLst>
                                    <ns0:set>
                                      <ns0:cBhvr>
                                        <ns0:cTn id="29" dur="1" fill="hold">
                                          <ns0:stCondLst>
                                            <ns0:cond delay="0"/>
                                          </ns0:stCondLst>
                                        </ns0:cTn>
                                        <ns0:tgtEl>
                                          <ns0:spTgt spid="8"/>
                                        </ns0:tgtEl>
                                        <ns0:attrNameLst>
                                          <ns0:attrName>style.visibility</ns0:attrName>
                                        </ns0:attrNameLst>
                                      </ns0:cBhvr>
                                      <ns0:to>
                                        <ns0:strVal val="visible"/>
                                      </ns0:to>
                                    </ns0:set>
                                    <ns0:animEffect transition="in" filter="fade">
                                      <ns0:cBhvr>
                                        <ns0:cTn id="30" dur="500"/>
                                        <ns0:tgtEl>
                                          <ns0:spTgt spid="8"/>
                                        </ns0:tgtEl>
                                      </ns0:cBhvr>
                                    </ns0:animEffect>
                                    <ns0:anim calcmode="lin" valueType="num">
                                      <ns0:cBhvr additive="base">
                                        <ns0:cTn id="31" dur="500" fill="hold"/>
                                        <ns0:tgtEl>
                                          <ns0:spTgt spid="8"/>
                                        </ns0:tgtEl>
                                        <ns0:attrNameLst>
                                          <ns0:attrName>ppt_y</ns0:attrName>
                                        </ns0:attrNameLst>
                                      </ns0:cBhvr>
                                      <ns0:tavLst>
                                        <ns0:tav tm="0">
                                          <ns0:val>
                                            <ns0:strVal val="#ppt_y+0.018"/>
                                          </ns0:val>
                                        </ns0:tav>
                                        <ns0:tav tm="100000">
                                          <ns0:val>
                                            <ns0:strVal val="#ppt_y"/>
                                          </ns0:val>
                                        </ns0:tav>
                                      </ns0:tavLst>
                                    </ns0:anim>
                                  </ns0:childTnLst>
                                </ns0:cTn>
                              </ns0:par>
                              <ns0:par>
                                <ns0:cTn id="32" presetID="42" presetClass="entr" presetSubtype="0" fill="hold" grpId="0" nodeType="withEffect">
                                  <ns0:stCondLst>
                                    <ns0:cond delay="1290"/>
                                  </ns0:stCondLst>
                                  <ns0:childTnLst>
                                    <ns0:set>
                                      <ns0:cBhvr>
                                        <ns0:cTn id="33" dur="1" fill="hold">
                                          <ns0:stCondLst>
                                            <ns0:cond delay="0"/>
                                          </ns0:stCondLst>
                                        </ns0:cTn>
                                        <ns0:tgtEl>
                                          <ns0:spTgt spid="9"/>
                                        </ns0:tgtEl>
                                        <ns0:attrNameLst>
                                          <ns0:attrName>style.visibility</ns0:attrName>
                                        </ns0:attrNameLst>
                                      </ns0:cBhvr>
                                      <ns0:to>
                                        <ns0:strVal val="visible"/>
                                      </ns0:to>
                                    </ns0:set>
                                    <ns0:animEffect transition="in" filter="fade">
                                      <ns0:cBhvr>
                                        <ns0:cTn id="34" dur="500"/>
                                        <ns0:tgtEl>
                                          <ns0:spTgt spid="9"/>
                                        </ns0:tgtEl>
                                      </ns0:cBhvr>
                                    </ns0:animEffect>
                                    <ns0:anim calcmode="lin" valueType="num">
                                      <ns0:cBhvr additive="base">
                                        <ns0:cTn id="35" dur="500" fill="hold"/>
                                        <ns0:tgtEl>
                                          <ns0:spTgt spid="9"/>
                                        </ns0:tgtEl>
                                        <ns0:attrNameLst>
                                          <ns0:attrName>ppt_y</ns0:attrName>
                                        </ns0:attrNameLst>
                                      </ns0:cBhvr>
                                      <ns0:tavLst>
                                        <ns0:tav tm="0">
                                          <ns0:val>
                                            <ns0:strVal val="#ppt_y+0.018"/>
                                          </ns0:val>
                                        </ns0:tav>
                                        <ns0:tav tm="100000">
                                          <ns0:val>
                                            <ns0:strVal val="#ppt_y"/>
                                          </ns0:val>
                                        </ns0:tav>
                                      </ns0:tavLst>
                                    </ns0:anim>
                                  </ns0:childTnLst>
                                </ns0:cTn>
                              </ns0:par>
                              <ns0:par>
                                <ns0:cTn id="36" presetID="42" presetClass="entr" presetSubtype="0" fill="hold" grpId="0" nodeType="withEffect">
                                  <ns0:stCondLst>
                                    <ns0:cond delay="1400"/>
                                  </ns0:stCondLst>
                                  <ns0:childTnLst>
                                    <ns0:set>
                                      <ns0:cBhvr>
                                        <ns0:cTn id="37" dur="1" fill="hold">
                                          <ns0:stCondLst>
                                            <ns0:cond delay="0"/>
                                          </ns0:stCondLst>
                                        </ns0:cTn>
                                        <ns0:tgtEl>
                                          <ns0:spTgt spid="10"/>
                                        </ns0:tgtEl>
                                        <ns0:attrNameLst>
                                          <ns0:attrName>style.visibility</ns0:attrName>
                                        </ns0:attrNameLst>
                                      </ns0:cBhvr>
                                      <ns0:to>
                                        <ns0:strVal val="visible"/>
                                      </ns0:to>
                                    </ns0:set>
                                    <ns0:animEffect transition="in" filter="fade">
                                      <ns0:cBhvr>
                                        <ns0:cTn id="38" dur="500"/>
                                        <ns0:tgtEl>
                                          <ns0:spTgt spid="10"/>
                                        </ns0:tgtEl>
                                      </ns0:cBhvr>
                                    </ns0:animEffect>
                                    <ns0:anim calcmode="lin" valueType="num">
                                      <ns0:cBhvr additive="base">
                                        <ns0:cTn id="39" dur="500" fill="hold"/>
                                        <ns0:tgtEl>
                                          <ns0:spTgt spid="10"/>
                                        </ns0:tgtEl>
                                        <ns0:attrNameLst>
                                          <ns0:attrName>ppt_y</ns0:attrName>
                                        </ns0:attrNameLst>
                                      </ns0:cBhvr>
                                      <ns0:tavLst>
                                        <ns0:tav tm="0">
                                          <ns0:val>
                                            <ns0:strVal val="#ppt_y+0.018"/>
                                          </ns0:val>
                                        </ns0:tav>
                                        <ns0:tav tm="100000">
                                          <ns0:val>
                                            <ns0:strVal val="#ppt_y"/>
                                          </ns0:val>
                                        </ns0:tav>
                                      </ns0:tavLst>
                                    </ns0:anim>
                                  </ns0:childTnLst>
                                </ns0:cTn>
                              </ns0:par>
                              <ns0:par>
                                <ns0:cTn id="40" presetID="42" presetClass="entr" presetSubtype="0" fill="hold" grpId="0" nodeType="withEffect">
                                  <ns0:stCondLst>
                                    <ns0:cond delay="1500"/>
                                  </ns0:stCondLst>
                                  <ns0:childTnLst>
                                    <ns0:set>
                                      <ns0:cBhvr>
                                        <ns0:cTn id="41" dur="1" fill="hold">
                                          <ns0:stCondLst>
                                            <ns0:cond delay="0"/>
                                          </ns0:stCondLst>
                                        </ns0:cTn>
                                        <ns0:tgtEl>
                                          <ns0:spTgt spid="11"/>
                                        </ns0:tgtEl>
                                        <ns0:attrNameLst>
                                          <ns0:attrName>style.visibility</ns0:attrName>
                                        </ns0:attrNameLst>
                                      </ns0:cBhvr>
                                      <ns0:to>
                                        <ns0:strVal val="visible"/>
                                      </ns0:to>
                                    </ns0:set>
                                    <ns0:animEffect transition="in" filter="fade">
                                      <ns0:cBhvr>
                                        <ns0:cTn id="42" dur="500"/>
                                        <ns0:tgtEl>
                                          <ns0:spTgt spid="11"/>
                                        </ns0:tgtEl>
                                      </ns0:cBhvr>
                                    </ns0:animEffect>
                                    <ns0:anim calcmode="lin" valueType="num">
                                      <ns0:cBhvr additive="base">
                                        <ns0:cTn id="43" dur="500" fill="hold"/>
                                        <ns0:tgtEl>
                                          <ns0:spTgt spid="11"/>
                                        </ns0:tgtEl>
                                        <ns0:attrNameLst>
                                          <ns0:attrName>ppt_y</ns0:attrName>
                                        </ns0:attrNameLst>
                                      </ns0:cBhvr>
                                      <ns0:tavLst>
                                        <ns0:tav tm="0">
                                          <ns0:val>
                                            <ns0:strVal val="#ppt_y+0.018"/>
                                          </ns0:val>
                                        </ns0:tav>
                                        <ns0:tav tm="100000">
                                          <ns0:val>
                                            <ns0:strVal val="#ppt_y"/>
                                          </ns0:val>
                                        </ns0:tav>
                                      </ns0:tavLst>
                                    </ns0:anim>
                                  </ns0:childTnLst>
                                </ns0:cTn>
                              </ns0:par>
                              <ns0:par>
                                <ns0:cTn id="44" presetID="42" presetClass="entr" presetSubtype="0" fill="hold" grpId="0" nodeType="withEffect">
                                  <ns0:stCondLst>
                                    <ns0:cond delay="1650"/>
                                  </ns0:stCondLst>
                                  <ns0:childTnLst>
                                    <ns0:set>
                                      <ns0:cBhvr>
                                        <ns0:cTn id="45" dur="1" fill="hold">
                                          <ns0:stCondLst>
                                            <ns0:cond delay="0"/>
                                          </ns0:stCondLst>
                                        </ns0:cTn>
                                        <ns0:tgtEl>
                                          <ns0:spTgt spid="12"/>
                                        </ns0:tgtEl>
                                        <ns0:attrNameLst>
                                          <ns0:attrName>style.visibility</ns0:attrName>
                                        </ns0:attrNameLst>
                                      </ns0:cBhvr>
                                      <ns0:to>
                                        <ns0:strVal val="visible"/>
                                      </ns0:to>
                                    </ns0:set>
                                    <ns0:animEffect transition="in" filter="fade">
                                      <ns0:cBhvr>
                                        <ns0:cTn id="46" dur="500"/>
                                        <ns0:tgtEl>
                                          <ns0:spTgt spid="12"/>
                                        </ns0:tgtEl>
                                      </ns0:cBhvr>
                                    </ns0:animEffect>
                                    <ns0:anim calcmode="lin" valueType="num">
                                      <ns0:cBhvr additive="base">
                                        <ns0:cTn id="47" dur="500" fill="hold"/>
                                        <ns0:tgtEl>
                                          <ns0:spTgt spid="12"/>
                                        </ns0:tgtEl>
                                        <ns0:attrNameLst>
                                          <ns0:attrName>ppt_y</ns0:attrName>
                                        </ns0:attrNameLst>
                                      </ns0:cBhvr>
                                      <ns0:tavLst>
                                        <ns0:tav tm="0">
                                          <ns0:val>
                                            <ns0:strVal val="#ppt_y+0.018"/>
                                          </ns0:val>
                                        </ns0:tav>
                                        <ns0:tav tm="100000">
                                          <ns0:val>
                                            <ns0:strVal val="#ppt_y"/>
                                          </ns0:val>
                                        </ns0:tav>
                                      </ns0:tavLst>
                                    </ns0:anim>
                                  </ns0:childTnLst>
                                </ns0:cTn>
                              </ns0:par>
                            </ns0:childTnLst>
                          </ns0:cTn>
                        </ns0:par>
                      </ns0:childTnLst>
                    </ns0:cTn>
                  </ns0:par>
                </ns0:childTnLst>
              </ns0:cTn>
              <ns0:prevCondLst>
                <ns0:cond evt="onPrev" delay="0">
                  <ns0:tgtEl>
                    <ns0:sldTgt/>
                  </ns0:tgtEl>
                </ns0:cond>
              </ns0:prevCondLst>
              <ns0:nextCondLst>
                <ns0:cond evt="onNext" delay="0">
                  <ns0:tgtEl>
                    <ns0:sldTgt/>
                  </ns0:tgtEl>
                </ns0:cond>
              </ns0:nextCondLst>
            </ns0:seq>
          </ns0:childTnLst>
        </ns0:cTn>
      </ns0:par>
    </ns0:tnLst>
    <ns0:bldLst>
      <ns0:bldP spid="2" grpId="0"/>
      <ns0:bldP spid="3" grpId="0"/>
      <ns0:bldP spid="4" grpId="0"/>
      <ns0:bldP spid="5" grpId="0"/>
      <ns0:bldP spid="6" grpId="0"/>
      <ns0:bldP spid="7" grpId="0"/>
      <ns0:bldP spid="8" grpId="0"/>
      <ns0:bldP spid="9" grpId="0"/>
      <ns0:bldP spid="10" grpId="0"/>
      <ns0:bldP spid="11" grpId="0"/>
      <ns0:bldP spid="12" grpId="0"/>
    </ns0:bldLst>
  </ns0:timing>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CareTouch — Healing Touch, Healthy Life</dc:title>
  <dc:subject>PptxGenJS Presentation</dc:subject>
  <dc:creator>Nhóm 3 - Tổ 14 - Lớp A1K79</dc:creator>
  <cp:lastModifiedBy>Nhóm 3 - Tổ 14 - Lớp A1K79</cp:lastModifiedBy>
  <cp:revision>1</cp:revision>
  <dcterms:created xsi:type="dcterms:W3CDTF">2026-09-29T02:52:40Z</dcterms:created>
  <dcterms:modified xsi:type="dcterms:W3CDTF">2026-09-29T02:52:40Z</dcterms:modified>
</cp:coreProperties>
</file>