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500 triệu (minh họa) phân bổ 200 cơ sở thứ 2, 80 nền tảng đặt lịch &amp; CRM, 100 marketing &amp; nhân sự, 120 vốn lưu động; hình thức góp vốn đổi cổ phần ~12-15% minh họa.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28"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2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45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6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85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1050"/>
                                  </ns0:stCondLst>
                                  <ns0:childTnLst>
                                    <ns0:set>
                                      <ns0:cBhvr>
                                        <ns0:cTn id="25" dur="1" fill="hold">
                                          <ns0:stCondLst>
                                            <ns0:cond delay="0"/>
                                          </ns0:stCondLst>
                                        </ns0:cTn>
                                        <ns0:tgtEl>
                                          <ns0:spTgt spid="7"/>
                                        </ns0:tgtEl>
                                        <ns0:attrNameLst>
                                          <ns0:attrName>style.visibility</ns0:attrName>
                                        </ns0:attrNameLst>
                                      </ns0:cBhvr>
                                      <ns0:to>
                                        <ns0:strVal val="visible"/>
                                      </ns0:to>
                                    </ns0:set>
                                    <ns0:animEffect transition="in" filter="fade">
                                      <ns0:cBhvr>
                                        <ns0:cTn id="26" dur="500"/>
                                        <ns0:tgtEl>
                                          <ns0:spTgt spid="7"/>
                                        </ns0:tgtEl>
                                      </ns0:cBhvr>
                                    </ns0:animEffect>
                                    <ns0:anim calcmode="lin" valueType="num">
                                      <ns0:cBhvr additive="base">
                                        <ns0:cTn id="2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P spid="7" grpId="0"/>
    </ns0:bldLst>
  </ns0:timing>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3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4" fill="hold">
                      <ns0:stCondLst>
                        <ns0:cond delay="indefinite"/>
                      </ns0:stCondLst>
                      <ns0:childTnLst>
                        <ns0:par>
                          <ns0:cTn id="35" fill="hold">
                            <ns0:stCondLst>
                              <ns0:cond delay="0"/>
                            </ns0:stCondLst>
                            <ns0:childTnLst>
                              <ns0:par>
                                <ns0:cTn id="36" presetID="42" presetClass="entr" presetSubtype="0" fill="hold" grpId="0" nodeType="clickEffect">
                                  <ns0:stCondLst>
                                    <ns0:cond delay="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1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2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3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2" fill="hold">
                      <ns0:stCondLst>
                        <ns0:cond delay="indefinite"/>
                      </ns0:stCondLst>
                      <ns0:childTnLst>
                        <ns0:par>
                          <ns0:cTn id="53" fill="hold">
                            <ns0:stCondLst>
                              <ns0:cond delay="0"/>
                            </ns0:stCondLst>
                            <ns0:childTnLst>
                              <ns0:par>
                                <ns0:cTn id="54" presetID="42" presetClass="entr" presetSubtype="0" fill="hold" grpId="0" nodeType="clickEffect">
                                  <ns0:stCondLst>
                                    <ns0:cond delay="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8" presetID="42" presetClass="entr" presetSubtype="0" fill="hold" grpId="0" nodeType="withEffect">
                                  <ns0:stCondLst>
                                    <ns0:cond delay="15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3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6" presetID="42" presetClass="entr" presetSubtype="0" fill="hold" grpId="0" nodeType="withEffect">
                                  <ns0:stCondLst>
                                    <ns0:cond delay="38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46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54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62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7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Lst>
  </ns0:timing>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5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0" fill="hold">
                      <ns0:stCondLst>
                        <ns0:cond delay="indefinite"/>
                      </ns0:stCondLst>
                      <ns0:childTnLst>
                        <ns0:par>
                          <ns0:cTn id="31" fill="hold">
                            <ns0:stCondLst>
                              <ns0:cond delay="0"/>
                            </ns0:stCondLst>
                            <ns0:childTnLst>
                              <ns0:par>
                                <ns0:cTn id="32" presetID="42" presetClass="entr" presetSubtype="0" fill="hold" grpId="0" nodeType="clickEffect">
                                  <ns0:stCondLst>
                                    <ns0:cond delay="0"/>
                                  </ns0:stCondLst>
                                  <ns0:childTnLst>
                                    <ns0:set>
                                      <ns0:cBhvr>
                                        <ns0:cTn id="33" dur="1" fill="hold">
                                          <ns0:stCondLst>
                                            <ns0:cond delay="0"/>
                                          </ns0:stCondLst>
                                        </ns0:cTn>
                                        <ns0:tgtEl>
                                          <ns0:spTgt spid="13"/>
                                        </ns0:tgtEl>
                                        <ns0:attrNameLst>
                                          <ns0:attrName>style.visibility</ns0:attrName>
                                        </ns0:attrNameLst>
                                      </ns0:cBhvr>
                                      <ns0:to>
                                        <ns0:strVal val="visible"/>
                                      </ns0:to>
                                    </ns0:set>
                                    <ns0:animEffect transition="in" filter="fade">
                                      <ns0:cBhvr>
                                        <ns0:cTn id="34" dur="500"/>
                                        <ns0:tgtEl>
                                          <ns0:spTgt spid="13"/>
                                        </ns0:tgtEl>
                                      </ns0:cBhvr>
                                    </ns0:animEffect>
                                    <ns0:anim calcmode="lin" valueType="num">
                                      <ns0:cBhvr additive="base">
                                        <ns0:cTn id="35"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0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2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4" fill="hold">
                      <ns0:stCondLst>
                        <ns0:cond delay="indefinite"/>
                      </ns0:stCondLst>
                      <ns0:childTnLst>
                        <ns0:par>
                          <ns0:cTn id="45" fill="hold">
                            <ns0:stCondLst>
                              <ns0:cond delay="0"/>
                            </ns0:stCondLst>
                            <ns0:childTnLst>
                              <ns0:par>
                                <ns0:cTn id="46" presetID="42" presetClass="entr" presetSubtype="0" fill="hold" grpId="0" nodeType="clickEffect">
                                  <ns0:stCondLst>
                                    <ns0:cond delay="0"/>
                                  </ns0:stCondLst>
                                  <ns0:childTnLst>
                                    <ns0:set>
                                      <ns0:cBhvr>
                                        <ns0:cTn id="47" dur="1" fill="hold">
                                          <ns0:stCondLst>
                                            <ns0:cond delay="0"/>
                                          </ns0:stCondLst>
                                        </ns0:cTn>
                                        <ns0:tgtEl>
                                          <ns0:spTgt spid="16"/>
                                        </ns0:tgtEl>
                                        <ns0:attrNameLst>
                                          <ns0:attrName>style.visibility</ns0:attrName>
                                        </ns0:attrNameLst>
                                      </ns0:cBhvr>
                                      <ns0:to>
                                        <ns0:strVal val="visible"/>
                                      </ns0:to>
                                    </ns0:set>
                                    <ns0:animEffect transition="in" filter="fade">
                                      <ns0:cBhvr>
                                        <ns0:cTn id="48" dur="500"/>
                                        <ns0:tgtEl>
                                          <ns0:spTgt spid="16"/>
                                        </ns0:tgtEl>
                                      </ns0:cBhvr>
                                    </ns0:animEffect>
                                    <ns0:anim calcmode="lin" valueType="num">
                                      <ns0:cBhvr additive="base">
                                        <ns0:cTn id="49"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0" presetID="42" presetClass="entr" presetSubtype="0" fill="hold" grpId="0" nodeType="withEffect">
                                  <ns0:stCondLst>
                                    <ns0:cond delay="100"/>
                                  </ns0:stCondLst>
                                  <ns0:childTnLst>
                                    <ns0:set>
                                      <ns0:cBhvr>
                                        <ns0:cTn id="51" dur="1" fill="hold">
                                          <ns0:stCondLst>
                                            <ns0:cond delay="0"/>
                                          </ns0:stCondLst>
                                        </ns0:cTn>
                                        <ns0:tgtEl>
                                          <ns0:spTgt spid="17"/>
                                        </ns0:tgtEl>
                                        <ns0:attrNameLst>
                                          <ns0:attrName>style.visibility</ns0:attrName>
                                        </ns0:attrNameLst>
                                      </ns0:cBhvr>
                                      <ns0:to>
                                        <ns0:strVal val="visible"/>
                                      </ns0:to>
                                    </ns0:set>
                                    <ns0:animEffect transition="in" filter="fade">
                                      <ns0:cBhvr>
                                        <ns0:cTn id="52" dur="500"/>
                                        <ns0:tgtEl>
                                          <ns0:spTgt spid="17"/>
                                        </ns0:tgtEl>
                                      </ns0:cBhvr>
                                    </ns0:animEffect>
                                    <ns0:anim calcmode="lin" valueType="num">
                                      <ns0:cBhvr additive="base">
                                        <ns0:cTn id="53"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4" presetID="42" presetClass="entr" presetSubtype="0" fill="hold" grpId="0" nodeType="withEffect">
                                  <ns0:stCondLst>
                                    <ns0:cond delay="20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Lst>
  </ns0:timing>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Lst>
  </ns0:timing>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5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5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4" fill="hold">
                      <ns0:stCondLst>
                        <ns0:cond delay="indefinite"/>
                      </ns0:stCondLst>
                      <ns0:childTnLst>
                        <ns0:par>
                          <ns0:cTn id="65" fill="hold">
                            <ns0:stCondLst>
                              <ns0:cond delay="0"/>
                            </ns0:stCondLst>
                            <ns0:childTnLst>
                              <ns0:par>
                                <ns0:cTn id="66" presetID="42" presetClass="entr" presetSubtype="0" fill="hold" grpId="0" nodeType="clickEffect">
                                  <ns0:stCondLst>
                                    <ns0:cond delay="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10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2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3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4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5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par>
                                <ns0:cTn id="112" presetID="42" presetClass="entr" presetSubtype="0" fill="hold" grpId="0" nodeType="withEffect">
                                  <ns0:stCondLst>
                                    <ns0:cond delay="500"/>
                                  </ns0:stCondLst>
                                  <ns0:childTnLst>
                                    <ns0:set>
                                      <ns0:cBhvr>
                                        <ns0:cTn id="113" dur="1" fill="hold">
                                          <ns0:stCondLst>
                                            <ns0:cond delay="0"/>
                                          </ns0:stCondLst>
                                        </ns0:cTn>
                                        <ns0:tgtEl>
                                          <ns0:spTgt spid="32"/>
                                        </ns0:tgtEl>
                                        <ns0:attrNameLst>
                                          <ns0:attrName>style.visibility</ns0:attrName>
                                        </ns0:attrNameLst>
                                      </ns0:cBhvr>
                                      <ns0:to>
                                        <ns0:strVal val="visible"/>
                                      </ns0:to>
                                    </ns0:set>
                                    <ns0:animEffect transition="in" filter="fade">
                                      <ns0:cBhvr>
                                        <ns0:cTn id="114" dur="500"/>
                                        <ns0:tgtEl>
                                          <ns0:spTgt spid="32"/>
                                        </ns0:tgtEl>
                                      </ns0:cBhvr>
                                    </ns0:animEffect>
                                    <ns0:anim calcmode="lin" valueType="num">
                                      <ns0:cBhvr additive="base">
                                        <ns0:cTn id="115" dur="500" fill="hold"/>
                                        <ns0:tgtEl>
                                          <ns0:spTgt spid="3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P spid="32" grpId="0"/>
    </ns0:bldLst>
  </ns0:timing>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3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 fill="hold">
                      <ns0:stCondLst>
                        <ns0:cond delay="indefinite"/>
                      </ns0:stCondLst>
                      <ns0:childTnLst>
                        <ns0:par>
                          <ns0:cTn id="9" fill="hold">
                            <ns0:stCondLst>
                              <ns0:cond delay="0"/>
                            </ns0:stCondLst>
                            <ns0:childTnLst>
                              <ns0:par>
                                <ns0:cTn id="10" presetID="42" presetClass="entr" presetSubtype="0" fill="hold" grpId="0" nodeType="clickEffect">
                                  <ns0:stCondLst>
                                    <ns0:cond delay="0"/>
                                  </ns0:stCondLst>
                                  <ns0:childTnLst>
                                    <ns0:set>
                                      <ns0:cBhvr>
                                        <ns0:cTn id="11" dur="1" fill="hold">
                                          <ns0:stCondLst>
                                            <ns0:cond delay="0"/>
                                          </ns0:stCondLst>
                                        </ns0:cTn>
                                        <ns0:tgtEl>
                                          <ns0:spTgt spid="8"/>
                                        </ns0:tgtEl>
                                        <ns0:attrNameLst>
                                          <ns0:attrName>style.visibility</ns0:attrName>
                                        </ns0:attrNameLst>
                                      </ns0:cBhvr>
                                      <ns0:to>
                                        <ns0:strVal val="visible"/>
                                      </ns0:to>
                                    </ns0:set>
                                    <ns0:animEffect transition="in" filter="fade">
                                      <ns0:cBhvr>
                                        <ns0:cTn id="12" dur="500"/>
                                        <ns0:tgtEl>
                                          <ns0:spTgt spid="8"/>
                                        </ns0:tgtEl>
                                      </ns0:cBhvr>
                                    </ns0:animEffect>
                                    <ns0:anim calcmode="lin" valueType="num">
                                      <ns0:cBhvr additive="base">
                                        <ns0:cTn id="13"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4" presetID="42" presetClass="entr" presetSubtype="0" fill="hold" grpId="0" nodeType="withEffect">
                                  <ns0:stCondLst>
                                    <ns0:cond delay="100"/>
                                  </ns0:stCondLst>
                                  <ns0:childTnLst>
                                    <ns0:set>
                                      <ns0:cBhvr>
                                        <ns0:cTn id="15" dur="1" fill="hold">
                                          <ns0:stCondLst>
                                            <ns0:cond delay="0"/>
                                          </ns0:stCondLst>
                                        </ns0:cTn>
                                        <ns0:tgtEl>
                                          <ns0:spTgt spid="9"/>
                                        </ns0:tgtEl>
                                        <ns0:attrNameLst>
                                          <ns0:attrName>style.visibility</ns0:attrName>
                                        </ns0:attrNameLst>
                                      </ns0:cBhvr>
                                      <ns0:to>
                                        <ns0:strVal val="visible"/>
                                      </ns0:to>
                                    </ns0:set>
                                    <ns0:animEffect transition="in" filter="fade">
                                      <ns0:cBhvr>
                                        <ns0:cTn id="16" dur="500"/>
                                        <ns0:tgtEl>
                                          <ns0:spTgt spid="9"/>
                                        </ns0:tgtEl>
                                      </ns0:cBhvr>
                                    </ns0:animEffect>
                                    <ns0:anim calcmode="lin" valueType="num">
                                      <ns0:cBhvr additive="base">
                                        <ns0:cTn id="17"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8" presetID="42" presetClass="entr" presetSubtype="0" fill="hold" grpId="0" nodeType="withEffect">
                                  <ns0:stCondLst>
                                    <ns0:cond delay="20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2" fill="hold">
                      <ns0:stCondLst>
                        <ns0:cond delay="indefinite"/>
                      </ns0:stCondLst>
                      <ns0:childTnLst>
                        <ns0:par>
                          <ns0:cTn id="23" fill="hold">
                            <ns0:stCondLst>
                              <ns0:cond delay="0"/>
                            </ns0:stCondLst>
                            <ns0:childTnLst>
                              <ns0:par>
                                <ns0:cTn id="24" presetID="42" presetClass="entr" presetSubtype="0" fill="hold" grpId="0" nodeType="clickEffect">
                                  <ns0:stCondLst>
                                    <ns0:cond delay="0"/>
                                  </ns0:stCondLst>
                                  <ns0:childTnLst>
                                    <ns0:set>
                                      <ns0:cBhvr>
                                        <ns0:cTn id="25" dur="1" fill="hold">
                                          <ns0:stCondLst>
                                            <ns0:cond delay="0"/>
                                          </ns0:stCondLst>
                                        </ns0:cTn>
                                        <ns0:tgtEl>
                                          <ns0:spTgt spid="11"/>
                                        </ns0:tgtEl>
                                        <ns0:attrNameLst>
                                          <ns0:attrName>style.visibility</ns0:attrName>
                                        </ns0:attrNameLst>
                                      </ns0:cBhvr>
                                      <ns0:to>
                                        <ns0:strVal val="visible"/>
                                      </ns0:to>
                                    </ns0:set>
                                    <ns0:animEffect transition="in" filter="fade">
                                      <ns0:cBhvr>
                                        <ns0:cTn id="26" dur="500"/>
                                        <ns0:tgtEl>
                                          <ns0:spTgt spid="11"/>
                                        </ns0:tgtEl>
                                      </ns0:cBhvr>
                                    </ns0:animEffect>
                                    <ns0:anim calcmode="lin" valueType="num">
                                      <ns0:cBhvr additive="base">
                                        <ns0:cTn id="27"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8" presetID="42" presetClass="entr" presetSubtype="0" fill="hold" grpId="0" nodeType="withEffect">
                                  <ns0:stCondLst>
                                    <ns0:cond delay="100"/>
                                  </ns0:stCondLst>
                                  <ns0:childTnLst>
                                    <ns0:set>
                                      <ns0:cBhvr>
                                        <ns0:cTn id="29" dur="1" fill="hold">
                                          <ns0:stCondLst>
                                            <ns0:cond delay="0"/>
                                          </ns0:stCondLst>
                                        </ns0:cTn>
                                        <ns0:tgtEl>
                                          <ns0:spTgt spid="12"/>
                                        </ns0:tgtEl>
                                        <ns0:attrNameLst>
                                          <ns0:attrName>style.visibility</ns0:attrName>
                                        </ns0:attrNameLst>
                                      </ns0:cBhvr>
                                      <ns0:to>
                                        <ns0:strVal val="visible"/>
                                      </ns0:to>
                                    </ns0:set>
                                    <ns0:animEffect transition="in" filter="fade">
                                      <ns0:cBhvr>
                                        <ns0:cTn id="30" dur="500"/>
                                        <ns0:tgtEl>
                                          <ns0:spTgt spid="12"/>
                                        </ns0:tgtEl>
                                      </ns0:cBhvr>
                                    </ns0:animEffect>
                                    <ns0:anim calcmode="lin" valueType="num">
                                      <ns0:cBhvr additive="base">
                                        <ns0:cTn id="31"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7" grpId="0">
        <ns0:bldAsOne/>
      </ns0:bldGraphic>
      <ns0:bldP spid="8" grpId="0"/>
      <ns0:bldP spid="9" grpId="0"/>
      <ns0:bldP spid="10" grpId="0"/>
      <ns0:bldP spid="11" grpId="0"/>
      <ns0:bldP spid="12" grpId="0"/>
    </ns0:bldLst>
  </ns0:timing>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khách trải nghiệm lần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liệu trình ngắn 2–4 tuần</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Gói chủ lực — liệu trình chuẩn &amp; gia đình</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6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0" fill="hold">
                      <ns0:stCondLst>
                        <ns0:cond delay="indefinite"/>
                      </ns0:stCondLst>
                      <ns0:childTnLst>
                        <ns0:par>
                          <ns0:cTn id="21" fill="hold">
                            <ns0:stCondLst>
                              <ns0:cond delay="0"/>
                            </ns0:stCondLst>
                            <ns0:childTnLst>
                              <ns0:par>
                                <ns0:cTn id="22" presetID="42" presetClass="entr" presetSubtype="0" fill="hold" grpId="0" nodeType="clickEffect">
                                  <ns0:stCondLst>
                                    <ns0:cond delay="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1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2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3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8" fill="hold">
                      <ns0:stCondLst>
                        <ns0:cond delay="indefinite"/>
                      </ns0:stCondLst>
                      <ns0:childTnLst>
                        <ns0:par>
                          <ns0:cTn id="39" fill="hold">
                            <ns0:stCondLst>
                              <ns0:cond delay="0"/>
                            </ns0:stCondLst>
                            <ns0:childTnLst>
                              <ns0:par>
                                <ns0:cTn id="40" presetID="42" presetClass="entr" presetSubtype="0" fill="hold" grpId="0" nodeType="clickEffect">
                                  <ns0:stCondLst>
                                    <ns0:cond delay="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1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2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3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6" fill="hold">
                      <ns0:stCondLst>
                        <ns0:cond delay="indefinite"/>
                      </ns0:stCondLst>
                      <ns0:childTnLst>
                        <ns0:par>
                          <ns0:cTn id="57" fill="hold">
                            <ns0:stCondLst>
                              <ns0:cond delay="0"/>
                            </ns0:stCondLst>
                            <ns0:childTnLst>
                              <ns0:par>
                                <ns0:cTn id="58" presetID="42" presetClass="entr" presetSubtype="0" fill="hold" grpId="0" nodeType="clickEffect">
                                  <ns0:stCondLst>
                                    <ns0:cond delay="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1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Lst>
  </ns0:timing>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Massage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6" fill="hold">
                      <ns0:stCondLst>
                        <ns0:cond delay="indefinite"/>
                      </ns0:stCondLst>
                      <ns0:childTnLst>
                        <ns0:par>
                          <ns0:cTn id="87" fill="hold">
                            <ns0:stCondLst>
                              <ns0:cond delay="0"/>
                            </ns0:stCondLst>
                            <ns0:childTnLst>
                              <ns0:par>
                                <ns0:cTn id="88" presetID="42" presetClass="entr" presetSubtype="0" fill="hold" grpId="0" nodeType="clickEffect">
                                  <ns0:stCondLst>
                                    <ns0:cond delay="0"/>
                                  </ns0:stCondLst>
                                  <ns0:childTnLst>
                                    <ns0:set>
                                      <ns0:cBhvr>
                                        <ns0:cTn id="89" dur="1" fill="hold">
                                          <ns0:stCondLst>
                                            <ns0:cond delay="0"/>
                                          </ns0:stCondLst>
                                        </ns0:cTn>
                                        <ns0:tgtEl>
                                          <ns0:spTgt spid="26"/>
                                        </ns0:tgtEl>
                                        <ns0:attrNameLst>
                                          <ns0:attrName>style.visibility</ns0:attrName>
                                        </ns0:attrNameLst>
                                      </ns0:cBhvr>
                                      <ns0:to>
                                        <ns0:strVal val="visible"/>
                                      </ns0:to>
                                    </ns0:set>
                                    <ns0:animEffect transition="in" filter="fade">
                                      <ns0:cBhvr>
                                        <ns0:cTn id="90" dur="500"/>
                                        <ns0:tgtEl>
                                          <ns0:spTgt spid="26"/>
                                        </ns0:tgtEl>
                                      </ns0:cBhvr>
                                    </ns0:animEffect>
                                    <ns0:anim calcmode="lin" valueType="num">
                                      <ns0:cBhvr additive="base">
                                        <ns0:cTn id="91"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2" presetID="42" presetClass="entr" presetSubtype="0" fill="hold" grpId="0" nodeType="withEffect">
                                  <ns0:stCondLst>
                                    <ns0:cond delay="10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Lst>
  </ns0:timing>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10"/>
                                        </ns0:tgtEl>
                                        <ns0:attrNameLst>
                                          <ns0:attrName>style.visibility</ns0:attrName>
                                        </ns0:attrNameLst>
                                      </ns0:cBhvr>
                                      <ns0:to>
                                        <ns0:strVal val="visible"/>
                                      </ns0:to>
                                    </ns0:set>
                                    <ns0:animEffect transition="in" filter="fade">
                                      <ns0:cBhvr>
                                        <ns0:cTn id="6" dur="500"/>
                                        <ns0:tgtEl>
                                          <ns0:spTgt spid="10"/>
                                        </ns0:tgtEl>
                                      </ns0:cBhvr>
                                    </ns0:animEffect>
                                    <ns0:anim calcmode="lin" valueType="num">
                                      <ns0:cBhvr additive="base">
                                        <ns0:cTn id="7"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10" grpId="0">
        <ns0:bldAsOne/>
      </ns0:bldGraphic>
    </ns0:bldLst>
  </ns0:timing>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 (thận trọng 55%: 12–14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
        <ns0:nvSpPr>
          <ns0:cNvPr id="26" name="Text 22"/>
          <ns0:cNvSpPr/>
          <ns0:nvPr/>
        </ns0:nvSpPr>
        <ns0:spPr>
          <a:xfrm>
            <a:off x="1188720" y="3465576"/>
            <a:ext cx="1143000" cy="182880"/>
          </a:xfrm>
          <a:prstGeom prst="rect">
            <a:avLst/>
          </a:prstGeom>
          <a:noFill/>
          <a:ln/>
        </ns0:spPr>
        <ns0:txBody>
          <a:bodyPr wrap="square" lIns="0" tIns="0" rIns="0" bIns="0" rtlCol="0" anchor="ctr"/>
          <a:lstStyle/>
          <a:p>
            <a:pPr indent="0" marL="0">
              <a:buNone/>
            </a:pPr>
            <a:r>
              <a:rPr lang="en-US" sz="1000" dirty="0">
                <a:solidFill>
                  <a:srgbClr val="16302B"/>
                </a:solidFill>
                <a:latin typeface="Segoe UI" pitchFamily="34" charset="0"/>
                <a:ea typeface="Segoe UI" pitchFamily="34" charset="-122"/>
                <a:cs typeface="Segoe UI" pitchFamily="34" charset="-120"/>
              </a:rPr>
              <a:t>48 tr./tháng</a:t>
            </a:r>
            <a:endParaRPr lang="en-US" sz="10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26"/>
                                        </ns0:tgtEl>
                                        <ns0:attrNameLst>
                                          <ns0:attrName>style.visibility</ns0:attrName>
                                        </ns0:attrNameLst>
                                      </ns0:cBhvr>
                                      <ns0:to>
                                        <ns0:strVal val="visible"/>
                                      </ns0:to>
                                    </ns0:set>
                                    <ns0:animEffect transition="in" filter="fade">
                                      <ns0:cBhvr>
                                        <ns0:cTn id="18" dur="500"/>
                                        <ns0:tgtEl>
                                          <ns0:spTgt spid="26"/>
                                        </ns0:tgtEl>
                                      </ns0:cBhvr>
                                    </ns0:animEffect>
                                    <ns0:anim calcmode="lin" valueType="num">
                                      <ns0:cBhvr additive="base">
                                        <ns0:cTn id="1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0" fill="hold">
                      <ns0:stCondLst>
                        <ns0:cond delay="indefinite"/>
                      </ns0:stCondLst>
                      <ns0:childTnLst>
                        <ns0:par>
                          <ns0:cTn id="21" fill="hold">
                            <ns0:stCondLst>
                              <ns0:cond delay="0"/>
                            </ns0:stCondLst>
                            <ns0:childTnLst>
                              <ns0:par>
                                <ns0:cTn id="22" presetID="42" presetClass="entr" presetSubtype="0" fill="hold" grpId="0" nodeType="clickEffect">
                                  <ns0:stCondLst>
                                    <ns0:cond delay="0"/>
                                  </ns0:stCondLst>
                                  <ns0:childTnLst>
                                    <ns0:set>
                                      <ns0:cBhvr>
                                        <ns0:cTn id="23" dur="1" fill="hold">
                                          <ns0:stCondLst>
                                            <ns0:cond delay="0"/>
                                          </ns0:stCondLst>
                                        </ns0:cTn>
                                        <ns0:tgtEl>
                                          <ns0:spTgt spid="22"/>
                                        </ns0:tgtEl>
                                        <ns0:attrNameLst>
                                          <ns0:attrName>style.visibility</ns0:attrName>
                                        </ns0:attrNameLst>
                                      </ns0:cBhvr>
                                      <ns0:to>
                                        <ns0:strVal val="visible"/>
                                      </ns0:to>
                                    </ns0:set>
                                    <ns0:animEffect transition="in" filter="fade">
                                      <ns0:cBhvr>
                                        <ns0:cTn id="24" dur="500"/>
                                        <ns0:tgtEl>
                                          <ns0:spTgt spid="22"/>
                                        </ns0:tgtEl>
                                      </ns0:cBhvr>
                                    </ns0:animEffect>
                                    <ns0:anim calcmode="lin" valueType="num">
                                      <ns0:cBhvr additive="base">
                                        <ns0:cTn id="25"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6" fill="hold">
                      <ns0:stCondLst>
                        <ns0:cond delay="indefinite"/>
                      </ns0:stCondLst>
                      <ns0:childTnLst>
                        <ns0:par>
                          <ns0:cTn id="27" fill="hold">
                            <ns0:stCondLst>
                              <ns0:cond delay="0"/>
                            </ns0:stCondLst>
                            <ns0:childTnLst>
                              <ns0:par>
                                <ns0:cTn id="28" presetID="42" presetClass="entr" presetSubtype="0" fill="hold" grpId="0" nodeType="clickEffect">
                                  <ns0:stCondLst>
                                    <ns0:cond delay="0"/>
                                  </ns0:stCondLst>
                                  <ns0:childTnLst>
                                    <ns0:set>
                                      <ns0:cBhvr>
                                        <ns0:cTn id="29" dur="1" fill="hold">
                                          <ns0:stCondLst>
                                            <ns0:cond delay="0"/>
                                          </ns0:stCondLst>
                                        </ns0:cTn>
                                        <ns0:tgtEl>
                                          <ns0:spTgt spid="10"/>
                                        </ns0:tgtEl>
                                        <ns0:attrNameLst>
                                          <ns0:attrName>style.visibility</ns0:attrName>
                                        </ns0:attrNameLst>
                                      </ns0:cBhvr>
                                      <ns0:to>
                                        <ns0:strVal val="visible"/>
                                      </ns0:to>
                                    </ns0:set>
                                    <ns0:animEffect transition="in" filter="fade">
                                      <ns0:cBhvr>
                                        <ns0:cTn id="30" dur="500"/>
                                        <ns0:tgtEl>
                                          <ns0:spTgt spid="10"/>
                                        </ns0:tgtEl>
                                      </ns0:cBhvr>
                                    </ns0:animEffect>
                                    <ns0:anim calcmode="lin" valueType="num">
                                      <ns0:cBhvr additive="base">
                                        <ns0:cTn id="3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32" presetID="42" presetClass="entr" presetSubtype="0" fill="hold" grpId="0" nodeType="withEffect">
                                  <ns0:stCondLst>
                                    <ns0:cond delay="80"/>
                                  </ns0:stCondLst>
                                  <ns0:childTnLst>
                                    <ns0:set>
                                      <ns0:cBhvr>
                                        <ns0:cTn id="33" dur="1" fill="hold">
                                          <ns0:stCondLst>
                                            <ns0:cond delay="0"/>
                                          </ns0:stCondLst>
                                        </ns0:cTn>
                                        <ns0:tgtEl>
                                          <ns0:spTgt spid="11"/>
                                        </ns0:tgtEl>
                                        <ns0:attrNameLst>
                                          <ns0:attrName>style.visibility</ns0:attrName>
                                        </ns0:attrNameLst>
                                      </ns0:cBhvr>
                                      <ns0:to>
                                        <ns0:strVal val="visible"/>
                                      </ns0:to>
                                    </ns0:set>
                                    <ns0:animEffect transition="in" filter="fade">
                                      <ns0:cBhvr>
                                        <ns0:cTn id="34" dur="500"/>
                                        <ns0:tgtEl>
                                          <ns0:spTgt spid="11"/>
                                        </ns0:tgtEl>
                                      </ns0:cBhvr>
                                    </ns0:animEffect>
                                    <ns0:anim calcmode="lin" valueType="num">
                                      <ns0:cBhvr additive="base">
                                        <ns0:cTn id="3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60"/>
                                  </ns0:stCondLst>
                                  <ns0:childTnLst>
                                    <ns0:set>
                                      <ns0:cBhvr>
                                        <ns0:cTn id="37" dur="1" fill="hold">
                                          <ns0:stCondLst>
                                            <ns0:cond delay="0"/>
                                          </ns0:stCondLst>
                                        </ns0:cTn>
                                        <ns0:tgtEl>
                                          <ns0:spTgt spid="12"/>
                                        </ns0:tgtEl>
                                        <ns0:attrNameLst>
                                          <ns0:attrName>style.visibility</ns0:attrName>
                                        </ns0:attrNameLst>
                                      </ns0:cBhvr>
                                      <ns0:to>
                                        <ns0:strVal val="visible"/>
                                      </ns0:to>
                                    </ns0:set>
                                    <ns0:animEffect transition="in" filter="fade">
                                      <ns0:cBhvr>
                                        <ns0:cTn id="38" dur="500"/>
                                        <ns0:tgtEl>
                                          <ns0:spTgt spid="12"/>
                                        </ns0:tgtEl>
                                      </ns0:cBhvr>
                                    </ns0:animEffect>
                                    <ns0:anim calcmode="lin" valueType="num">
                                      <ns0:cBhvr additive="base">
                                        <ns0:cTn id="3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240"/>
                                  </ns0:stCondLst>
                                  <ns0:childTnLst>
                                    <ns0:set>
                                      <ns0:cBhvr>
                                        <ns0:cTn id="41" dur="1" fill="hold">
                                          <ns0:stCondLst>
                                            <ns0:cond delay="0"/>
                                          </ns0:stCondLst>
                                        </ns0:cTn>
                                        <ns0:tgtEl>
                                          <ns0:spTgt spid="13"/>
                                        </ns0:tgtEl>
                                        <ns0:attrNameLst>
                                          <ns0:attrName>style.visibility</ns0:attrName>
                                        </ns0:attrNameLst>
                                      </ns0:cBhvr>
                                      <ns0:to>
                                        <ns0:strVal val="visible"/>
                                      </ns0:to>
                                    </ns0:set>
                                    <ns0:animEffect transition="in" filter="fade">
                                      <ns0:cBhvr>
                                        <ns0:cTn id="42" dur="500"/>
                                        <ns0:tgtEl>
                                          <ns0:spTgt spid="13"/>
                                        </ns0:tgtEl>
                                      </ns0:cBhvr>
                                    </ns0:animEffect>
                                    <ns0:anim calcmode="lin" valueType="num">
                                      <ns0:cBhvr additive="base">
                                        <ns0:cTn id="4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320"/>
                                  </ns0:stCondLst>
                                  <ns0:childTnLst>
                                    <ns0:set>
                                      <ns0:cBhvr>
                                        <ns0:cTn id="45" dur="1" fill="hold">
                                          <ns0:stCondLst>
                                            <ns0:cond delay="0"/>
                                          </ns0:stCondLst>
                                        </ns0:cTn>
                                        <ns0:tgtEl>
                                          <ns0:spTgt spid="14"/>
                                        </ns0:tgtEl>
                                        <ns0:attrNameLst>
                                          <ns0:attrName>style.visibility</ns0:attrName>
                                        </ns0:attrNameLst>
                                      </ns0:cBhvr>
                                      <ns0:to>
                                        <ns0:strVal val="visible"/>
                                      </ns0:to>
                                    </ns0:set>
                                    <ns0:animEffect transition="in" filter="fade">
                                      <ns0:cBhvr>
                                        <ns0:cTn id="46" dur="500"/>
                                        <ns0:tgtEl>
                                          <ns0:spTgt spid="14"/>
                                        </ns0:tgtEl>
                                      </ns0:cBhvr>
                                    </ns0:animEffect>
                                    <ns0:anim calcmode="lin" valueType="num">
                                      <ns0:cBhvr additive="base">
                                        <ns0:cTn id="4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400"/>
                                  </ns0:stCondLst>
                                  <ns0:childTnLst>
                                    <ns0:set>
                                      <ns0:cBhvr>
                                        <ns0:cTn id="49" dur="1" fill="hold">
                                          <ns0:stCondLst>
                                            <ns0:cond delay="0"/>
                                          </ns0:stCondLst>
                                        </ns0:cTn>
                                        <ns0:tgtEl>
                                          <ns0:spTgt spid="15"/>
                                        </ns0:tgtEl>
                                        <ns0:attrNameLst>
                                          <ns0:attrName>style.visibility</ns0:attrName>
                                        </ns0:attrNameLst>
                                      </ns0:cBhvr>
                                      <ns0:to>
                                        <ns0:strVal val="visible"/>
                                      </ns0:to>
                                    </ns0:set>
                                    <ns0:animEffect transition="in" filter="fade">
                                      <ns0:cBhvr>
                                        <ns0:cTn id="50" dur="500"/>
                                        <ns0:tgtEl>
                                          <ns0:spTgt spid="15"/>
                                        </ns0:tgtEl>
                                      </ns0:cBhvr>
                                    </ns0:animEffect>
                                    <ns0:anim calcmode="lin" valueType="num">
                                      <ns0:cBhvr additive="base">
                                        <ns0:cTn id="5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480"/>
                                  </ns0:stCondLst>
                                  <ns0:childTnLst>
                                    <ns0:set>
                                      <ns0:cBhvr>
                                        <ns0:cTn id="53" dur="1" fill="hold">
                                          <ns0:stCondLst>
                                            <ns0:cond delay="0"/>
                                          </ns0:stCondLst>
                                        </ns0:cTn>
                                        <ns0:tgtEl>
                                          <ns0:spTgt spid="16"/>
                                        </ns0:tgtEl>
                                        <ns0:attrNameLst>
                                          <ns0:attrName>style.visibility</ns0:attrName>
                                        </ns0:attrNameLst>
                                      </ns0:cBhvr>
                                      <ns0:to>
                                        <ns0:strVal val="visible"/>
                                      </ns0:to>
                                    </ns0:set>
                                    <ns0:animEffect transition="in" filter="fade">
                                      <ns0:cBhvr>
                                        <ns0:cTn id="54" dur="500"/>
                                        <ns0:tgtEl>
                                          <ns0:spTgt spid="16"/>
                                        </ns0:tgtEl>
                                      </ns0:cBhvr>
                                    </ns0:animEffect>
                                    <ns0:anim calcmode="lin" valueType="num">
                                      <ns0:cBhvr additive="base">
                                        <ns0:cTn id="5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560"/>
                                  </ns0:stCondLst>
                                  <ns0:childTnLst>
                                    <ns0:set>
                                      <ns0:cBhvr>
                                        <ns0:cTn id="57" dur="1" fill="hold">
                                          <ns0:stCondLst>
                                            <ns0:cond delay="0"/>
                                          </ns0:stCondLst>
                                        </ns0:cTn>
                                        <ns0:tgtEl>
                                          <ns0:spTgt spid="17"/>
                                        </ns0:tgtEl>
                                        <ns0:attrNameLst>
                                          <ns0:attrName>style.visibility</ns0:attrName>
                                        </ns0:attrNameLst>
                                      </ns0:cBhvr>
                                      <ns0:to>
                                        <ns0:strVal val="visible"/>
                                      </ns0:to>
                                    </ns0:set>
                                    <ns0:animEffect transition="in" filter="fade">
                                      <ns0:cBhvr>
                                        <ns0:cTn id="58" dur="500"/>
                                        <ns0:tgtEl>
                                          <ns0:spTgt spid="17"/>
                                        </ns0:tgtEl>
                                      </ns0:cBhvr>
                                    </ns0:animEffect>
                                    <ns0:anim calcmode="lin" valueType="num">
                                      <ns0:cBhvr additive="base">
                                        <ns0:cTn id="5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640"/>
                                  </ns0:stCondLst>
                                  <ns0:childTnLst>
                                    <ns0:set>
                                      <ns0:cBhvr>
                                        <ns0:cTn id="61" dur="1" fill="hold">
                                          <ns0:stCondLst>
                                            <ns0:cond delay="0"/>
                                          </ns0:stCondLst>
                                        </ns0:cTn>
                                        <ns0:tgtEl>
                                          <ns0:spTgt spid="18"/>
                                        </ns0:tgtEl>
                                        <ns0:attrNameLst>
                                          <ns0:attrName>style.visibility</ns0:attrName>
                                        </ns0:attrNameLst>
                                      </ns0:cBhvr>
                                      <ns0:to>
                                        <ns0:strVal val="visible"/>
                                      </ns0:to>
                                    </ns0:set>
                                    <ns0:animEffect transition="in" filter="fade">
                                      <ns0:cBhvr>
                                        <ns0:cTn id="62" dur="500"/>
                                        <ns0:tgtEl>
                                          <ns0:spTgt spid="18"/>
                                        </ns0:tgtEl>
                                      </ns0:cBhvr>
                                    </ns0:animEffect>
                                    <ns0:anim calcmode="lin" valueType="num">
                                      <ns0:cBhvr additive="base">
                                        <ns0:cTn id="63"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720"/>
                                  </ns0:stCondLst>
                                  <ns0:childTnLst>
                                    <ns0:set>
                                      <ns0:cBhvr>
                                        <ns0:cTn id="65" dur="1" fill="hold">
                                          <ns0:stCondLst>
                                            <ns0:cond delay="0"/>
                                          </ns0:stCondLst>
                                        </ns0:cTn>
                                        <ns0:tgtEl>
                                          <ns0:spTgt spid="19"/>
                                        </ns0:tgtEl>
                                        <ns0:attrNameLst>
                                          <ns0:attrName>style.visibility</ns0:attrName>
                                        </ns0:attrNameLst>
                                      </ns0:cBhvr>
                                      <ns0:to>
                                        <ns0:strVal val="visible"/>
                                      </ns0:to>
                                    </ns0:set>
                                    <ns0:animEffect transition="in" filter="fade">
                                      <ns0:cBhvr>
                                        <ns0:cTn id="66" dur="500"/>
                                        <ns0:tgtEl>
                                          <ns0:spTgt spid="19"/>
                                        </ns0:tgtEl>
                                      </ns0:cBhvr>
                                    </ns0:animEffect>
                                    <ns0:anim calcmode="lin" valueType="num">
                                      <ns0:cBhvr additive="base">
                                        <ns0:cTn id="67"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800"/>
                                  </ns0:stCondLst>
                                  <ns0:childTnLst>
                                    <ns0:set>
                                      <ns0:cBhvr>
                                        <ns0:cTn id="69" dur="1" fill="hold">
                                          <ns0:stCondLst>
                                            <ns0:cond delay="0"/>
                                          </ns0:stCondLst>
                                        </ns0:cTn>
                                        <ns0:tgtEl>
                                          <ns0:spTgt spid="20"/>
                                        </ns0:tgtEl>
                                        <ns0:attrNameLst>
                                          <ns0:attrName>style.visibility</ns0:attrName>
                                        </ns0:attrNameLst>
                                      </ns0:cBhvr>
                                      <ns0:to>
                                        <ns0:strVal val="visible"/>
                                      </ns0:to>
                                    </ns0:set>
                                    <ns0:animEffect transition="in" filter="fade">
                                      <ns0:cBhvr>
                                        <ns0:cTn id="70" dur="500"/>
                                        <ns0:tgtEl>
                                          <ns0:spTgt spid="20"/>
                                        </ns0:tgtEl>
                                      </ns0:cBhvr>
                                    </ns0:animEffect>
                                    <ns0:anim calcmode="lin" valueType="num">
                                      <ns0:cBhvr additive="base">
                                        <ns0:cTn id="71"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72" presetID="42" presetClass="entr" presetSubtype="0" fill="hold" grpId="0" nodeType="withEffect">
                                  <ns0:stCondLst>
                                    <ns0:cond delay="880"/>
                                  </ns0:stCondLst>
                                  <ns0:childTnLst>
                                    <ns0:set>
                                      <ns0:cBhvr>
                                        <ns0:cTn id="73" dur="1" fill="hold">
                                          <ns0:stCondLst>
                                            <ns0:cond delay="0"/>
                                          </ns0:stCondLst>
                                        </ns0:cTn>
                                        <ns0:tgtEl>
                                          <ns0:spTgt spid="21"/>
                                        </ns0:tgtEl>
                                        <ns0:attrNameLst>
                                          <ns0:attrName>style.visibility</ns0:attrName>
                                        </ns0:attrNameLst>
                                      </ns0:cBhvr>
                                      <ns0:to>
                                        <ns0:strVal val="visible"/>
                                      </ns0:to>
                                    </ns0:set>
                                    <ns0:animEffect transition="in" filter="fade">
                                      <ns0:cBhvr>
                                        <ns0:cTn id="74" dur="500"/>
                                        <ns0:tgtEl>
                                          <ns0:spTgt spid="21"/>
                                        </ns0:tgtEl>
                                      </ns0:cBhvr>
                                    </ns0:animEffect>
                                    <ns0:anim calcmode="lin" valueType="num">
                                      <ns0:cBhvr additive="base">
                                        <ns0:cTn id="75"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6" grpId="0"/>
    </ns0:bldLst>
  </ns0:timing>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khảo sát thể trạng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nền tảng đặt lịch đa kênh &amp; CRM (kênh đầu tiên: Zalo Mini App);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04"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500"/>
                                  </ns0:stCondLst>
                                  <ns0:childTnLst>
                                    <ns0:set>
                                      <ns0:cBhvr>
                                        <ns0:cTn id="25" dur="1" fill="hold">
                                          <ns0:stCondLst>
                                            <ns0:cond delay="0"/>
                                          </ns0:stCondLst>
                                        </ns0:cTn>
                                        <ns0:tgtEl>
                                          <ns0:spTgt spid="12"/>
                                        </ns0:tgtEl>
                                        <ns0:attrNameLst>
                                          <ns0:attrName>style.visibility</ns0:attrName>
                                        </ns0:attrNameLst>
                                      </ns0:cBhvr>
                                      <ns0:to>
                                        <ns0:strVal val="visible"/>
                                      </ns0:to>
                                    </ns0:set>
                                    <ns0:animEffect transition="in" filter="fade">
                                      <ns0:cBhvr>
                                        <ns0:cTn id="26" dur="500"/>
                                        <ns0:tgtEl>
                                          <ns0:spTgt spid="12"/>
                                        </ns0:tgtEl>
                                      </ns0:cBhvr>
                                    </ns0:animEffect>
                                    <ns0:anim calcmode="lin" valueType="num">
                                      <ns0:cBhvr additive="base">
                                        <ns0:cTn id="27"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8" fill="hold">
                      <ns0:stCondLst>
                        <ns0:cond delay="indefinite"/>
                      </ns0:stCondLst>
                      <ns0:childTnLst>
                        <ns0:par>
                          <ns0:cTn id="29" fill="hold">
                            <ns0:stCondLst>
                              <ns0:cond delay="0"/>
                            </ns0:stCondLst>
                            <ns0:childTnLst>
                              <ns0:par>
                                <ns0:cTn id="30" presetID="42" presetClass="entr" presetSubtype="0" fill="hold" grpId="0" nodeType="clickEffect">
                                  <ns0:stCondLst>
                                    <ns0:cond delay="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1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2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3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4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3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400"/>
                                  </ns0:stCondLst>
                                  <ns0:childTnLst>
                                    <ns0:set>
                                      <ns0:cBhvr>
                                        <ns0:cTn id="69" dur="1" fill="hold">
                                          <ns0:stCondLst>
                                            <ns0:cond delay="0"/>
                                          </ns0:stCondLst>
                                        </ns0:cTn>
                                        <ns0:tgtEl>
                                          <ns0:spTgt spid="22"/>
                                        </ns0:tgtEl>
                                        <ns0:attrNameLst>
                                          <ns0:attrName>style.visibility</ns0:attrName>
                                        </ns0:attrNameLst>
                                      </ns0:cBhvr>
                                      <ns0:to>
                                        <ns0:strVal val="visible"/>
                                      </ns0:to>
                                    </ns0:set>
                                    <ns0:animEffect transition="in" filter="fade">
                                      <ns0:cBhvr>
                                        <ns0:cTn id="70" dur="500"/>
                                        <ns0:tgtEl>
                                          <ns0:spTgt spid="22"/>
                                        </ns0:tgtEl>
                                      </ns0:cBhvr>
                                    </ns0:animEffect>
                                    <ns0:anim calcmode="lin" valueType="num">
                                      <ns0:cBhvr additive="base">
                                        <ns0:cTn id="71"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72" fill="hold">
                      <ns0:stCondLst>
                        <ns0:cond delay="indefinite"/>
                      </ns0:stCondLst>
                      <ns0:childTnLst>
                        <ns0:par>
                          <ns0:cTn id="73" fill="hold">
                            <ns0:stCondLst>
                              <ns0:cond delay="0"/>
                            </ns0:stCondLst>
                            <ns0:childTnLst>
                              <ns0:par>
                                <ns0:cTn id="74" presetID="42" presetClass="entr" presetSubtype="0" fill="hold" grpId="0" nodeType="clickEffect">
                                  <ns0:stCondLst>
                                    <ns0:cond delay="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1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2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3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0" presetID="42" presetClass="entr" presetSubtype="0" fill="hold" grpId="0" nodeType="withEffect">
                                  <ns0:stCondLst>
                                    <ns0:cond delay="400"/>
                                  </ns0:stCondLst>
                                  <ns0:childTnLst>
                                    <ns0:set>
                                      <ns0:cBhvr>
                                        <ns0:cTn id="91" dur="1" fill="hold">
                                          <ns0:stCondLst>
                                            <ns0:cond delay="0"/>
                                          </ns0:stCondLst>
                                        </ns0:cTn>
                                        <ns0:tgtEl>
                                          <ns0:spTgt spid="27"/>
                                        </ns0:tgtEl>
                                        <ns0:attrNameLst>
                                          <ns0:attrName>style.visibility</ns0:attrName>
                                        </ns0:attrNameLst>
                                      </ns0:cBhvr>
                                      <ns0:to>
                                        <ns0:strVal val="visible"/>
                                      </ns0:to>
                                    </ns0:set>
                                    <ns0:animEffect transition="in" filter="fade">
                                      <ns0:cBhvr>
                                        <ns0:cTn id="92" dur="500"/>
                                        <ns0:tgtEl>
                                          <ns0:spTgt spid="27"/>
                                        </ns0:tgtEl>
                                      </ns0:cBhvr>
                                    </ns0:animEffect>
                                    <ns0:anim calcmode="lin" valueType="num">
                                      <ns0:cBhvr additive="base">
                                        <ns0:cTn id="93"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4" fill="hold">
                      <ns0:stCondLst>
                        <ns0:cond delay="indefinite"/>
                      </ns0:stCondLst>
                      <ns0:childTnLst>
                        <ns0:par>
                          <ns0:cTn id="95" fill="hold">
                            <ns0:stCondLst>
                              <ns0:cond delay="0"/>
                            </ns0:stCondLst>
                            <ns0:childTnLst>
                              <ns0:par>
                                <ns0:cTn id="96" presetID="42" presetClass="entr" presetSubtype="0" fill="hold" grpId="0" nodeType="clickEffect">
                                  <ns0:stCondLst>
                                    <ns0:cond delay="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1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Lst>
  </ns0:timing>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0"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Lst>
  </ns0:timing>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khảo sát thể trạng an toàn cho mọi buổi trị liệu.</a:t>
            </a:r>
            <a:endParaRPr lang="en-US" sz="1350" dirty="0"/>
          </a:p>
        </ns0:txBody>
      </ns0:sp>
      <ns0:sp>
        <ns0:nvSpPr>
          <ns0:cNvPr id="34" name="Text 32"/>
          <ns0:cNvSpPr/>
          <ns0:nvPr/>
        </ns0:nvSpPr>
        <ns0:spPr>
          <a:xfrm>
            <a:off x="502920" y="6272784"/>
            <a:ext cx="11183112" cy="274320"/>
          </a:xfrm>
          <a:prstGeom prst="rect">
            <a:avLst/>
          </a:prstGeom>
          <a:noFill/>
          <a:ln/>
        </ns0:spPr>
        <ns0:txBody>
          <a:bodyPr wrap="square" lIns="0" tIns="0" rIns="0" bIns="0" rtlCol="0" anchor="ctr"/>
          <a:lstStyle/>
          <a:p>
            <a:pPr indent="0" marL="0">
              <a:buNone/>
            </a:pPr>
            <a:r>
              <a:rPr lang="en-US" sz="1100" i="1" dirty="0">
                <a:solidFill>
                  <a:srgbClr val="5C7370"/>
                </a:solidFill>
                <a:latin typeface="Segoe UI" pitchFamily="34" charset="0"/>
                <a:ea typeface="Segoe UI" pitchFamily="34" charset="-122"/>
                <a:cs typeface="Segoe UI" pitchFamily="34" charset="-120"/>
              </a:rPr>
              <a:t>Giai đoạn đầu, 5 thành viên sáng lập trực tiếp điều phối lịch, marketing và chăm sóc khách; năm 2 tuyển thêm điều phối viên toàn thời gian.</a:t>
            </a:r>
            <a:endParaRPr lang="en-US" sz="11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Lst>
  </ns0:timing>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041648"/>
            <a:ext cx="6949440" cy="1901952"/>
          </a:xfrm>
          <a:prstGeom prst="roundRect">
            <a:avLst>
              <a:gd name="adj" fmla="val 5769"/>
            </a:avLst>
          </a:prstGeom>
          <a:solidFill>
            <a:srgbClr val="0E4A41">
              <a:alpha val="82000"/>
            </a:srgbClr>
          </a:solidFill>
          <a:ln w="12700">
            <a:solidFill>
              <a:srgbClr val="2AA88F"/>
            </a:solidFill>
            <a:prstDash val="solid"/>
          </a:ln>
        </ns0:spPr>
      </ns0:sp>
      <ns0:sp>
        <ns0:nvSpPr>
          <ns0:cNvPr id="5" name="Text 3"/>
          <ns0:cNvSpPr/>
          <ns0:nvPr/>
        </ns0:nvSpPr>
        <ns0:spPr>
          <a:xfrm>
            <a:off x="1097280" y="4187952"/>
            <a:ext cx="6400800" cy="713232"/>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cơ sở thứ 2 và xây nền tảng đặt lịch đa kênh &amp; CRM — mục tiêu doanh thu năm 2 gấp đôi năm 1.</a:t>
            </a:r>
            <a:endParaRPr lang="en-US" sz="1700" dirty="0"/>
          </a:p>
        </ns0:txBody>
      </ns0:sp>
      <ns0:sp>
        <ns0:nvSpPr>
          <ns0:cNvPr id="6" name="Shape 4"/>
          <ns0:cNvSpPr/>
          <ns0:nvPr/>
        </ns0:nvSpPr>
        <ns0:spPr>
          <a:xfrm>
            <a:off x="1097280" y="4974336"/>
            <a:ext cx="2532888" cy="146304"/>
          </a:xfrm>
          <a:prstGeom prst="rect">
            <a:avLst/>
          </a:prstGeom>
          <a:solidFill>
            <a:srgbClr val="F7965A"/>
          </a:solidFill>
          <a:ln/>
        </ns0:spPr>
      </ns0:sp>
      <ns0:sp>
        <ns0:nvSpPr>
          <ns0:cNvPr id="7" name="Shape 5"/>
          <ns0:cNvSpPr/>
          <ns0:nvPr/>
        </ns0:nvSpPr>
        <ns0:spPr>
          <a:xfrm>
            <a:off x="3657600" y="4974336"/>
            <a:ext cx="996696" cy="146304"/>
          </a:xfrm>
          <a:prstGeom prst="rect">
            <a:avLst/>
          </a:prstGeom>
          <a:solidFill>
            <a:srgbClr val="0E7C6B"/>
          </a:solidFill>
          <a:ln/>
        </ns0:spPr>
      </ns0:sp>
      <ns0:sp>
        <ns0:nvSpPr>
          <ns0:cNvPr id="8" name="Shape 6"/>
          <ns0:cNvSpPr/>
          <ns0:nvPr/>
        </ns0:nvSpPr>
        <ns0:spPr>
          <a:xfrm>
            <a:off x="4681728" y="4974336"/>
            <a:ext cx="1252728" cy="146304"/>
          </a:xfrm>
          <a:prstGeom prst="rect">
            <a:avLst/>
          </a:prstGeom>
          <a:solidFill>
            <a:srgbClr val="9ED9CC"/>
          </a:solidFill>
          <a:ln/>
        </ns0:spPr>
      </ns0:sp>
      <ns0:sp>
        <ns0:nvSpPr>
          <ns0:cNvPr id="9" name="Shape 7"/>
          <ns0:cNvSpPr/>
          <ns0:nvPr/>
        </ns0:nvSpPr>
        <ns0:spPr>
          <a:xfrm>
            <a:off x="5961888" y="4974336"/>
            <a:ext cx="1508760" cy="146304"/>
          </a:xfrm>
          <a:prstGeom prst="rect">
            <a:avLst/>
          </a:prstGeom>
          <a:solidFill>
            <a:srgbClr val="CFE6DF"/>
          </a:solidFill>
          <a:ln/>
        </ns0:spPr>
      </ns0:sp>
      <ns0:sp>
        <ns0:nvSpPr>
          <ns0:cNvPr id="10" name="Text 8"/>
          <ns0:cNvSpPr/>
          <ns0:nvPr/>
        </ns0:nvSpPr>
        <ns0:spPr>
          <a:xfrm>
            <a:off x="1097280" y="5175504"/>
            <a:ext cx="6400800" cy="219456"/>
          </a:xfrm>
          <a:prstGeom prst="rect">
            <a:avLst/>
          </a:prstGeom>
          <a:noFill/>
          <a:ln/>
        </ns0:spPr>
        <ns0:txBody>
          <a:bodyPr wrap="square" lIns="0" tIns="0" rIns="0" bIns="0"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200 tr.</a:t>
            </a:r>
            <a:r>
              <a:rPr lang="en-US" sz="1000" dirty="0">
                <a:solidFill>
                  <a:srgbClr val="CFE6DF"/>
                </a:solidFill>
                <a:latin typeface="Segoe UI" pitchFamily="34" charset="0"/>
                <a:ea typeface="Segoe UI" pitchFamily="34" charset="-122"/>
                <a:cs typeface="Segoe UI" pitchFamily="34" charset="-120"/>
              </a:rPr>
              <a:t> cơ sở thứ 2      </a:t>
            </a:r>
            <a:r>
              <a:rPr lang="en-US" sz="1000" b="1" dirty="0">
                <a:solidFill>
                  <a:srgbClr val="FFFFFF"/>
                </a:solidFill>
                <a:latin typeface="Segoe UI" pitchFamily="34" charset="0"/>
                <a:ea typeface="Segoe UI" pitchFamily="34" charset="-122"/>
                <a:cs typeface="Segoe UI" pitchFamily="34" charset="-120"/>
              </a:rPr>
              <a:t>80 tr.</a:t>
            </a:r>
            <a:r>
              <a:rPr lang="en-US" sz="1000" dirty="0">
                <a:solidFill>
                  <a:srgbClr val="CFE6DF"/>
                </a:solidFill>
                <a:latin typeface="Segoe UI" pitchFamily="34" charset="0"/>
                <a:ea typeface="Segoe UI" pitchFamily="34" charset="-122"/>
                <a:cs typeface="Segoe UI" pitchFamily="34" charset="-120"/>
              </a:rPr>
              <a:t> nền tảng đặt lịch &amp; CRM      </a:t>
            </a:r>
            <a:r>
              <a:rPr lang="en-US" sz="1000" b="1" dirty="0">
                <a:solidFill>
                  <a:srgbClr val="FFFFFF"/>
                </a:solidFill>
                <a:latin typeface="Segoe UI" pitchFamily="34" charset="0"/>
                <a:ea typeface="Segoe UI" pitchFamily="34" charset="-122"/>
                <a:cs typeface="Segoe UI" pitchFamily="34" charset="-120"/>
              </a:rPr>
              <a:t>100 tr.</a:t>
            </a:r>
            <a:r>
              <a:rPr lang="en-US" sz="1000" dirty="0">
                <a:solidFill>
                  <a:srgbClr val="CFE6DF"/>
                </a:solidFill>
                <a:latin typeface="Segoe UI" pitchFamily="34" charset="0"/>
                <a:ea typeface="Segoe UI" pitchFamily="34" charset="-122"/>
                <a:cs typeface="Segoe UI" pitchFamily="34" charset="-120"/>
              </a:rPr>
              <a:t> marketing &amp; nhân sự      </a:t>
            </a:r>
            <a:r>
              <a:rPr lang="en-US" sz="1000" b="1" dirty="0">
                <a:solidFill>
                  <a:srgbClr val="FFFFFF"/>
                </a:solidFill>
                <a:latin typeface="Segoe UI" pitchFamily="34" charset="0"/>
                <a:ea typeface="Segoe UI" pitchFamily="34" charset="-122"/>
                <a:cs typeface="Segoe UI" pitchFamily="34" charset="-120"/>
              </a:rPr>
              <a:t>120 tr.</a:t>
            </a:r>
            <a:r>
              <a:rPr lang="en-US" sz="1000" dirty="0">
                <a:solidFill>
                  <a:srgbClr val="CFE6DF"/>
                </a:solidFill>
                <a:latin typeface="Segoe UI" pitchFamily="34" charset="0"/>
                <a:ea typeface="Segoe UI" pitchFamily="34" charset="-122"/>
                <a:cs typeface="Segoe UI" pitchFamily="34" charset="-120"/>
              </a:rPr>
              <a:t> vốn lưu động</a:t>
            </a:r>
            <a:endParaRPr lang="en-US" sz="1000" dirty="0"/>
          </a:p>
        </ns0:txBody>
      </ns0:sp>
      <ns0:sp>
        <ns0:nvSpPr>
          <ns0:cNvPr id="11" name="Text 9"/>
          <ns0:cNvSpPr/>
          <ns0:nvPr/>
        </ns0:nvSpPr>
        <ns0:spPr>
          <a:xfrm>
            <a:off x="1097280" y="5468112"/>
            <a:ext cx="6400800" cy="237744"/>
          </a:xfrm>
          <a:prstGeom prst="rect">
            <a:avLst/>
          </a:prstGeom>
          <a:noFill/>
          <a:ln/>
        </ns0:spPr>
        <ns0:txBody>
          <a:bodyPr wrap="square" lIns="0" tIns="0" rIns="0" bIns="0" rtlCol="0" anchor="ctr"/>
          <a:lstStyle/>
          <a:p>
            <a:pPr indent="0" marL="0">
              <a:buNone/>
            </a:pPr>
            <a:r>
              <a:rPr lang="en-US" sz="1050" i="1" dirty="0">
                <a:solidFill>
                  <a:srgbClr val="9EC9BF"/>
                </a:solidFill>
                <a:latin typeface="Segoe UI" pitchFamily="34" charset="0"/>
                <a:ea typeface="Segoe UI" pitchFamily="34" charset="-122"/>
                <a:cs typeface="Segoe UI" pitchFamily="34" charset="-120"/>
              </a:rPr>
              <a:t>Hình thức huy động: góp vốn đổi cổ phần — 500 triệu ≈ 12–15% (tỷ lệ minh họa, định giá xác lập khi đàm phán).</a:t>
            </a:r>
            <a:endParaRPr lang="en-US" sz="1050" dirty="0"/>
          </a:p>
        </ns0:txBody>
      </ns0:sp>
      <ns0:sp>
        <ns0:nvSpPr>
          <ns0:cNvPr id="12" name="Text 10"/>
          <ns0:cNvSpPr/>
          <ns0:nvPr/>
        </ns0:nvSpPr>
        <ns0:spPr>
          <a:xfrm>
            <a:off x="822960" y="6089904"/>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48"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4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70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8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105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1130"/>
                                  </ns0:stCondLst>
                                  <ns0:childTnLst>
                                    <ns0:set>
                                      <ns0:cBhvr>
                                        <ns0:cTn id="25" dur="1" fill="hold">
                                          <ns0:stCondLst>
                                            <ns0:cond delay="0"/>
                                          </ns0:stCondLst>
                                        </ns0:cTn>
                                        <ns0:tgtEl>
                                          <ns0:spTgt spid="7"/>
                                        </ns0:tgtEl>
                                        <ns0:attrNameLst>
                                          <ns0:attrName>style.visibility</ns0:attrName>
                                        </ns0:attrNameLst>
                                      </ns0:cBhvr>
                                      <ns0:to>
                                        <ns0:strVal val="visible"/>
                                      </ns0:to>
                                    </ns0:set>
                                    <ns0:animEffect transition="in" filter="fade">
                                      <ns0:cBhvr>
                                        <ns0:cTn id="26" dur="500"/>
                                        <ns0:tgtEl>
                                          <ns0:spTgt spid="7"/>
                                        </ns0:tgtEl>
                                      </ns0:cBhvr>
                                    </ns0:animEffect>
                                    <ns0:anim calcmode="lin" valueType="num">
                                      <ns0:cBhvr additive="base">
                                        <ns0:cTn id="2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28" presetID="42" presetClass="entr" presetSubtype="0" fill="hold" grpId="0" nodeType="withEffect">
                                  <ns0:stCondLst>
                                    <ns0:cond delay="1210"/>
                                  </ns0:stCondLst>
                                  <ns0:childTnLst>
                                    <ns0:set>
                                      <ns0:cBhvr>
                                        <ns0:cTn id="29" dur="1" fill="hold">
                                          <ns0:stCondLst>
                                            <ns0:cond delay="0"/>
                                          </ns0:stCondLst>
                                        </ns0:cTn>
                                        <ns0:tgtEl>
                                          <ns0:spTgt spid="8"/>
                                        </ns0:tgtEl>
                                        <ns0:attrNameLst>
                                          <ns0:attrName>style.visibility</ns0:attrName>
                                        </ns0:attrNameLst>
                                      </ns0:cBhvr>
                                      <ns0:to>
                                        <ns0:strVal val="visible"/>
                                      </ns0:to>
                                    </ns0:set>
                                    <ns0:animEffect transition="in" filter="fade">
                                      <ns0:cBhvr>
                                        <ns0:cTn id="30" dur="500"/>
                                        <ns0:tgtEl>
                                          <ns0:spTgt spid="8"/>
                                        </ns0:tgtEl>
                                      </ns0:cBhvr>
                                    </ns0:animEffect>
                                    <ns0:anim calcmode="lin" valueType="num">
                                      <ns0:cBhvr additive="base">
                                        <ns0:cTn id="3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32" presetID="42" presetClass="entr" presetSubtype="0" fill="hold" grpId="0" nodeType="withEffect">
                                  <ns0:stCondLst>
                                    <ns0:cond delay="1290"/>
                                  </ns0:stCondLst>
                                  <ns0:childTnLst>
                                    <ns0:set>
                                      <ns0:cBhvr>
                                        <ns0:cTn id="33" dur="1" fill="hold">
                                          <ns0:stCondLst>
                                            <ns0:cond delay="0"/>
                                          </ns0:stCondLst>
                                        </ns0:cTn>
                                        <ns0:tgtEl>
                                          <ns0:spTgt spid="9"/>
                                        </ns0:tgtEl>
                                        <ns0:attrNameLst>
                                          <ns0:attrName>style.visibility</ns0:attrName>
                                        </ns0:attrNameLst>
                                      </ns0:cBhvr>
                                      <ns0:to>
                                        <ns0:strVal val="visible"/>
                                      </ns0:to>
                                    </ns0:set>
                                    <ns0:animEffect transition="in" filter="fade">
                                      <ns0:cBhvr>
                                        <ns0:cTn id="34" dur="500"/>
                                        <ns0:tgtEl>
                                          <ns0:spTgt spid="9"/>
                                        </ns0:tgtEl>
                                      </ns0:cBhvr>
                                    </ns0:animEffect>
                                    <ns0:anim calcmode="lin" valueType="num">
                                      <ns0:cBhvr additive="base">
                                        <ns0:cTn id="3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400"/>
                                  </ns0:stCondLst>
                                  <ns0:childTnLst>
                                    <ns0:set>
                                      <ns0:cBhvr>
                                        <ns0:cTn id="37" dur="1" fill="hold">
                                          <ns0:stCondLst>
                                            <ns0:cond delay="0"/>
                                          </ns0:stCondLst>
                                        </ns0:cTn>
                                        <ns0:tgtEl>
                                          <ns0:spTgt spid="10"/>
                                        </ns0:tgtEl>
                                        <ns0:attrNameLst>
                                          <ns0:attrName>style.visibility</ns0:attrName>
                                        </ns0:attrNameLst>
                                      </ns0:cBhvr>
                                      <ns0:to>
                                        <ns0:strVal val="visible"/>
                                      </ns0:to>
                                    </ns0:set>
                                    <ns0:animEffect transition="in" filter="fade">
                                      <ns0:cBhvr>
                                        <ns0:cTn id="38" dur="500"/>
                                        <ns0:tgtEl>
                                          <ns0:spTgt spid="10"/>
                                        </ns0:tgtEl>
                                      </ns0:cBhvr>
                                    </ns0:animEffect>
                                    <ns0:anim calcmode="lin" valueType="num">
                                      <ns0:cBhvr additive="base">
                                        <ns0:cTn id="3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1500"/>
                                  </ns0:stCondLst>
                                  <ns0:childTnLst>
                                    <ns0:set>
                                      <ns0:cBhvr>
                                        <ns0:cTn id="41" dur="1" fill="hold">
                                          <ns0:stCondLst>
                                            <ns0:cond delay="0"/>
                                          </ns0:stCondLst>
                                        </ns0:cTn>
                                        <ns0:tgtEl>
                                          <ns0:spTgt spid="11"/>
                                        </ns0:tgtEl>
                                        <ns0:attrNameLst>
                                          <ns0:attrName>style.visibility</ns0:attrName>
                                        </ns0:attrNameLst>
                                      </ns0:cBhvr>
                                      <ns0:to>
                                        <ns0:strVal val="visible"/>
                                      </ns0:to>
                                    </ns0:set>
                                    <ns0:animEffect transition="in" filter="fade">
                                      <ns0:cBhvr>
                                        <ns0:cTn id="42" dur="500"/>
                                        <ns0:tgtEl>
                                          <ns0:spTgt spid="11"/>
                                        </ns0:tgtEl>
                                      </ns0:cBhvr>
                                    </ns0:animEffect>
                                    <ns0:anim calcmode="lin" valueType="num">
                                      <ns0:cBhvr additive="base">
                                        <ns0:cTn id="4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1650"/>
                                  </ns0:stCondLst>
                                  <ns0:childTnLst>
                                    <ns0:set>
                                      <ns0:cBhvr>
                                        <ns0:cTn id="45" dur="1" fill="hold">
                                          <ns0:stCondLst>
                                            <ns0:cond delay="0"/>
                                          </ns0:stCondLst>
                                        </ns0:cTn>
                                        <ns0:tgtEl>
                                          <ns0:spTgt spid="12"/>
                                        </ns0:tgtEl>
                                        <ns0:attrNameLst>
                                          <ns0:attrName>style.visibility</ns0:attrName>
                                        </ns0:attrNameLst>
                                      </ns0:cBhvr>
                                      <ns0:to>
                                        <ns0:strVal val="visible"/>
                                      </ns0:to>
                                    </ns0:set>
                                    <ns0:animEffect transition="in" filter="fade">
                                      <ns0:cBhvr>
                                        <ns0:cTn id="46" dur="500"/>
                                        <ns0:tgtEl>
                                          <ns0:spTgt spid="12"/>
                                        </ns0:tgtEl>
                                      </ns0:cBhvr>
                                    </ns0:animEffect>
                                    <ns0:anim calcmode="lin" valueType="num">
                                      <ns0:cBhvr additive="base">
                                        <ns0:cTn id="47"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P spid="7" grpId="0"/>
      <ns0:bldP spid="8" grpId="0"/>
      <ns0:bldP spid="9" grpId="0"/>
      <ns0:bldP spid="10" grpId="0"/>
      <ns0:bldP spid="11" grpId="0"/>
      <ns0:bldP spid="12" grpId="0"/>
    </ns0:bldLst>
  </ns0:timing>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2026-09-29T01:53:54Z</dcterms:created>
  <dcterms:modified xsi:type="dcterms:W3CDTF">2026-09-29T01:53:54Z</dcterms:modified>
</cp:coreProperties>
</file>