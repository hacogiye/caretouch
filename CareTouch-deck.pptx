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22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Chi tiêu y tế (tỷ USD)</c:v>
                </c:pt>
              </c:strCache>
            </c:strRef>
          </c:tx>
          <c:spPr>
            <a:solidFill>
              <a:srgbClr val="9ED9C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5F5-461E-80FD-A3E45E50A3BD}"/>
              </c:ext>
            </c:extLst>
          </c:dPt>
          <c:dPt>
            <c:idx val="1"/>
            <c:invertIfNegative val="0"/>
            <c:bubble3D val="0"/>
            <c:spPr>
              <a:solidFill>
                <a:srgbClr val="0E7C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5F5-461E-80FD-A3E45E50A3BD}"/>
              </c:ext>
            </c:extLst>
          </c:dPt>
          <c:dPt>
            <c:idx val="2"/>
            <c:invertIfNegative val="0"/>
            <c:bubble3D val="0"/>
            <c:spPr>
              <a:solidFill>
                <a:srgbClr val="E8590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5F5-461E-80FD-A3E45E50A3BD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16302B"/>
                    </a:solidFill>
                    <a:latin typeface="Segoe U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2019</c:v>
                </c:pt>
                <c:pt idx="1">
                  <c:v>2025</c:v>
                </c:pt>
                <c:pt idx="2">
                  <c:v>2028 (dự báo)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17.399999999999999</c:v>
                </c:pt>
                <c:pt idx="1">
                  <c:v>27.5</c:v>
                </c:pt>
                <c:pt idx="2">
                  <c:v>34.1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A5F5-461E-80FD-A3E45E50A3B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37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Doanh thu</c:v>
                </c:pt>
              </c:strCache>
            </c:strRef>
          </c:tx>
          <c:spPr>
            <a:solidFill>
              <a:srgbClr val="9ED9C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E7A-4E7F-B3FC-F19426042744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DE7A-4E7F-B3FC-F19426042744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DE7A-4E7F-B3FC-F19426042744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DE7A-4E7F-B3FC-F19426042744}"/>
              </c:ext>
            </c:extLst>
          </c:dPt>
          <c:dPt>
            <c:idx val="4"/>
            <c:invertIfNegative val="0"/>
            <c:bubble3D val="0"/>
            <c:spPr>
              <a:solidFill>
                <a:srgbClr val="E8590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DE7A-4E7F-B3FC-F19426042744}"/>
              </c:ext>
            </c:extLst>
          </c:dPt>
          <c:dPt>
            <c:idx val="5"/>
            <c:invertIfNegative val="0"/>
            <c:bubble3D val="0"/>
            <c:spPr>
              <a:solidFill>
                <a:srgbClr val="0E7C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DE7A-4E7F-B3FC-F19426042744}"/>
              </c:ext>
            </c:extLst>
          </c:dPt>
          <c:dPt>
            <c:idx val="6"/>
            <c:invertIfNegative val="0"/>
            <c:bubble3D val="0"/>
            <c:spPr>
              <a:solidFill>
                <a:srgbClr val="0E7C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DE7A-4E7F-B3FC-F19426042744}"/>
              </c:ext>
            </c:extLst>
          </c:dPt>
          <c:dPt>
            <c:idx val="7"/>
            <c:invertIfNegative val="0"/>
            <c:bubble3D val="0"/>
            <c:spPr>
              <a:solidFill>
                <a:srgbClr val="0E7C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DE7A-4E7F-B3FC-F19426042744}"/>
              </c:ext>
            </c:extLst>
          </c:dPt>
          <c:dPt>
            <c:idx val="8"/>
            <c:invertIfNegative val="0"/>
            <c:bubble3D val="0"/>
            <c:spPr>
              <a:solidFill>
                <a:srgbClr val="0E7C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DE7A-4E7F-B3FC-F19426042744}"/>
              </c:ext>
            </c:extLst>
          </c:dPt>
          <c:dPt>
            <c:idx val="9"/>
            <c:invertIfNegative val="0"/>
            <c:bubble3D val="0"/>
            <c:spPr>
              <a:solidFill>
                <a:srgbClr val="0E7C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DE7A-4E7F-B3FC-F19426042744}"/>
              </c:ext>
            </c:extLst>
          </c:dPt>
          <c:dPt>
            <c:idx val="10"/>
            <c:invertIfNegative val="0"/>
            <c:bubble3D val="0"/>
            <c:spPr>
              <a:solidFill>
                <a:srgbClr val="0E7C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5-DE7A-4E7F-B3FC-F19426042744}"/>
              </c:ext>
            </c:extLst>
          </c:dPt>
          <c:dPt>
            <c:idx val="11"/>
            <c:invertIfNegative val="0"/>
            <c:bubble3D val="0"/>
            <c:spPr>
              <a:solidFill>
                <a:srgbClr val="0E7C6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7-DE7A-4E7F-B3FC-F19426042744}"/>
              </c:ext>
            </c:extLst>
          </c:dPt>
          <c:cat>
            <c:strRef>
              <c:f>Sheet1!$A$2:$A$13</c:f>
              <c:strCache>
                <c:ptCount val="12"/>
                <c:pt idx="0">
                  <c:v>T1</c:v>
                </c:pt>
                <c:pt idx="1">
                  <c:v>T2</c:v>
                </c:pt>
                <c:pt idx="2">
                  <c:v>T3</c:v>
                </c:pt>
                <c:pt idx="3">
                  <c:v>T4</c:v>
                </c:pt>
                <c:pt idx="4">
                  <c:v>T5</c:v>
                </c:pt>
                <c:pt idx="5">
                  <c:v>T6</c:v>
                </c:pt>
                <c:pt idx="6">
                  <c:v>T7</c:v>
                </c:pt>
                <c:pt idx="7">
                  <c:v>T8</c:v>
                </c:pt>
                <c:pt idx="8">
                  <c:v>T9</c:v>
                </c:pt>
                <c:pt idx="9">
                  <c:v>T10</c:v>
                </c:pt>
                <c:pt idx="10">
                  <c:v>T11</c:v>
                </c:pt>
                <c:pt idx="11">
                  <c:v>T12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</c:v>
                </c:pt>
                <c:pt idx="1">
                  <c:v>42</c:v>
                </c:pt>
                <c:pt idx="2">
                  <c:v>55</c:v>
                </c:pt>
                <c:pt idx="3">
                  <c:v>68</c:v>
                </c:pt>
                <c:pt idx="4">
                  <c:v>77</c:v>
                </c:pt>
                <c:pt idx="5">
                  <c:v>85</c:v>
                </c:pt>
                <c:pt idx="6">
                  <c:v>91</c:v>
                </c:pt>
                <c:pt idx="7">
                  <c:v>96</c:v>
                </c:pt>
                <c:pt idx="8">
                  <c:v>100</c:v>
                </c:pt>
                <c:pt idx="9">
                  <c:v>103</c:v>
                </c:pt>
                <c:pt idx="10">
                  <c:v>105</c:v>
                </c:pt>
                <c:pt idx="11">
                  <c:v>107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8-DE7A-4E7F-B3FC-F194260427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Chi phí cố định 73 tr./tháng</c:v>
                </c:pt>
              </c:strCache>
            </c:strRef>
          </c:tx>
          <c:spPr>
            <a:ln w="22225" cap="flat">
              <a:solidFill>
                <a:srgbClr val="16302B"/>
              </a:solidFill>
              <a:prstDash val="dash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T1</c:v>
                </c:pt>
                <c:pt idx="1">
                  <c:v>T2</c:v>
                </c:pt>
                <c:pt idx="2">
                  <c:v>T3</c:v>
                </c:pt>
                <c:pt idx="3">
                  <c:v>T4</c:v>
                </c:pt>
                <c:pt idx="4">
                  <c:v>T5</c:v>
                </c:pt>
                <c:pt idx="5">
                  <c:v>T6</c:v>
                </c:pt>
                <c:pt idx="6">
                  <c:v>T7</c:v>
                </c:pt>
                <c:pt idx="7">
                  <c:v>T8</c:v>
                </c:pt>
                <c:pt idx="8">
                  <c:v>T9</c:v>
                </c:pt>
                <c:pt idx="9">
                  <c:v>T10</c:v>
                </c:pt>
                <c:pt idx="10">
                  <c:v>T11</c:v>
                </c:pt>
                <c:pt idx="11">
                  <c:v>T12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73</c:v>
                </c:pt>
                <c:pt idx="1">
                  <c:v>73</c:v>
                </c:pt>
                <c:pt idx="2">
                  <c:v>73</c:v>
                </c:pt>
                <c:pt idx="3">
                  <c:v>73</c:v>
                </c:pt>
                <c:pt idx="4">
                  <c:v>73</c:v>
                </c:pt>
                <c:pt idx="5">
                  <c:v>73</c:v>
                </c:pt>
                <c:pt idx="6">
                  <c:v>73</c:v>
                </c:pt>
                <c:pt idx="7">
                  <c:v>73</c:v>
                </c:pt>
                <c:pt idx="8">
                  <c:v>73</c:v>
                </c:pt>
                <c:pt idx="9">
                  <c:v>73</c:v>
                </c:pt>
                <c:pt idx="10">
                  <c:v>73</c:v>
                </c:pt>
                <c:pt idx="11">
                  <c:v>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9-DE7A-4E7F-B3FC-F1942604274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C737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5"/>
          <c:min val="0"/>
        </c:scaling>
        <c:delete val="0"/>
        <c:axPos val="l"/>
        <c:majorGridlines>
          <c:spPr>
            <a:ln w="6350" cap="flat">
              <a:solidFill>
                <a:srgbClr val="EAF3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C737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C7370"/>
              </a:solidFill>
              <a:latin typeface="Segoe UI"/>
              <a:cs typeface="Segoe U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3424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Chào thầy/cô và các nhà đầu tư. CareTouch — dịch vụ chạm trị liệu y học cổ truyền tại cơ sở và tận nhà.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nhóm khách cùng một vấn đề: vận động, xương khớp, giấc ngủ suy giảm nhưng chưa được phục vụ bài bản. Con số 16,1 triệu người 60+ và 94,4 triệu lượt khám BHYT cho thấy nhu cầu tràn ra ngoài hệ thống.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y tế tăng từ 17,4 lên 27,5 tỷ USD, dự báo 34,1 tỷ USD năm 2028. GWI xếp Việt Nam là thị trường wellness tăng trưởng nhanh nhất châu Á với 15,6%/năm.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Nhóm chính là trung niên 40–60: thu nhập tốt nhất, mua cho cả cha mẹ. Giá một phiên tương đương một bữa cơm gia đình — dễ quyết định định kỳ.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Bản đồ định vị: CareTouch chiếm góc 'chuyên môn cao - giá phải chăng' — nơi không ai đang phục vụ nhóm trung niên-cao tuổi một cách bài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Sáu dịch vụ, giá tại nhà cao hơn tại cơ sở để bù chi phí đi lại. Chọn phân khúc giá ngay dưới spa, trên quán nhỏ.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Liệu trình YHCT vốn cần 5-10 buổi — mô hình gói biến nhu cầu y khoa thành doanh thu định kỳ. CarePlus 10 là gói chủ lực.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Điểm khác biệt vận hành quan trọng nhất: khảo sát thể trạng bắt buộc trước mỗi buổi. Đây là thứ spa thư giãn và quán nhỏ không làm.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Bảng so sánh: chỉ CareTouch đạt đồng thời cả 6 tiêu chí. Spa cao cấp bỏ lại nhóm trung niên vì giá; quán nhỏ thiếu an toàn; home care rời rạc thiếu quy trình.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Tổng vốn khởi đầu 436 triệu tại Hà Nội = 306 triệu đầu tư (cọc 1 + trả trước 3 tháng tiền thuê 140 triệu, cải tạo mặt bằng 50 triệu, thiết bị &amp; nội thất 46 triệu) + 130 triệu vốn lưu động (lỗ lũy kế 4 tháng 97 triệu + đệm an toàn 33 triệu). Chi phí cố định 73 triệu/tháng: thuê 35 + lương cứng 24 + điện nước 5 + giặt sấy vật tư 4 + marketing 5; chưa gồm hoa hồng biến phí theo ca. Hòa vốn vận hành từ tháng 5; CAPEX thu hồi khoảng tháng 16, toàn bộ vốn trong 19–20 tháng.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Bóc tách 306 triệu CAPEX tại Hà Nội theo quy mô 5 chỗ trị liệu. Khoản lớn nhất là tiền thuê trả trước 140 triệu (cọc 1 tháng + trả trước 3 tháng ở mức 35 triệu/tháng) và cải tạo mặt bằng 50 triệu. Cộng 130 triệu vốn lưu động (lỗ 4 tháng 97 triệu + 33 triệu đệm an toàn) = tổng vốn 436 triệu.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 phí cố định 73 triệu/tháng tại Hà Nội: thuê 35 + lương cứng 24 (6 triệu/người) + điện nước 5 + giặt sấy vật tư 4 + marketing 5. Chưa gồm hoa hồng biến phí theo ca. Tiền thuê chiếm gần một nửa chi phí cố định — đánh đổi để có vị trí đắc địa, rút ngắn thời gian lấp đầy công suất. Mặt bằng giá thuê ba loại hình, chọn mức 35 triệu.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Lộ trình 4 giai đoạn, mỗi giai đoạn có điều kiện vượt qua rõ ràng. Năm 3 là năm nhượng quyền — bản chất franchising của mô hình dịch vụ chuẩn hóa.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Hai rủi ro mức cao đều thuộc pháp lý - an toàn. Chiến lược: định vị 'chăm sóc - thư giãn - hỗ trợ vận động', không xâm phạm phạm vi khám chữa bệnh theo Luật KBBC 2023 và NĐ 96/2023/NĐ-CP. Nhân sự vận hành: 4 KTV lương cứng + nhóm sáng lập trực tiếp điều phối giai đoạn đầu; năm 2 tuyển thêm điều phối viên toàn thời gian.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Dự án được phát triển trong môn Thực tập NCKH Đổi mới sáng tạo Khởi nghiệp — Buổi thực tập: ca chiều 1, thứ 7, ngày 26/9/2026.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Kết: 636 triệu (minh họa) phân bổ 436 khởi động cơ sở 1 tại Hà Nội, 80 nền tảng đặt lịch &amp; CRM, 120 cho cơ sở 2, marketing và dự phòng; hình thức góp vốn đổi cổ phần ~15-18% minh họa. Cảm ơn thầy/cô và nhà đầu tư.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tuoitre.vn/nam-2025-viet-nam-co-16-dan-so-la-nguoi-cao-tuoi-1-nguoi-ganh-3-4-benh-man-tinh-20250531122410678.ht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tuoitre.vn/nld/viet-nam-dang-co-toc-do-gia-hoa-nhanh-nhat-chau-a-196250531143638561.ht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vnexpress.net/chi-phi-cho-y-te-cua-nguoi-viet-nam-tang-thang-dung-4997605.html" TargetMode="External"/><Relationship Id="rId5" Type="http://schemas.openxmlformats.org/officeDocument/2006/relationships/hyperlink" Target="https://asia.nikkei.com/Business/Health-Care/Vietnam-fires-up-wellness-tourism-to-rival-Thailand-Indonesia" TargetMode="External"/><Relationship Id="rId4" Type="http://schemas.openxmlformats.org/officeDocument/2006/relationships/hyperlink" Target="https://globalwellnessinstitute.org/wp-content/uploads/2024/11/WellnessEconMonitor2024PDF.pdf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so.gov.vn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massagenha.com/dich-vu/massage-nguoi-lon-tuoi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massagenha.com/dich-vu/massage-nguoi-lon-tuoi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9ED9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HỒ SƠ DỰ ÁN KHỞI NGHIỆP  ·  THÁNG 9/2026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86384" y="1481328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6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Care</a:t>
            </a:r>
            <a:r>
              <a:rPr lang="en-US" sz="7600" b="1" kern="0" spc="100" dirty="0">
                <a:solidFill>
                  <a:srgbClr val="F796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Touch</a:t>
            </a:r>
            <a:endParaRPr lang="en-US" sz="7600" dirty="0"/>
          </a:p>
        </p:txBody>
      </p:sp>
      <p:sp>
        <p:nvSpPr>
          <p:cNvPr id="4" name="Text 2"/>
          <p:cNvSpPr/>
          <p:nvPr/>
        </p:nvSpPr>
        <p:spPr>
          <a:xfrm>
            <a:off x="822960" y="2907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9ED9C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Healing Touch, Healthy Life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FE6D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Chạm trị liệu y học cổ truyền — gội đầu dưỡng sinh, massage trị liệu, bấm huyệt, chườm thảo dược, châm cứu. Phục vụ tại cơ sở và tận nhà cho người trung niên và cao tuổi.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5394960"/>
            <a:ext cx="2926080" cy="0"/>
          </a:xfrm>
          <a:prstGeom prst="line">
            <a:avLst/>
          </a:prstGeom>
          <a:noFill/>
          <a:ln w="19050">
            <a:solidFill>
              <a:srgbClr val="2AA8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5532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Nhóm 3 · Tổ 14 · Lớp A1K79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EC9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Thực tập Nghiên cứu khoa học — Đổi mới sáng tạo Khởi nghiệp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9EC9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Healing Touch, Healthy Life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AA8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VẤN ĐỀ THỊ TRƯỜNG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Già hóa nhanh nhất châu Á — nhu cầu chăm sóc chưa được phục vụ bài bản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92840" y="384048"/>
            <a:ext cx="310896" cy="310896"/>
          </a:xfrm>
          <a:prstGeom prst="ellipse">
            <a:avLst/>
          </a:prstGeom>
          <a:solidFill>
            <a:srgbClr val="9ED9CC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424971" y="422910"/>
            <a:ext cx="264262" cy="264262"/>
          </a:xfrm>
          <a:prstGeom prst="ellipse">
            <a:avLst/>
          </a:prstGeom>
          <a:solidFill>
            <a:srgbClr val="E8590C">
              <a:alpha val="8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539728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1837944"/>
            <a:ext cx="475488" cy="475488"/>
          </a:xfrm>
          <a:prstGeom prst="ellipse">
            <a:avLst/>
          </a:prstGeom>
          <a:solidFill>
            <a:srgbClr val="E8F5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8379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1737360"/>
            <a:ext cx="5989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spcAft>
                <a:spcPts val="500"/>
              </a:spcAft>
              <a:buNone/>
            </a:pPr>
            <a:r>
              <a:rPr lang="en-US" sz="15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Người lao động nặng</a:t>
            </a:r>
            <a:endParaRPr lang="en-US" sz="1550" dirty="0"/>
          </a:p>
          <a:p>
            <a:pPr marL="0" indent="0">
              <a:lnSpc>
                <a:spcPct val="112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Đau lưng, thoái hóa khớp sau nhiều năm. Thói quen tự xử lý bằng dầu nóng, miếng dán vì đi viện tốn thời gian.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1188720" y="3026664"/>
            <a:ext cx="5852160" cy="0"/>
          </a:xfrm>
          <a:prstGeom prst="line">
            <a:avLst/>
          </a:prstGeom>
          <a:noFill/>
          <a:ln w="9525">
            <a:solidFill>
              <a:srgbClr val="DCEB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2920" y="3319272"/>
            <a:ext cx="475488" cy="475488"/>
          </a:xfrm>
          <a:prstGeom prst="ellipse">
            <a:avLst/>
          </a:prstGeom>
          <a:solidFill>
            <a:srgbClr val="E8F5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2920" y="33192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88720" y="3218688"/>
            <a:ext cx="5989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spcAft>
                <a:spcPts val="500"/>
              </a:spcAft>
              <a:buNone/>
            </a:pPr>
            <a:r>
              <a:rPr lang="en-US" sz="15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Dân văn phòng</a:t>
            </a:r>
            <a:endParaRPr lang="en-US" sz="1550" dirty="0"/>
          </a:p>
          <a:p>
            <a:pPr marL="0" indent="0">
              <a:lnSpc>
                <a:spcPct val="112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Đau cổ vai gáy, tê bì tay, mất ngủ chức năng do ngồi 8–10 tiếng/ngày. Có khả năng chi trả nhưng bận rộn, cần dịch vụ nhanh, tiện.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1188720" y="4507992"/>
            <a:ext cx="5852160" cy="0"/>
          </a:xfrm>
          <a:prstGeom prst="line">
            <a:avLst/>
          </a:prstGeom>
          <a:noFill/>
          <a:ln w="9525">
            <a:solidFill>
              <a:srgbClr val="DCEB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02920" y="4800600"/>
            <a:ext cx="475488" cy="475488"/>
          </a:xfrm>
          <a:prstGeom prst="ellipse">
            <a:avLst/>
          </a:prstGeom>
          <a:solidFill>
            <a:srgbClr val="FDEB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920" y="4800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59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88720" y="4700016"/>
            <a:ext cx="5989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spcAft>
                <a:spcPts val="500"/>
              </a:spcAft>
              <a:buNone/>
            </a:pPr>
            <a:r>
              <a:rPr lang="en-US" sz="15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Người cao tuổi</a:t>
            </a:r>
            <a:endParaRPr lang="en-US" sz="1550" dirty="0"/>
          </a:p>
          <a:p>
            <a:pPr marL="0" indent="0">
              <a:lnSpc>
                <a:spcPct val="112000"/>
              </a:lnSpc>
              <a:spcAft>
                <a:spcPts val="500"/>
              </a:spcAft>
              <a:buNone/>
            </a:pPr>
            <a:r>
              <a:rPr lang="en-US" sz="12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Bình quân 3,5–4 bệnh mạn tính cùng lúc. Tin dùng y học cổ truyền nhưng đi lại khó khăn, cần người đến tận nơi.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7452360" y="1664208"/>
            <a:ext cx="4206240" cy="4553712"/>
          </a:xfrm>
          <a:prstGeom prst="roundRect">
            <a:avLst>
              <a:gd name="adj" fmla="val 2609"/>
            </a:avLst>
          </a:prstGeom>
          <a:solidFill>
            <a:srgbClr val="0B3B34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772400" y="1883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50" dirty="0">
                <a:solidFill>
                  <a:srgbClr val="9ED9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VÌ SAO LÀ BÂY GIỜ?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72400" y="223113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796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16,1 triệu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7772400" y="279806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B9D8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người Việt trên 60 tuổi (2025) — hơn 16% dân số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0" y="360273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94,4 triệu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7772400" y="416966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B9D8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lượt khám BHYT 6 tháng đầu 2026 — hệ thống khám chữa bệnh chạy hết công suất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0" y="49194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3,5–4 bệnh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7772400" y="548640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B9D8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mạn tính bình quân mỗi lần nhập viện của người cao tuổi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Nguồn: </a:t>
            </a:r>
            <a:r>
              <a:rPr lang="en-US" sz="1050" u="sng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Tuổi Trẻ, 31/5/2025</a:t>
            </a:r>
            <a:r>
              <a:rPr lang="en-US" sz="1050" i="1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r>
              <a:rPr lang="en-US" sz="1050" u="sng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Tuổi Trẻ — già hóa nhanh nhất châu Á</a:t>
            </a:r>
            <a:r>
              <a:rPr lang="en-US" sz="1050" i="1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Lượt khám BHYT: nhóm tổng hợp, 2026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147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294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441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88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735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882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029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176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1323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1617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764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911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2058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220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2352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2499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2646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AA8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CƠ HỘI THỊ TRƯỜNG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 tiêu sức khỏe tăng đều — Việt Nam là “ngôi sao tăng trưởng” wellness của châu Á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92840" y="384048"/>
            <a:ext cx="310896" cy="310896"/>
          </a:xfrm>
          <a:prstGeom prst="ellipse">
            <a:avLst/>
          </a:prstGeom>
          <a:solidFill>
            <a:srgbClr val="9ED9CC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424971" y="422910"/>
            <a:ext cx="264262" cy="264262"/>
          </a:xfrm>
          <a:prstGeom prst="ellipse">
            <a:avLst/>
          </a:prstGeom>
          <a:solidFill>
            <a:srgbClr val="E8590C">
              <a:alpha val="8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539728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94360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93852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 tiêu y tế Việt Nam (tỷ USD)</a:t>
            </a:r>
            <a:endParaRPr lang="en-US" sz="14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777240" y="2331720"/>
          <a:ext cx="539496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Shape 7"/>
          <p:cNvSpPr/>
          <p:nvPr/>
        </p:nvSpPr>
        <p:spPr>
          <a:xfrm>
            <a:off x="6812280" y="1737360"/>
            <a:ext cx="4873752" cy="1371600"/>
          </a:xfrm>
          <a:prstGeom prst="roundRect">
            <a:avLst>
              <a:gd name="adj" fmla="val 6000"/>
            </a:avLst>
          </a:prstGeom>
          <a:solidFill>
            <a:srgbClr val="F4FAF8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086600" y="1865376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E859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6.300 tỷ USD   </a:t>
            </a: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mô kinh tế wellness toàn cầu (2023) — tăng nhanh hơn GDP thế giới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7086600" y="27706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Nguồn: </a:t>
            </a:r>
            <a:r>
              <a:rPr lang="en-US" sz="1000" u="sng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 Wellness Institute, 2024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812280" y="3273552"/>
            <a:ext cx="4873752" cy="1371600"/>
          </a:xfrm>
          <a:prstGeom prst="roundRect">
            <a:avLst>
              <a:gd name="adj" fmla="val 6000"/>
            </a:avLst>
          </a:prstGeom>
          <a:solidFill>
            <a:srgbClr val="F4FAF8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086600" y="3401568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E859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+15,6%/năm   </a:t>
            </a: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tăng trưởng wellness của Việt Nam — cao nhất châu Á, trước Ấn Độ (8,1%) và Trung Quốc (7,6%)</a:t>
            </a:r>
            <a:endParaRPr lang="en-US" sz="2500" dirty="0"/>
          </a:p>
        </p:txBody>
      </p:sp>
      <p:sp>
        <p:nvSpPr>
          <p:cNvPr id="15" name="Text 12"/>
          <p:cNvSpPr/>
          <p:nvPr/>
        </p:nvSpPr>
        <p:spPr>
          <a:xfrm>
            <a:off x="7086600" y="43068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Nguồn: </a:t>
            </a:r>
            <a:r>
              <a:rPr lang="en-US" sz="1000" u="sng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GWI Wellness Economy Monitor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812280" y="4809744"/>
            <a:ext cx="4873752" cy="1371600"/>
          </a:xfrm>
          <a:prstGeom prst="roundRect">
            <a:avLst>
              <a:gd name="adj" fmla="val 6000"/>
            </a:avLst>
          </a:prstGeom>
          <a:solidFill>
            <a:srgbClr val="F4FAF8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086600" y="49377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E859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 tỷ USD   </a:t>
            </a: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doanh thu spa Việt Nam 2023 — top 20 thị trường toàn cầu, từ 850 triệu USD (2019)</a:t>
            </a:r>
            <a:endParaRPr lang="en-US" sz="2500" dirty="0"/>
          </a:p>
        </p:txBody>
      </p:sp>
      <p:sp>
        <p:nvSpPr>
          <p:cNvPr id="18" name="Text 15"/>
          <p:cNvSpPr/>
          <p:nvPr/>
        </p:nvSpPr>
        <p:spPr>
          <a:xfrm>
            <a:off x="7086600" y="584301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Nguồn: </a:t>
            </a:r>
            <a:r>
              <a:rPr lang="en-US" sz="1000" u="sng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Nikkei Asia, 1/2025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02920" y="638251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Nguồn: </a:t>
            </a:r>
            <a:r>
              <a:rPr lang="en-US" sz="1050" u="sng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VnExpress, 24/12/2025</a:t>
            </a:r>
            <a:r>
              <a:rPr lang="en-US" sz="1050" i="1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(chi tiêu y tế)  ·  GWI 2024  ·  Nikkei Asia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Graphic spid="9" grpId="0">
        <p:bldAsOne/>
      </p:bldGraphic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AA8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KHÁCH HÀNG MỤC TIÊU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 nhóm khách, một nhu cầu chung: chạm trị liệu định kỳ, thuận tiện và đáng tin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92840" y="384048"/>
            <a:ext cx="310896" cy="310896"/>
          </a:xfrm>
          <a:prstGeom prst="ellipse">
            <a:avLst/>
          </a:prstGeom>
          <a:solidFill>
            <a:srgbClr val="9ED9CC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424971" y="422910"/>
            <a:ext cx="264262" cy="264262"/>
          </a:xfrm>
          <a:prstGeom prst="ellipse">
            <a:avLst/>
          </a:prstGeom>
          <a:solidFill>
            <a:srgbClr val="E8590C">
              <a:alpha val="8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539728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3593592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58952" y="2011680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8F5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58952" y="2011680"/>
            <a:ext cx="1078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Nhóm chính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58952" y="243230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TRUNG NIÊN 40–60 TUỔI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58952" y="2871216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700"/>
              </a:spcAft>
              <a:buSzPct val="100000"/>
              <a:buChar char="▸"/>
            </a:pP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 nhập ổn định nhất, bắt đầu đau nhức cơ – xương khớp</a:t>
            </a:r>
            <a:endParaRPr lang="en-US" sz="1150" dirty="0"/>
          </a:p>
          <a:p>
            <a:pPr marL="152400" indent="-152400">
              <a:lnSpc>
                <a:spcPct val="112000"/>
              </a:lnSpc>
              <a:spcAft>
                <a:spcPts val="700"/>
              </a:spcAft>
              <a:buSzPct val="100000"/>
              <a:buChar char="▸"/>
            </a:pP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Người quyết định dịch vụ cho cả cha mẹ già</a:t>
            </a:r>
            <a:endParaRPr lang="en-US" sz="1150" dirty="0"/>
          </a:p>
          <a:p>
            <a:pPr marL="152400" indent="-152400">
              <a:lnSpc>
                <a:spcPct val="112000"/>
              </a:lnSpc>
              <a:spcAft>
                <a:spcPts val="700"/>
              </a:spcAft>
              <a:buSzPct val="100000"/>
              <a:buChar char="▸"/>
            </a:pP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Chuộng gói định kỳ — tiếp cận qua Zalo, Facebook, giới thiệu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79392" y="1783080"/>
            <a:ext cx="3593592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535424" y="2011680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F4FAF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35424" y="2011680"/>
            <a:ext cx="1078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AA8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Nhóm phụ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35424" y="243230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NHÂN VIÊN VĂN PHÒNG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35424" y="2871216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700"/>
              </a:spcAft>
              <a:buSzPct val="100000"/>
              <a:buChar char="▸"/>
            </a:pP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Đau cổ vai gáy nghề nghiệp, bận rộn</a:t>
            </a:r>
            <a:endParaRPr lang="en-US" sz="1150" dirty="0"/>
          </a:p>
          <a:p>
            <a:pPr marL="152400" indent="-152400">
              <a:lnSpc>
                <a:spcPct val="112000"/>
              </a:lnSpc>
              <a:spcAft>
                <a:spcPts val="700"/>
              </a:spcAft>
              <a:buSzPct val="100000"/>
              <a:buChar char="▸"/>
            </a:pP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Mua lẻ ban đầu, chuyển dần sang gói combo</a:t>
            </a:r>
            <a:endParaRPr lang="en-US" sz="1150" dirty="0"/>
          </a:p>
          <a:p>
            <a:pPr marL="152400" indent="-152400">
              <a:lnSpc>
                <a:spcPct val="112000"/>
              </a:lnSpc>
              <a:spcAft>
                <a:spcPts val="700"/>
              </a:spcAft>
              <a:buSzPct val="100000"/>
              <a:buChar char="▸"/>
            </a:pP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Cần khung giờ sớm – tối và phục vụ nhanh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55864" y="1783080"/>
            <a:ext cx="3593592" cy="30175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311896" y="2011680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FDEB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311896" y="2011680"/>
            <a:ext cx="1078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59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Nhóm phụ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311896" y="243230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NGƯỜI CAO TUỔI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11896" y="2871216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700"/>
              </a:spcAft>
              <a:buSzPct val="100000"/>
              <a:buChar char="▸"/>
            </a:pP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Nhiều bệnh mạn tính, khó di chuyển</a:t>
            </a:r>
            <a:endParaRPr lang="en-US" sz="1150" dirty="0"/>
          </a:p>
          <a:p>
            <a:pPr marL="152400" indent="-152400">
              <a:lnSpc>
                <a:spcPct val="112000"/>
              </a:lnSpc>
              <a:spcAft>
                <a:spcPts val="700"/>
              </a:spcAft>
              <a:buSzPct val="100000"/>
              <a:buChar char="▸"/>
            </a:pP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 tưởng y học cổ truyền từ lâu</a:t>
            </a:r>
            <a:endParaRPr lang="en-US" sz="1150" dirty="0"/>
          </a:p>
          <a:p>
            <a:pPr marL="152400" indent="-152400">
              <a:lnSpc>
                <a:spcPct val="112000"/>
              </a:lnSpc>
              <a:spcAft>
                <a:spcPts val="700"/>
              </a:spcAft>
              <a:buSzPct val="100000"/>
              <a:buChar char="▸"/>
            </a:pP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 cháu đặt và thanh toán hộ — trung thành cao nếu buổi đầu an toàn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0" y="5349240"/>
            <a:ext cx="12188952" cy="685800"/>
          </a:xfrm>
          <a:prstGeom prst="rect">
            <a:avLst/>
          </a:prstGeom>
          <a:solidFill>
            <a:srgbClr val="E8F5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2920" y="5349240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Khả năng chi trả:  </a:t>
            </a:r>
            <a:r>
              <a:rPr lang="en-US" sz="1350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 nhập bình quân đầu người 2025 đạt 5,9 triệu đồng/tháng (+9,3% so với 2024) — mức giá 120.000–320.000 đ/phiên nằm trong tầm chi trả định kỳ của nhóm mục tiêu.  </a:t>
            </a:r>
            <a:r>
              <a:rPr lang="en-US" sz="1100" u="sng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Nguồn: Tổng cục Thống kê (gso.gov.vn)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164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28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492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656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984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148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312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1476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1804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968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2132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2296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24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2624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AA8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GIẢI PHÁP CARETOUCH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Trị liệu cổ truyền có kiểm chứng — giá phải chăng, phục vụ tận giường, tận nhà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92840" y="384048"/>
            <a:ext cx="310896" cy="310896"/>
          </a:xfrm>
          <a:prstGeom prst="ellipse">
            <a:avLst/>
          </a:prstGeom>
          <a:solidFill>
            <a:srgbClr val="9ED9CC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424971" y="422910"/>
            <a:ext cx="264262" cy="264262"/>
          </a:xfrm>
          <a:prstGeom prst="ellipse">
            <a:avLst/>
          </a:prstGeom>
          <a:solidFill>
            <a:srgbClr val="E8590C">
              <a:alpha val="8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539728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5760720" cy="4343400"/>
          </a:xfrm>
          <a:prstGeom prst="roundRect">
            <a:avLst>
              <a:gd name="adj" fmla="val 1895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005840" y="2057400"/>
            <a:ext cx="0" cy="3291840"/>
          </a:xfrm>
          <a:prstGeom prst="line">
            <a:avLst/>
          </a:prstGeom>
          <a:noFill/>
          <a:ln w="19050">
            <a:solidFill>
              <a:srgbClr val="DCEB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005840" y="5349240"/>
            <a:ext cx="4846320" cy="0"/>
          </a:xfrm>
          <a:prstGeom prst="line">
            <a:avLst/>
          </a:prstGeom>
          <a:noFill/>
          <a:ln w="19050">
            <a:solidFill>
              <a:srgbClr val="DCEB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18013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 cao ↑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0" y="542239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Chuyên môn trị liệu →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554480" y="4288536"/>
            <a:ext cx="1005840" cy="566928"/>
          </a:xfrm>
          <a:prstGeom prst="ellipse">
            <a:avLst/>
          </a:prstGeom>
          <a:solidFill>
            <a:srgbClr val="C9D8D3"/>
          </a:solidFill>
          <a:ln/>
          <a:effectLst>
            <a:outerShdw blurRad="63500" dist="12700" dir="5400000" algn="bl" rotWithShape="0">
              <a:srgbClr val="0B3B34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97280" y="4892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Quán massage nhỏ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805940" y="2313432"/>
            <a:ext cx="1143000" cy="621792"/>
          </a:xfrm>
          <a:prstGeom prst="ellipse">
            <a:avLst/>
          </a:prstGeom>
          <a:solidFill>
            <a:srgbClr val="9ED9CC"/>
          </a:solidFill>
          <a:ln/>
          <a:effectLst>
            <a:outerShdw blurRad="63500" dist="12700" dir="5400000" algn="bl" rotWithShape="0">
              <a:srgbClr val="0B3B34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417320" y="2971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 cao cấp (thư giãn)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49140" y="4178808"/>
            <a:ext cx="1051560" cy="548640"/>
          </a:xfrm>
          <a:prstGeom prst="ellipse">
            <a:avLst/>
          </a:prstGeom>
          <a:solidFill>
            <a:srgbClr val="C9D8D3"/>
          </a:solidFill>
          <a:ln/>
          <a:effectLst>
            <a:outerShdw blurRad="63500" dist="12700" dir="5400000" algn="bl" rotWithShape="0">
              <a:srgbClr val="0B3B34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114800" y="476402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Tại nhà tự phát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069080" y="2679192"/>
            <a:ext cx="1554480" cy="868680"/>
          </a:xfrm>
          <a:prstGeom prst="ellipse">
            <a:avLst/>
          </a:prstGeom>
          <a:solidFill>
            <a:srgbClr val="E8590C"/>
          </a:solidFill>
          <a:ln w="25400">
            <a:solidFill>
              <a:srgbClr val="FFFFFF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069080" y="2679192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CareTouch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291840" y="364845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859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trị liệu cổ truyền · giá phải chăng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629400" y="178308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8F5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6294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174650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Tận giường – tận nhà</a:t>
            </a:r>
            <a:endParaRPr lang="en-US" sz="1450" dirty="0"/>
          </a:p>
          <a:p>
            <a:pPr marL="0" indent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Mang theo đệm, dầu xoa, khăn sạch; khách cao tuổi không cần ai đưa đón.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629400" y="289864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DEB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629400" y="2898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859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269480" y="2862072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Khảo sát thể trạng trước buổi trị liệu</a:t>
            </a:r>
            <a:endParaRPr lang="en-US" sz="1450" dirty="0"/>
          </a:p>
          <a:p>
            <a:pPr marL="0" indent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buổi bắt đầu bằng hỏi bệnh nền, đo huyết áp — không an toàn thì không thực hiện.</a:t>
            </a:r>
            <a:endParaRPr lang="en-US" sz="1450" dirty="0"/>
          </a:p>
        </p:txBody>
      </p:sp>
      <p:sp>
        <p:nvSpPr>
          <p:cNvPr id="27" name="Shape 25"/>
          <p:cNvSpPr/>
          <p:nvPr/>
        </p:nvSpPr>
        <p:spPr>
          <a:xfrm>
            <a:off x="6629400" y="4014216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8F5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629400" y="4014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269480" y="397764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 niêm yết minh bạch</a:t>
            </a:r>
            <a:endParaRPr lang="en-US" sz="1450" dirty="0"/>
          </a:p>
          <a:p>
            <a:pPr marL="0" indent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Bảng giá công khai, không phát sinh chi phí; combo tiết kiệm 15–20%.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6629400" y="512978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8F5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629400" y="5129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269480" y="5093208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sức khỏe cá nhân</a:t>
            </a:r>
            <a:endParaRPr lang="en-US" sz="1450" dirty="0"/>
          </a:p>
          <a:p>
            <a:pPr marL="0" indent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Ghi nhận phản ứng sau mỗi buổi — liệu trình liên tục, không rời rạc.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Định vị dựa trên khảo sát giá công khai 2025: massage tại nhà cho người lớn tuổi 350.000–620.000 đ/phiên (</a:t>
            </a:r>
            <a:r>
              <a:rPr lang="en-US" sz="1050" u="sng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Massagenha, 7/2025</a:t>
            </a:r>
            <a:r>
              <a:rPr lang="en-US" sz="1050" i="1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); spa tầm trung 350.000–400.000 đ.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107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214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321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428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35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642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749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856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963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1177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284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391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1498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60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712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819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926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2033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21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2247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2354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2461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2568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2675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AA8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SẢN PHẨM DỊCH VỤ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Danh mục dịch vụ &amp; giá đề xuất (VNĐ/phiên)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92840" y="384048"/>
            <a:ext cx="310896" cy="310896"/>
          </a:xfrm>
          <a:prstGeom prst="ellipse">
            <a:avLst/>
          </a:prstGeom>
          <a:solidFill>
            <a:srgbClr val="9ED9CC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424971" y="422910"/>
            <a:ext cx="264262" cy="264262"/>
          </a:xfrm>
          <a:prstGeom prst="ellipse">
            <a:avLst/>
          </a:prstGeom>
          <a:solidFill>
            <a:srgbClr val="E8590C">
              <a:alpha val="8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539728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10512"/>
          <a:ext cx="7406640" cy="3438144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Dịch vụ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Thời lượng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Tại cơ sở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Tại nhà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Gội đầu dưỡng sinh thảo dược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45 phút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0E7C6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120.000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E8590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200.000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Massage cổ – vai – gáy trị liệu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 phút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0E7C6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180.000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E8590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270.000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Massage toàn thân thư giãn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70 phút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0E7C6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220.000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E8590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320.000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Bấm huyệt – đả thông kinh lạc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 phút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0E7C6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200.000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E8590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290.000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Chườm thảo dược – xông hơi đông 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 phút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0E7C6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180.000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i="1" dirty="0">
                          <a:solidFill>
                            <a:srgbClr val="E8590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Châm cứu – cứu ngải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45 phút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0E7C6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250.000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i="1" dirty="0">
                          <a:solidFill>
                            <a:srgbClr val="E8590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229600" y="1828800"/>
            <a:ext cx="3456432" cy="1417320"/>
          </a:xfrm>
          <a:prstGeom prst="roundRect">
            <a:avLst>
              <a:gd name="adj" fmla="val 6452"/>
            </a:avLst>
          </a:prstGeom>
          <a:solidFill>
            <a:srgbClr val="0B3B34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503920" y="19751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200" dirty="0">
                <a:solidFill>
                  <a:srgbClr val="9ED9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PHỤC VỤ TẬN NHÀ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503920" y="226771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Miễn phí trong bán kính 5 km</a:t>
            </a:r>
            <a:endParaRPr lang="en-US" sz="1300" dirty="0"/>
          </a:p>
          <a:p>
            <a:pPr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B9D8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Xa hơn: phụ thu 20.000 đ mỗi 5 km; tối thiểu 2 buổi mỗi lượt.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229600" y="3383280"/>
            <a:ext cx="3456432" cy="1207008"/>
          </a:xfrm>
          <a:prstGeom prst="roundRect">
            <a:avLst>
              <a:gd name="adj" fmla="val 7576"/>
            </a:avLst>
          </a:prstGeom>
          <a:solidFill>
            <a:srgbClr val="E8F5F1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03920" y="3529584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Tại cơ sở</a:t>
            </a:r>
            <a:endParaRPr lang="en-US" sz="1250" dirty="0"/>
          </a:p>
          <a:p>
            <a:pPr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gian riêng cho từng chỗ trị liệu, khảo sát thể trạng trước mỗi buổi, có phòng dành cho châm cứu.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229600" y="4727448"/>
            <a:ext cx="3456432" cy="1261872"/>
          </a:xfrm>
          <a:prstGeom prst="roundRect">
            <a:avLst>
              <a:gd name="adj" fmla="val 7246"/>
            </a:avLst>
          </a:prstGeom>
          <a:solidFill>
            <a:srgbClr val="FDEBDD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503920" y="4882896"/>
            <a:ext cx="29260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859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Định vị giá</a:t>
            </a:r>
            <a:endParaRPr lang="en-US" sz="1250" dirty="0"/>
          </a:p>
          <a:p>
            <a:pPr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Thị trường tại nhà cho người lớn tuổi 350.000–620.000 đ/phiên. CareTouch ở 120.000–320.000 đ — vẫn dưới phân khúc spa.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 đề xuất của nhóm, căn theo khảo sát thị trường: </a:t>
            </a:r>
            <a:r>
              <a:rPr lang="en-US" sz="1050" u="sng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Massagenha.com, 7/2025</a:t>
            </a:r>
            <a:r>
              <a:rPr lang="en-US" sz="1050" i="1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đã hiệu chỉnh theo mặt bằng Hà Nội; con số sẽ chốt theo khảo sát địa bàn triển khai.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7" grpId="0">
        <p:bldAsOne/>
      </p:bldGraphic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AA8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 HÌNH DOANH THU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Doanh thu lặp lại: liệu trình 5–10 buổi, khách quay lại theo chu kỳ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92840" y="384048"/>
            <a:ext cx="310896" cy="310896"/>
          </a:xfrm>
          <a:prstGeom prst="ellipse">
            <a:avLst/>
          </a:prstGeom>
          <a:solidFill>
            <a:srgbClr val="9ED9CC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424971" y="422910"/>
            <a:ext cx="264262" cy="264262"/>
          </a:xfrm>
          <a:prstGeom prst="ellipse">
            <a:avLst/>
          </a:prstGeom>
          <a:solidFill>
            <a:srgbClr val="E8590C">
              <a:alpha val="8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539728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3593592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0848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AA8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MUA LẺ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239572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120.000–290.000 đ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77240" y="324612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▸"/>
            </a:pPr>
            <a:r>
              <a:rPr lang="en-US" sz="120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ràng buộc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▸"/>
            </a:pPr>
            <a:r>
              <a:rPr lang="en-US" sz="120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 niêm yết, không phát sinh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▸"/>
            </a:pPr>
            <a:r>
              <a:rPr lang="en-US" sz="120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Tích điểm thành viên từ phiên đầu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▸"/>
            </a:pPr>
            <a:r>
              <a:rPr lang="en-US" sz="120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Dành cho khách trải nghiệm lần đầu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9392" y="1828800"/>
            <a:ext cx="3593592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53712" y="20848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2AA8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5 BUỔI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53712" y="239572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890.000 đ</a:t>
            </a:r>
            <a:r>
              <a:rPr lang="en-US" sz="120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tiết kiệm ~15%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553712" y="324612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▸"/>
            </a:pPr>
            <a:r>
              <a:rPr lang="en-US" sz="120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Tự chọn kết hợp 3 dịch vụ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▸"/>
            </a:pPr>
            <a:r>
              <a:rPr lang="en-US" sz="120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Đặt lịch linh hoạt trong 3 tháng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▸"/>
            </a:pPr>
            <a:r>
              <a:rPr lang="en-US" sz="120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buổi tổng kết liệu trình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▸"/>
            </a:pPr>
            <a:r>
              <a:rPr lang="en-US" sz="120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Dành cho liệu trình ngắn 2–4 tuần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55864" y="1828800"/>
            <a:ext cx="3593592" cy="3291840"/>
          </a:xfrm>
          <a:prstGeom prst="roundRect">
            <a:avLst>
              <a:gd name="adj" fmla="val 2778"/>
            </a:avLst>
          </a:prstGeom>
          <a:solidFill>
            <a:srgbClr val="0B3B34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30184" y="20848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ED9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CAREPLUS 10 BUỔI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330184" y="2395728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7965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1.590.000 đ</a:t>
            </a:r>
            <a:r>
              <a:rPr lang="en-US" sz="1200" dirty="0">
                <a:solidFill>
                  <a:srgbClr val="B9D8D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~20%</a:t>
            </a:r>
            <a:endParaRPr lang="en-US" sz="3100" dirty="0"/>
          </a:p>
        </p:txBody>
      </p:sp>
      <p:sp>
        <p:nvSpPr>
          <p:cNvPr id="18" name="Text 16"/>
          <p:cNvSpPr/>
          <p:nvPr/>
        </p:nvSpPr>
        <p:spPr>
          <a:xfrm>
            <a:off x="8330184" y="324612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▸"/>
            </a:pPr>
            <a:r>
              <a:rPr lang="en-US" sz="1200" dirty="0">
                <a:solidFill>
                  <a:srgbClr val="D5EA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 cố định 12 tháng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▸"/>
            </a:pPr>
            <a:r>
              <a:rPr lang="en-US" sz="1200" dirty="0">
                <a:solidFill>
                  <a:srgbClr val="D5EA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Tích điểm 5% · ưu đãi tháng sinh nhật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▸"/>
            </a:pPr>
            <a:r>
              <a:rPr lang="en-US" sz="1200" dirty="0">
                <a:solidFill>
                  <a:srgbClr val="D5EA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 người thân dùng chung</a:t>
            </a:r>
            <a:endParaRPr lang="en-US" sz="1200" dirty="0"/>
          </a:p>
          <a:p>
            <a:pPr marL="152400" indent="-152400">
              <a:lnSpc>
                <a:spcPct val="112000"/>
              </a:lnSpc>
              <a:spcAft>
                <a:spcPts val="800"/>
              </a:spcAft>
              <a:buSzPct val="100000"/>
              <a:buChar char="▸"/>
            </a:pPr>
            <a:r>
              <a:rPr lang="en-US" sz="1200" dirty="0">
                <a:solidFill>
                  <a:srgbClr val="D5EAE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Gói chủ lực — liệu trình chuẩn &amp; gia đình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0" y="5532120"/>
            <a:ext cx="12188952" cy="658368"/>
          </a:xfrm>
          <a:prstGeom prst="rect">
            <a:avLst/>
          </a:prstGeom>
          <a:solidFill>
            <a:srgbClr val="E8F5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02920" y="5532120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59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 </a:t>
            </a:r>
            <a:r>
              <a:rPr lang="en-US" sz="1350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doanh thu tháng thứ 12 đến từ gói combo và thẻ thành viên — dòng tiền dự đoán được, chi phí giữ chân khách thấp. </a:t>
            </a:r>
            <a:r>
              <a:rPr lang="en-US" sz="1150" i="1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(dự phóng minh họa)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234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AA8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TRÌNH VẬN HÀNH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Một buổi trị liệu chuẩn: an toàn được kiểm soát ở từng bước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92840" y="384048"/>
            <a:ext cx="310896" cy="310896"/>
          </a:xfrm>
          <a:prstGeom prst="ellipse">
            <a:avLst/>
          </a:prstGeom>
          <a:solidFill>
            <a:srgbClr val="9ED9CC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424971" y="422910"/>
            <a:ext cx="264262" cy="264262"/>
          </a:xfrm>
          <a:prstGeom prst="ellipse">
            <a:avLst/>
          </a:prstGeom>
          <a:solidFill>
            <a:srgbClr val="E8590C">
              <a:alpha val="8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539728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2606040" cy="2880360"/>
          </a:xfrm>
          <a:prstGeom prst="roundRect">
            <a:avLst>
              <a:gd name="adj" fmla="val 3509"/>
            </a:avLst>
          </a:prstGeom>
          <a:solidFill>
            <a:srgbClr val="E8F5F1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214884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BFE0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731520" y="30175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Khảo sát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3429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phút đầu: hỏi bệnh nền, đo huyết áp, kiểm tra chống chỉ định.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127248" y="3246120"/>
            <a:ext cx="329184" cy="274320"/>
          </a:xfrm>
          <a:prstGeom prst="rightArrow">
            <a:avLst/>
          </a:prstGeom>
          <a:solidFill>
            <a:srgbClr val="E859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319272" y="1965960"/>
            <a:ext cx="2606040" cy="288036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547872" y="214884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9ED9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3547872" y="30175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giá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547872" y="3429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Xác định vùng đau, tư thế sai lệch để trị liệu nhắm đúng chỗ.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0" y="3246120"/>
            <a:ext cx="329184" cy="274320"/>
          </a:xfrm>
          <a:prstGeom prst="rightArrow">
            <a:avLst/>
          </a:prstGeom>
          <a:solidFill>
            <a:srgbClr val="E859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135624" y="1965960"/>
            <a:ext cx="2606040" cy="288036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64224" y="214884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9ED9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4600" dirty="0"/>
          </a:p>
        </p:txBody>
      </p:sp>
      <p:sp>
        <p:nvSpPr>
          <p:cNvPr id="19" name="Text 17"/>
          <p:cNvSpPr/>
          <p:nvPr/>
        </p:nvSpPr>
        <p:spPr>
          <a:xfrm>
            <a:off x="6364224" y="30175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Trị liệu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364224" y="3429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Massage – bấm huyệt – chườm thảo dược theo bài chuẩn 45–70 phút.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759952" y="3246120"/>
            <a:ext cx="329184" cy="274320"/>
          </a:xfrm>
          <a:prstGeom prst="rightArrow">
            <a:avLst/>
          </a:prstGeom>
          <a:solidFill>
            <a:srgbClr val="E859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951976" y="1965960"/>
            <a:ext cx="2606040" cy="288036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180576" y="214884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9ED9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9180576" y="30175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Theo dõi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180576" y="3429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Dặn bài tập nhẹ, ghi sổ sức khỏe — buổi sau điều chỉnh tốt hơn.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0" y="5486400"/>
            <a:ext cx="12188952" cy="658368"/>
          </a:xfrm>
          <a:prstGeom prst="rect">
            <a:avLst/>
          </a:prstGeom>
          <a:solidFill>
            <a:srgbClr val="FDEB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02920" y="5486400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 tắc cốt lõi:  </a:t>
            </a:r>
            <a:r>
              <a:rPr lang="en-US" sz="1350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an toàn → không thực hiện. Khách có chống chỉ định sẽ được từ chối hoặc khuyên đi khám; cơ sở mua bảo hiểm trách nhiệm dịch vụ.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133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266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399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32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665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798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931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064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1197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1463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596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729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1862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99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2128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2261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2394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2527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26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AA8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 TRỊ KHÁC BIỆT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Khoảng trống thị trường: dịch vụ chăm sóc chuyên nghiệp cho trung niên – cao tuổi còn bỏ ngỏ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92840" y="384048"/>
            <a:ext cx="310896" cy="310896"/>
          </a:xfrm>
          <a:prstGeom prst="ellipse">
            <a:avLst/>
          </a:prstGeom>
          <a:solidFill>
            <a:srgbClr val="9ED9CC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424971" y="422910"/>
            <a:ext cx="264262" cy="264262"/>
          </a:xfrm>
          <a:prstGeom prst="ellipse">
            <a:avLst/>
          </a:prstGeom>
          <a:solidFill>
            <a:srgbClr val="E8590C">
              <a:alpha val="8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539728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10512"/>
          <a:ext cx="11183112" cy="4343400"/>
        </p:xfrm>
        <a:graphic>
          <a:graphicData uri="http://schemas.openxmlformats.org/drawingml/2006/table">
            <a:tbl>
              <a:tblPr/>
              <a:tblGrid>
                <a:gridCol w="4233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Tiêu chí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CareTouch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90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Spa cao cấp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Quán massage nhỏ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Tại nhà tự phát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5C737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Giá niêm yết minh bạch, không phát sinh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E8590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E7C6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B9C6C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✕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5C737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5C737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Trị liệu cổ truyền theo bài chuẩn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E8590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B9C6C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✕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5C737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5C737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5C737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Khảo sát thể trạng an toàn trước mỗi buổi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E8590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B9C6C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✕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B9C6C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✕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5C737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5C737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Phục vụ tận giường – tận nhà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E8590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B9C6C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✕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5C737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E7C6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5C737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Sổ sức khỏe cá nhân theo dõi liệu trình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E8590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B9C6C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✕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B9C6C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✕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B9C6C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✕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5C737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Giá phù hợp chi trả định kỳ (120–320 nghìn đồng)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E8590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BD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B9C6C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✕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E7C6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✓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5C737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 sánh do nhóm thực hiện trên cơ sở khảo sát dịch vụ công khai (giá niêm yết toàn quốc, hiệu chỉnh theo mặt bằng Hà Nội), 2025–2026 (spa: KKday, Jackfruit Adventure; home care: Massagenha).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10" grpId="0">
        <p:bldAsOne/>
      </p:bldGraphic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AA8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CHÍNH DỰ PHÓNG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Hòa vốn vận hành từ tháng thứ 5 — hoàn vốn đầy đủ trong 19–20 tháng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92840" y="384048"/>
            <a:ext cx="310896" cy="310896"/>
          </a:xfrm>
          <a:prstGeom prst="ellipse">
            <a:avLst/>
          </a:prstGeom>
          <a:solidFill>
            <a:srgbClr val="9ED9CC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424971" y="422910"/>
            <a:ext cx="264262" cy="264262"/>
          </a:xfrm>
          <a:prstGeom prst="ellipse">
            <a:avLst/>
          </a:prstGeom>
          <a:solidFill>
            <a:srgbClr val="E8590C">
              <a:alpha val="8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539728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6720840" cy="4343400"/>
          </a:xfrm>
          <a:prstGeom prst="roundRect">
            <a:avLst>
              <a:gd name="adj" fmla="val 1895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95528" y="195681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Doanh thu dự phóng 12 tháng đầu (triệu đồng/tháng)</a:t>
            </a:r>
            <a:endParaRPr lang="en-US" sz="135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731520" y="2304288"/>
          <a:ext cx="626364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Shape 7"/>
          <p:cNvSpPr/>
          <p:nvPr/>
        </p:nvSpPr>
        <p:spPr>
          <a:xfrm>
            <a:off x="7589520" y="1783080"/>
            <a:ext cx="4096512" cy="987552"/>
          </a:xfrm>
          <a:prstGeom prst="roundRect">
            <a:avLst>
              <a:gd name="adj" fmla="val 7407"/>
            </a:avLst>
          </a:prstGeom>
          <a:solidFill>
            <a:srgbClr val="E8F5F1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845552" y="1892808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436 tr.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9363456" y="187452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vốn khởi đầu = 306 tr. đầu tư (gồm cọc + trả trước 3 tháng thuê nhà) + 130 tr. vốn lưu động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589520" y="2916936"/>
            <a:ext cx="4096512" cy="987552"/>
          </a:xfrm>
          <a:prstGeom prst="roundRect">
            <a:avLst>
              <a:gd name="adj" fmla="val 7407"/>
            </a:avLst>
          </a:prstGeom>
          <a:solidFill>
            <a:srgbClr val="E8F5F1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845552" y="3026664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73 tr./th.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9363456" y="3008376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 phí cố định: thuê 35tr + lương cứng 4 KTV 24tr + điện nước, vật tư, marketing; chưa gồm hoa hồng ca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589520" y="4050792"/>
            <a:ext cx="4096512" cy="987552"/>
          </a:xfrm>
          <a:prstGeom prst="roundRect">
            <a:avLst>
              <a:gd name="adj" fmla="val 7407"/>
            </a:avLst>
          </a:prstGeom>
          <a:solidFill>
            <a:srgbClr val="E8F5F1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845552" y="4160520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 tr./th.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9363456" y="4142232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doanh thu tháng 12 — tương đương ~460 khách/tháng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589520" y="5184648"/>
            <a:ext cx="4096512" cy="987552"/>
          </a:xfrm>
          <a:prstGeom prst="roundRect">
            <a:avLst>
              <a:gd name="adj" fmla="val 7407"/>
            </a:avLst>
          </a:prstGeom>
          <a:solidFill>
            <a:srgbClr val="FDEBDD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845552" y="5294376"/>
            <a:ext cx="14813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E859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≥ 55%</a:t>
            </a:r>
            <a:endParaRPr lang="en-US" sz="2100" dirty="0"/>
          </a:p>
        </p:txBody>
      </p:sp>
      <p:sp>
        <p:nvSpPr>
          <p:cNvPr id="21" name="Text 18"/>
          <p:cNvSpPr/>
          <p:nvPr/>
        </p:nvSpPr>
        <p:spPr>
          <a:xfrm>
            <a:off x="9363456" y="5276088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tỷ lệ khách quay lại để hoàn vốn đúng hạn — đo từ tháng đầu tiên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795528" y="56692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T4: 68 &lt; 73 &lt; T5: 77  →  </a:t>
            </a:r>
            <a:r>
              <a:rPr lang="en-US" sz="1050" b="1" i="1" dirty="0">
                <a:solidFill>
                  <a:srgbClr val="E859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hòa vốn ngay tháng thứ 5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502920" y="616305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Phép tính: lỗ lũy kế T1–T4 = 43 + 31 + 18 + 5 = 97 triệu → dự trù vốn lưu động 130 triệu; lãi ròng lũy kế T5–T12 = 180 triệu → CAPEX 306 triệu thu hồi ~tháng 16, toàn bộ vốn trong 19–20 tháng (thận trọng 55%: 21–23 tháng).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Giả định minh họa tại Hà Nội: 1 cơ sở 5 chỗ trị liệu (3 giường massage + 2 ghế gội đầu, chi tiết slide 11); 4 kỹ thuật viên lương cứng 6 tr. + hoa hồng ca; bác sĩ YHCT cộng tác; giá theo bảng giá đề xuất (slide 6).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188720" y="3246120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73 tr./tháng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164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28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492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656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984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148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312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1476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6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1804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968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2132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2296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24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2624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Graphic spid="9" grpId="0">
        <p:bldAsOne/>
      </p:bldGraphic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AA8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NHU CẦU &amp; SỬ DỤNG VỐN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436 triệu đồng khởi đầu — đầu tư 306 triệu, vốn lưu động 130 triệu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92840" y="384048"/>
            <a:ext cx="310896" cy="310896"/>
          </a:xfrm>
          <a:prstGeom prst="ellipse">
            <a:avLst/>
          </a:prstGeom>
          <a:solidFill>
            <a:srgbClr val="9ED9CC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424971" y="422910"/>
            <a:ext cx="264262" cy="264262"/>
          </a:xfrm>
          <a:prstGeom prst="ellipse">
            <a:avLst/>
          </a:prstGeom>
          <a:solidFill>
            <a:srgbClr val="E8590C">
              <a:alpha val="8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539728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897880" cy="4041648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04088" y="18562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Bóc tách chi phí đầu tư ban đầu (CAPEX) — 306 triệu đồng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113720"/>
              </p:ext>
            </p:extLst>
          </p:nvPr>
        </p:nvGraphicFramePr>
        <p:xfrm>
          <a:off x="667512" y="2157984"/>
          <a:ext cx="5074920" cy="2907792"/>
        </p:xfrm>
        <a:graphic>
          <a:graphicData uri="http://schemas.openxmlformats.org/drawingml/2006/table">
            <a:tbl>
              <a:tblPr/>
              <a:tblGrid>
                <a:gridCol w="3794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Hạng mục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Triệu </a:t>
                      </a:r>
                      <a:r>
                        <a:rPr lang="en-US" sz="1000" b="1" dirty="0" err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vnđ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Thuê &amp; cọc nhà (cọc 1 + trả trước 3 tháng)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140,0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Cải tạo mặt bằng &amp; điện nước chuyên dụng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50,0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Thiết bị trị liệu &amp; nội thất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46,0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Vật tư &amp; kit trị liệu tận nhà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20,0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Đồng phục, ấm phẩm &amp; nhận diện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10,0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Marketing khai trương &amp; pháp lý ban đầu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15,0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Dự phòng phát sinh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25,0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0E7C6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đầu tư ban đầu (CAPEX)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E7C6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306,0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0" y="1737360"/>
            <a:ext cx="5102352" cy="4041648"/>
          </a:xfrm>
          <a:prstGeom prst="roundRect">
            <a:avLst>
              <a:gd name="adj" fmla="val 2036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784848" y="185623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Cơ cấu tổng vốn khởi đầu 436 triệu đồng</a:t>
            </a:r>
            <a:endParaRPr lang="en-US" sz="1250" dirty="0"/>
          </a:p>
        </p:txBody>
      </p:sp>
      <p:pic>
        <p:nvPicPr>
          <p:cNvPr id="16" name="Image 0" descr="C:\Users\Tu_DZ\Downloads\bai tap cua Tram\assets\chart_capi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176272"/>
            <a:ext cx="4462272" cy="327355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0" y="5907024"/>
            <a:ext cx="12188952" cy="530352"/>
          </a:xfrm>
          <a:prstGeom prst="rect">
            <a:avLst/>
          </a:prstGeom>
          <a:solidFill>
            <a:srgbClr val="E8F5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502920" y="5907024"/>
            <a:ext cx="111831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Tổng vốn khởi đầu 436 triệu = </a:t>
            </a:r>
            <a:r>
              <a:rPr lang="en-US" sz="1350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306 triệu đầu tư (cọc 1 + trả trước 3 tháng thuê nhà 140 triệu, cải tạo 50 triệu, thiết bị &amp; nội thất 46 triệu) + 130 triệu vốn lưu động (lỗ 4 tháng 97 triệu + đệm an toàn 33 triệu).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Đơn giá là mức tham khảo thị trường Hà Nội, 2025–2026 (nhóm tổng hợp từ báo giá công khai); chốt theo báo giá nhà cung cấp khi triển khai.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Graphic spid="12" grpId="0">
        <p:bldAsOne/>
      </p:bldGraphic>
      <p:bldP spid="10" grpId="0" animBg="1"/>
      <p:bldP spid="11" grpId="0" animBg="1"/>
      <p:bldP spid="1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AA8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 PHÍ VẬN HÀNH TẠI HÀ NỘI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Cơ cấu chi phí hàng tháng &amp; mặt bằng giá thuê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92840" y="384048"/>
            <a:ext cx="310896" cy="310896"/>
          </a:xfrm>
          <a:prstGeom prst="ellipse">
            <a:avLst/>
          </a:prstGeom>
          <a:solidFill>
            <a:srgbClr val="9ED9CC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424971" y="422910"/>
            <a:ext cx="264262" cy="264262"/>
          </a:xfrm>
          <a:prstGeom prst="ellipse">
            <a:avLst/>
          </a:prstGeom>
          <a:solidFill>
            <a:srgbClr val="E8590C">
              <a:alpha val="8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539728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5760720" cy="4114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192024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 phí cố định hàng tháng — 73 triệu đồng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" y="2249424"/>
          <a:ext cx="5440680" cy="2633472"/>
        </p:xfrm>
        <a:graphic>
          <a:graphicData uri="http://schemas.openxmlformats.org/drawingml/2006/table">
            <a:tbl>
              <a:tblPr/>
              <a:tblGrid>
                <a:gridCol w="3977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Khoản mục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Triệu đ/tháng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Tiền thuê nhà (tầng 1, khu đông dân cư)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35,0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Lương cứng 4 kỹ thuật viên (6 tr./người)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24,0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Điện, nước, internet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5,0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Giặt sấy &amp; vật tư tiêu hao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4,0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Marketing duy trì (Zalo OA, quảng cáo)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630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5,0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0E7C6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chi phí cố định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E7C6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73,0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B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67512" y="4956048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Chưa gồm hoa hồng biến phí theo ca: 20.000 đ/ca tại cơ sở, 60.000 đ/ca tại nhà.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446520" y="1783080"/>
            <a:ext cx="5239512" cy="4114800"/>
          </a:xfrm>
          <a:prstGeom prst="roundRect">
            <a:avLst>
              <a:gd name="adj" fmla="val 2000"/>
            </a:avLst>
          </a:prstGeom>
          <a:solidFill>
            <a:srgbClr val="F4FAF8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629400" y="1920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Mặt bằng giá thuê nhà tại Hà Nội</a:t>
            </a:r>
            <a:endParaRPr lang="en-US" sz="1300" dirty="0"/>
          </a:p>
        </p:txBody>
      </p:sp>
      <p:sp>
        <p:nvSpPr>
          <p:cNvPr id="28" name="Shape 10"/>
          <p:cNvSpPr/>
          <p:nvPr/>
        </p:nvSpPr>
        <p:spPr>
          <a:xfrm>
            <a:off x="6629400" y="2304288"/>
            <a:ext cx="487375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812280" y="23774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Tầng 1 nhà riêng, khu đông dân cư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812280" y="27066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60–75 m²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9921240" y="248716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32–40 tr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6629400" y="3163824"/>
            <a:ext cx="487375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812280" y="3236976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Tầng 1 chung cư hướng ra ngoài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812280" y="3566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65–80 m²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921240" y="334670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30–38 tr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6629400" y="4023360"/>
            <a:ext cx="487375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812280" y="409651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Nhà riêng trong ngõ, xa trung tâm hơn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12280" y="44256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65–75 m²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921240" y="420624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50" b="1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20–28 tr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6629400" y="4901184"/>
            <a:ext cx="4873752" cy="841248"/>
          </a:xfrm>
          <a:prstGeom prst="roundRect">
            <a:avLst>
              <a:gd name="adj" fmla="val 8696"/>
            </a:avLst>
          </a:prstGeom>
          <a:solidFill>
            <a:srgbClr val="FDEBDD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812280" y="4992624"/>
            <a:ext cx="45262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E859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Vị trí chọn: </a:t>
            </a:r>
            <a:r>
              <a:rPr lang="en-US" sz="1000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tầng 1 nhà riêng hoặc chung cư hướng ra ngoài tại khu đông dân cư; chỉ thuê một tầng, không thuê nguyên căn. Ngân sách 30–40 triệu/tháng, lấy mức 35 triệu để dự phóng.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Mặt bằng giá thuê do nhóm khảo sát tại Hà Nội, 2025–2026; chi phí vận hành là giả định minh họa phục vụ mục đích học tập.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26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Graphic spid="13" grpId="0">
        <p:bldAsOne/>
      </p:bldGraphic>
      <p:bldP spid="10" grpId="0" animBg="1"/>
      <p:bldP spid="11" grpId="0" animBg="1"/>
      <p:bldP spid="12" grpId="0" animBg="1"/>
      <p:bldP spid="28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AA8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LỘ TRÌNH TRIỂN KHAI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Từ một cơ sở kiểm chứng đến chuỗi CareTouch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92840" y="384048"/>
            <a:ext cx="310896" cy="310896"/>
          </a:xfrm>
          <a:prstGeom prst="ellipse">
            <a:avLst/>
          </a:prstGeom>
          <a:solidFill>
            <a:srgbClr val="9ED9CC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424971" y="422910"/>
            <a:ext cx="264262" cy="264262"/>
          </a:xfrm>
          <a:prstGeom prst="ellipse">
            <a:avLst/>
          </a:prstGeom>
          <a:solidFill>
            <a:srgbClr val="E8590C">
              <a:alpha val="8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539728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" y="2395728"/>
            <a:ext cx="10241280" cy="0"/>
          </a:xfrm>
          <a:prstGeom prst="line">
            <a:avLst/>
          </a:prstGeom>
          <a:noFill/>
          <a:ln w="25400">
            <a:solidFill>
              <a:srgbClr val="DCEB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68680" y="2139696"/>
            <a:ext cx="512064" cy="512064"/>
          </a:xfrm>
          <a:prstGeom prst="ellipse">
            <a:avLst/>
          </a:prstGeom>
          <a:solidFill>
            <a:srgbClr val="0E7C6B"/>
          </a:solidFill>
          <a:ln w="317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B3B34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8346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A8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GĐ 1 · Tháng 1–6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310896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Kiểm chứng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02920" y="356616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Vận hành cơ sở đầu tiên; chuẩn hóa quy trình khảo sát thể trạng &amp; đào tạo; đo tỷ lệ khách quay lại từ tháng đầu.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85032" y="2139696"/>
            <a:ext cx="512064" cy="512064"/>
          </a:xfrm>
          <a:prstGeom prst="ellipse">
            <a:avLst/>
          </a:prstGeom>
          <a:solidFill>
            <a:srgbClr val="0E7C6B"/>
          </a:solidFill>
          <a:ln w="317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B3B34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685032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19272" y="28346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A8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GĐ 2 · Tháng 7–12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19272" y="310896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Tăng trưởng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319272" y="356616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Đạt 107 tr./th. doanh thu; ≥55% khách quay lại; hoàn tất hồ sơ pháp lý &amp; chứng chỉ nghề.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501384" y="2139696"/>
            <a:ext cx="512064" cy="512064"/>
          </a:xfrm>
          <a:prstGeom prst="ellipse">
            <a:avLst/>
          </a:prstGeom>
          <a:solidFill>
            <a:srgbClr val="0E7C6B"/>
          </a:solidFill>
          <a:ln w="317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B3B34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01384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135624" y="28346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A8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GĐ 3 · Năm 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135624" y="310896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Mở rộng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135624" y="356616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Cơ sở thứ 2; nền tảng đặt lịch đa kênh &amp; CRM (kênh đầu tiên: Zalo Mini App); huy động vốn mở rộng.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317736" y="2139696"/>
            <a:ext cx="512064" cy="512064"/>
          </a:xfrm>
          <a:prstGeom prst="ellipse">
            <a:avLst/>
          </a:prstGeom>
          <a:solidFill>
            <a:srgbClr val="E8590C"/>
          </a:solidFill>
          <a:ln w="31750">
            <a:solidFill>
              <a:srgbClr val="FFFFFF"/>
            </a:solidFill>
            <a:prstDash val="solid"/>
          </a:ln>
          <a:effectLst>
            <a:outerShdw blurRad="63500" dist="12700" dir="5400000" algn="bl" rotWithShape="0">
              <a:srgbClr val="0B3B34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317736" y="2139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951976" y="28346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AA8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GĐ 4 · Năm 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951976" y="310896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Chuỗi hóa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951976" y="3566160"/>
            <a:ext cx="2560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Nhượng quyền 3–5 cơ sở vệ tinh; chuẩn CareTouch Academy đào tạo kỹ thuật viên.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0" y="5577840"/>
            <a:ext cx="12188952" cy="658368"/>
          </a:xfrm>
          <a:prstGeom prst="rect">
            <a:avLst/>
          </a:prstGeom>
          <a:solidFill>
            <a:srgbClr val="E8F5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02920" y="5577840"/>
            <a:ext cx="11183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Nguyên tắc mở rộng:  </a:t>
            </a:r>
            <a:r>
              <a:rPr lang="en-US" sz="1350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mở cơ sở mới khi cơ sở hiện tại đạt ≥55% khách quay lại và quy trình an toàn đã được kiểm chứng — tăng trưởng đi theo chất lượng, không đi trước.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121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242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363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484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605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726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847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968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1089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21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1331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452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573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1694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81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936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2057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2178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2299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24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2541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2662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AA8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QUẢN TRỊ RỦI 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Rủi ro trọng yếu và giải pháp ứng phó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92840" y="384048"/>
            <a:ext cx="310896" cy="310896"/>
          </a:xfrm>
          <a:prstGeom prst="ellipse">
            <a:avLst/>
          </a:prstGeom>
          <a:solidFill>
            <a:srgbClr val="9ED9CC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424971" y="422910"/>
            <a:ext cx="264262" cy="264262"/>
          </a:xfrm>
          <a:prstGeom prst="ellipse">
            <a:avLst/>
          </a:prstGeom>
          <a:solidFill>
            <a:srgbClr val="E8590C">
              <a:alpha val="8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539728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8311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04088" y="2130552"/>
            <a:ext cx="777240" cy="36576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04088" y="2130552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CAO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331720" y="193852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Ranh giới pháp lý với “khám chữa bệnh”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852160" y="1901952"/>
            <a:ext cx="56235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Giải pháp:  </a:t>
            </a:r>
            <a:r>
              <a:rPr lang="en-US" sz="108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Định vị chăm sóc – thư giãn – hỗ trợ vận động; không khám bệnh, không kê thuốc, không thực hiện kỹ thuật thuộc phạm vi khám chữa bệnh (Luật Khám bệnh, chữa bệnh 2023; Nghị định 96/2023/NĐ-CP); bác sĩ y học cổ truyền cộng tác đảm nhận chuyên môn; kỹ thuật viên thi chứng chỉ nghề.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502920" y="2907792"/>
            <a:ext cx="11183112" cy="969264"/>
          </a:xfrm>
          <a:prstGeom prst="roundRect">
            <a:avLst>
              <a:gd name="adj" fmla="val 6604"/>
            </a:avLst>
          </a:prstGeom>
          <a:solidFill>
            <a:srgbClr val="F4FAF8"/>
          </a:solidFill>
          <a:ln w="9525">
            <a:solidFill>
              <a:srgbClr val="DCEB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04088" y="3209544"/>
            <a:ext cx="777240" cy="36576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04088" y="3209544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31720" y="30175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Sự cố với khách có bệnh nền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852160" y="2980944"/>
            <a:ext cx="56235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Giải pháp:  </a:t>
            </a:r>
            <a:r>
              <a:rPr lang="en-US" sz="108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Khảo sát bắt buộc buổi đầu (hỏi bệnh nền, đo huyết áp); từ chối hoặc khuyên đi khám khi có chống chỉ định; mua bảo hiểm trách nhiệm dịch vụ.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02920" y="3986784"/>
            <a:ext cx="11183112" cy="969264"/>
          </a:xfrm>
          <a:prstGeom prst="roundRect">
            <a:avLst>
              <a:gd name="adj" fmla="val 6604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04088" y="4288536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2AA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04088" y="428853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TRUNG BÌNH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331720" y="4096512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Nhân lực và tay nghề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852160" y="4059936"/>
            <a:ext cx="56235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Giải pháp:  </a:t>
            </a:r>
            <a:r>
              <a:rPr lang="en-US" sz="108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Đào tạo nội bộ theo giáo trình chuẩn, kèm cặp thực tế; chất lượng đo bằng đánh giá sau mỗi buổi; người dạy nghề giữ cổ phần nhỏ.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502920" y="5065776"/>
            <a:ext cx="11183112" cy="969264"/>
          </a:xfrm>
          <a:prstGeom prst="roundRect">
            <a:avLst>
              <a:gd name="adj" fmla="val 6604"/>
            </a:avLst>
          </a:prstGeom>
          <a:solidFill>
            <a:srgbClr val="F4FAF8"/>
          </a:solidFill>
          <a:ln w="9525">
            <a:solidFill>
              <a:srgbClr val="DCEB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04088" y="5367528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2AA88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04088" y="536752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TRUNG BÌNH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331720" y="5175504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Cạnh tranh về giá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852160" y="5138928"/>
            <a:ext cx="56235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80" b="1" dirty="0">
                <a:solidFill>
                  <a:srgbClr val="0E7C6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Giải pháp:  </a:t>
            </a:r>
            <a:r>
              <a:rPr lang="en-US" sz="108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đua giá rẻ nhất; cạnh tranh bằng quy trình an toàn và niềm tin; gói combo &amp; CarePlus giữ khách dài hạn.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502920" y="647395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Đánh giá rủi ro của nhóm dựa trên quy định hiện hành về massage – xoa bóp (Luật Khám bệnh, chữa bệnh 2023; Nghị định 96/2023/NĐ-CP) và khảo sát thực địa.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8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22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23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26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AA8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NHÓM SÁNG LẬP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76656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70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Nhóm 3 — Tổ 14 — Lớp A1K79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292840" y="384048"/>
            <a:ext cx="310896" cy="310896"/>
          </a:xfrm>
          <a:prstGeom prst="ellipse">
            <a:avLst/>
          </a:prstGeom>
          <a:solidFill>
            <a:srgbClr val="9ED9CC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424971" y="422910"/>
            <a:ext cx="264262" cy="264262"/>
          </a:xfrm>
          <a:prstGeom prst="ellipse">
            <a:avLst/>
          </a:prstGeom>
          <a:solidFill>
            <a:srgbClr val="E8590C">
              <a:alpha val="8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539728" y="645566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2286000"/>
            <a:ext cx="2084832" cy="2514600"/>
          </a:xfrm>
          <a:prstGeom prst="roundRect">
            <a:avLst>
              <a:gd name="adj" fmla="val 4386"/>
            </a:avLst>
          </a:prstGeom>
          <a:solidFill>
            <a:srgbClr val="E8F5F1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179576" y="2560320"/>
            <a:ext cx="731520" cy="7315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79576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12648" y="3456432"/>
            <a:ext cx="1865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Trịnh Hương Thảo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12648" y="4096512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2401634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79776" y="2286000"/>
            <a:ext cx="2084832" cy="251460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456432" y="2560320"/>
            <a:ext cx="731520" cy="731520"/>
          </a:xfrm>
          <a:prstGeom prst="ellipse">
            <a:avLst/>
          </a:prstGeom>
          <a:solidFill>
            <a:srgbClr val="E859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456432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889504" y="3456432"/>
            <a:ext cx="1865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Bạch Thùy Trâm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889504" y="4096512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2401679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56632" y="2286000"/>
            <a:ext cx="2084832" cy="251460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733288" y="2560320"/>
            <a:ext cx="731520" cy="7315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733288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166360" y="3456432"/>
            <a:ext cx="1865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Bùi Thị Anh Trâm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166360" y="4096512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2401681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33488" y="2286000"/>
            <a:ext cx="2084832" cy="251460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010144" y="2560320"/>
            <a:ext cx="731520" cy="731520"/>
          </a:xfrm>
          <a:prstGeom prst="ellipse">
            <a:avLst/>
          </a:prstGeom>
          <a:solidFill>
            <a:srgbClr val="E8590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010144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QV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443216" y="3456432"/>
            <a:ext cx="1865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Quốc Việt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443216" y="4096512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2401742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610344" y="2286000"/>
            <a:ext cx="2084832" cy="251460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 w="9525">
            <a:solidFill>
              <a:srgbClr val="DCEBE6"/>
            </a:solidFill>
            <a:prstDash val="solid"/>
          </a:ln>
          <a:effectLst>
            <a:outerShdw blurRad="101600" dist="25400" dir="5400000" algn="bl" rotWithShape="0">
              <a:srgbClr val="0B3B34">
                <a:alpha val="13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0287000" y="2560320"/>
            <a:ext cx="731520" cy="731520"/>
          </a:xfrm>
          <a:prstGeom prst="ellipse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028700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VS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9720072" y="3456432"/>
            <a:ext cx="18653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Viengkeo Shengchan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720072" y="4096512"/>
            <a:ext cx="1865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2401761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0" y="5440680"/>
            <a:ext cx="12188952" cy="685800"/>
          </a:xfrm>
          <a:prstGeom prst="rect">
            <a:avLst/>
          </a:prstGeom>
          <a:solidFill>
            <a:srgbClr val="E8F5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02920" y="5440680"/>
            <a:ext cx="11183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 kết vận hành:  </a:t>
            </a:r>
            <a:r>
              <a:rPr lang="en-US" sz="1350" dirty="0">
                <a:solidFill>
                  <a:srgbClr val="163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kỹ thuật viên thi chứng chỉ nghề · bác sĩ y học cổ truyền cộng tác · bảo hiểm trách nhiệm dịch vụ · quy trình khảo sát thể trạng an toàn cho mọi buổi trị liệu.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02920" y="6272784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C73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Giai đoạn đầu, 5 thành viên sáng lập trực tiếp điều phối lịch, marketing và chăm sóc khách; năm 2 tuyển thêm điều phối viên toàn thời gian.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103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206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309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412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15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618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721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824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927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1133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236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339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1442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54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1648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751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42" presetClass="entr" presetSubtype="0" fill="hold" grpId="0" nodeType="withEffect">
                                  <p:stCondLst>
                                    <p:cond delay="1854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grpId="0" nodeType="withEffect">
                                  <p:stCondLst>
                                    <p:cond delay="1957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20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2163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2266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2369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grpId="0" nodeType="withEffect">
                                  <p:stCondLst>
                                    <p:cond delay="2472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2575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2678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Cùng CareTouch chạm đến</a:t>
            </a:r>
            <a:endParaRPr lang="en-US" sz="44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sức khỏe Việt Nam.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3832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F796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Healing Touch, Healthy Life.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22960" y="4041648"/>
            <a:ext cx="7455626" cy="1901952"/>
          </a:xfrm>
          <a:prstGeom prst="roundRect">
            <a:avLst>
              <a:gd name="adj" fmla="val 5769"/>
            </a:avLst>
          </a:prstGeom>
          <a:solidFill>
            <a:srgbClr val="0E4A41">
              <a:alpha val="82000"/>
            </a:srgbClr>
          </a:solidFill>
          <a:ln w="12700">
            <a:solidFill>
              <a:srgbClr val="2AA8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97280" y="4187952"/>
            <a:ext cx="6400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Vốn gọi đề xuất (minh họa): 636 triệu đồng</a:t>
            </a:r>
            <a:endParaRPr lang="en-US" sz="17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250" dirty="0">
                <a:solidFill>
                  <a:srgbClr val="CFE6D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436 triệu khởi động cơ sở đầu tiên tại Hà Nội, phần còn lại mở cơ sở thứ 2 và xây nền tảng đặt lịch đa kênh &amp; CRM — mục tiêu doanh thu năm 2 gấp đôi năm 1.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97280" y="4974336"/>
            <a:ext cx="4360538" cy="146304"/>
          </a:xfrm>
          <a:prstGeom prst="rect">
            <a:avLst/>
          </a:prstGeom>
          <a:solidFill>
            <a:srgbClr val="F796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85250" y="4974336"/>
            <a:ext cx="777700" cy="146304"/>
          </a:xfrm>
          <a:prstGeom prst="rect">
            <a:avLst/>
          </a:prstGeom>
          <a:solidFill>
            <a:srgbClr val="0E7C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290382" y="4974336"/>
            <a:ext cx="1180266" cy="146304"/>
          </a:xfrm>
          <a:prstGeom prst="rect">
            <a:avLst/>
          </a:prstGeom>
          <a:solidFill>
            <a:srgbClr val="9ED9C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97280" y="517550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436 tr.</a:t>
            </a:r>
            <a:r>
              <a:rPr lang="en-US" sz="1000" dirty="0">
                <a:solidFill>
                  <a:srgbClr val="CFE6D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cơ sở 1 tại Hà Nội (CAPEX + vốn lưu động)      </a:t>
            </a: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 tr.</a:t>
            </a:r>
            <a:r>
              <a:rPr lang="en-US" sz="1000" dirty="0">
                <a:solidFill>
                  <a:srgbClr val="CFE6D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nền tảng đặt lịch &amp; CRM      </a:t>
            </a: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 tr.</a:t>
            </a:r>
            <a:r>
              <a:rPr lang="en-US" sz="1000" dirty="0">
                <a:solidFill>
                  <a:srgbClr val="CFE6D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cơ sở 2, marketing &amp; dự phòng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97280" y="5468112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EC9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thức huy động: góp vốn đổi cổ phần — 636 triệu ≈ 15–18% (tỷ lệ minh họa, định giá xác lập khi đàm phán).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6089904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Nhóm 3 · Tổ 14 · Lớp A1K79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9EC9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Trịnh Hương Thảo · Bạch Thùy Trâm · Bùi Thị Anh Trâm · Phạm Quốc Việt · Viengkeo Shengchan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6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1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3750</Words>
  <Application>Microsoft Office PowerPoint</Application>
  <PresentationFormat>Widescreen</PresentationFormat>
  <Paragraphs>365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Georgia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CareTouch — Healing Touch, Healthy Life</dc:title>
  <dc:subject>PptxGenJS Presentation</dc:subject>
  <dc:creator>Nhóm 3 - Tổ 14 - Lớp A1K79</dc:creator>
  <cp:lastModifiedBy>Tạ Tuấn Tú</cp:lastModifiedBy>
  <cp:revision>2</cp:revision>
  <dcterms:created xsi:type="dcterms:W3CDTF">2026-09-29T16:05:08Z</dcterms:created>
  <dcterms:modified xsi:type="dcterms:W3CDTF">2026-09-29T16:33:50Z</dcterms:modified>
</cp:coreProperties>
</file>