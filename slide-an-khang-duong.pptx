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Lượt khám BHYT</c:v>
                </c:pt>
              </c:strCache>
            </c:strRef>
          </c:tx>
          <c:spPr>
            <a:solidFill>
              <a:srgbClr val="9DB4A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C2A26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4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A57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 tháng 2025</c:v>
                  </c:pt>
                  <c:pt idx="1">
                    <c:v>6 tháng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93.7</c:v>
                </c:pt>
                <c:pt idx="1">
                  <c:v>94.4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C2A26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90"/>
        </c:scaling>
        <c:delete val="0"/>
        <c:axPos val="l"/>
        <c:majorGridlines>
          <c:spPr>
            <a:ln w="6350" cap="flat">
              <a:solidFill>
                <a:srgbClr val="D5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6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Giá/phiên</c:v>
                </c:pt>
              </c:strCache>
            </c:strRef>
          </c:tx>
          <c:spPr>
            <a:solidFill>
              <a:srgbClr val="35A5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C2A26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5A5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4A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4A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Định giá đề xuất</c:v>
                  </c:pt>
                  <c:pt idx="1">
                    <c:v>Massage 60’ tận nhà</c:v>
                  </c:pt>
                  <c:pt idx="2">
                    <c:v>Liệu trình 120’ tận nhà</c:v>
                  </c:pt>
                  <c:pt idx="3">
                    <c:v>Spa cao cấp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235</c:v>
                </c:pt>
                <c:pt idx="1">
                  <c:v>350</c:v>
                </c:pt>
                <c:pt idx="2">
                  <c:v>620</c:v>
                </c:pt>
                <c:pt idx="3">
                  <c:v>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50" u="none">
                  <a:solidFill>
                    <a:srgbClr val="1C2A26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A26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6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(triệu đ)</c:v>
                </c:pt>
              </c:strCache>
            </c:strRef>
          </c:tx>
          <c:spPr>
            <a:solidFill>
              <a:srgbClr val="35A57F"/>
            </a:solidFill>
            <a:ln w="31750" cap="flat">
              <a:solidFill>
                <a:srgbClr val="35A5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5A57F"/>
              </a:solidFill>
              <a:ln w="9525" cap="flat">
                <a:solidFill>
                  <a:srgbClr val="35A5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30</c:v>
                </c:pt>
                <c:pt idx="2">
                  <c:v>38</c:v>
                </c:pt>
                <c:pt idx="3">
                  <c:v>45</c:v>
                </c:pt>
                <c:pt idx="4">
                  <c:v>52</c:v>
                </c:pt>
                <c:pt idx="5">
                  <c:v>58</c:v>
                </c:pt>
                <c:pt idx="6">
                  <c:v>63</c:v>
                </c:pt>
                <c:pt idx="7">
                  <c:v>70</c:v>
                </c:pt>
                <c:pt idx="8">
                  <c:v>74</c:v>
                </c:pt>
                <c:pt idx="9">
                  <c:v>78</c:v>
                </c:pt>
                <c:pt idx="10">
                  <c:v>82</c:v>
                </c:pt>
                <c:pt idx="11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 cố định 48 triệu/tháng</c:v>
                </c:pt>
              </c:strCache>
            </c:strRef>
          </c:tx>
          <c:spPr>
            <a:solidFill>
              <a:srgbClr val="9DB4AB"/>
            </a:solidFill>
            <a:ln w="31750" cap="flat">
              <a:solidFill>
                <a:srgbClr val="9DB4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DB4AB"/>
              </a:solidFill>
              <a:ln w="9525" cap="flat">
                <a:solidFill>
                  <a:srgbClr val="9DB4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48</c:v>
                </c:pt>
                <c:pt idx="2">
                  <c:v>48</c:v>
                </c:pt>
                <c:pt idx="3">
                  <c:v>48</c:v>
                </c:pt>
                <c:pt idx="4">
                  <c:v>48</c:v>
                </c:pt>
                <c:pt idx="5">
                  <c:v>48</c:v>
                </c:pt>
                <c:pt idx="6">
                  <c:v>48</c:v>
                </c:pt>
                <c:pt idx="7">
                  <c:v>48</c:v>
                </c:pt>
                <c:pt idx="8">
                  <c:v>48</c:v>
                </c:pt>
                <c:pt idx="9">
                  <c:v>48</c:v>
                </c:pt>
                <c:pt idx="10">
                  <c:v>48</c:v>
                </c:pt>
                <c:pt idx="11">
                  <c:v>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E6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E69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F7F9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tuoitre.vn/nam-2025-viet-nam-co-16-dan-so-la-nguoi-cao-tuoi-1-nguoi-ganh-3-4-benh-man-tinh-20250531122410678.htm" TargetMode="External"/><Relationship Id="rId2" Type="http://schemas.openxmlformats.org/officeDocument/2006/relationships/hyperlink" Target="https://tuoitre.vn/nld/viet-nam-dang-co-toc-do-gia-hoa-nhanh-nhat-chau-a-196250531143638561.htm" TargetMode="External"/><Relationship Id="rId3" Type="http://schemas.openxmlformats.org/officeDocument/2006/relationships/hyperlink" Target="https://vnexpress.net/chi-phi-cho-y-te-cua-nguoi-viet-nam-tang-thang-dung-4997605.html" TargetMode="External"/><Relationship Id="rId4" Type="http://schemas.openxmlformats.org/officeDocument/2006/relationships/hyperlink" Target="https://www.trade.gov/country-commercial-guides/vietnam-healthcare" TargetMode="External"/><Relationship Id="rId5" Type="http://schemas.openxmlformats.org/officeDocument/2006/relationships/hyperlink" Target="https://massagenha.com/dich-vu/massage-nguoi-lon-tuoi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PHÂN TÍCH Ý TƯỞNG KINH DOANH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4023360" cy="0"/>
          </a:xfrm>
          <a:prstGeom prst="line">
            <a:avLst/>
          </a:prstGeom>
          <a:noFill/>
          <a:ln w="12700">
            <a:solidFill>
              <a:srgbClr val="2E55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Khang Đường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Matxa · trị liệu phục hồi chức năng · đả thông kinh lạc theo phương pháp cổ truyền — phục vụ tại cơ sở và tận nhà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thực hiện: 【điền tên nhóm】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/ GVHD: 【điền】      ·      Tháng 9 năm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14173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B3A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16%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822960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F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dân số Việt Nam trên 60 tuổi (2025)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VÀ NHU CẦU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nhóm người, một nỗi đau âm 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16%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594360" y="4206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dân số Việt Nam trên 60 tuổi năm 2025 — khoảng 16,1 triệu người; tốc độ già hóa nhanh nhất châu 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5257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người cao tuổi thường mang 3–4 bệnh mạn tính khi vào viện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600200"/>
            <a:ext cx="587959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7282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lao động nặng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0" y="21671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Đau lưng, thoái hóa khớp sau nhiều năm — tự xử bằng dầu nóng vì đi viện tốn cả buổi.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3017520"/>
            <a:ext cx="587959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1455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Dân văn phòng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358444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Đau cổ vai gáy, ngủ không sâu do ngồi 8–10 tiếng — có tiền nhưng bận, cần sự tiện lợi.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4434840"/>
            <a:ext cx="587959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45628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cao tuổi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50017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Nhiều bệnh cùng lúc, khó đi lại — tin y học cổ truyền nhưng chưa ai phục vụ tận nhà tử tế.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5852160"/>
            <a:ext cx="587959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3825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Nguồn: Tuổi Trẻ, 31/5/2025; khảo sát của nhóm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HÀNG MỤC TIÊU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khách chính, hai khách phụ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480560" cy="4206240"/>
          </a:xfrm>
          <a:prstGeom prst="rect">
            <a:avLst/>
          </a:prstGeom>
          <a:solidFill>
            <a:srgbClr val="EDF5F2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HÀNG CHÍNH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niên 40–60 tuổi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 nhập ổn định nhất, gánh việc nặng nhất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Chuộng gói định kỳ — doanh thu lặp lại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Sẵn sàng đặt lịch luôn cho cha mẹ già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800" y="1600200"/>
            <a:ext cx="3108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PHỤ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viên văn phòng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577840" y="32004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Đau cổ vai gáy vì nghề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buổi gọn 45–60 phút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Cửa ngõ dẫn về gói combo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49640" y="1600200"/>
            <a:ext cx="3063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968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PHỤ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0" y="2240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cao tuổi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869680" y="320040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Phù hợp nhất với y học cổ truyền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cháu đặt và thanh toán hộ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thành cao nếu an toàn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 nhập bình quân đầu người 2025: 5,9 triệu đ/tháng, tăng 9,3% — giá 120–290 nghìn ₫/phiên nằm trong khả năng chi trả định kỳ.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ĐỀ XUẤT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Năm dịch vụ cơ bản — giá niêm yết rõ ràng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920240"/>
                <a:gridCol w="2286000"/>
                <a:gridCol w="23134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Dịch vụ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Thời lượng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Tại cơ sở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Tại nhà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Gội đầu dưỡng sinh thảo dược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Matxa cổ – vai – gáy trị liệu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Matxa toàn thân thư giãn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Bấm huyệt – đả thông kinh lạc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Chườm thảo dược – xông hơi đông 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180.000₫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Phục vụ tại nhà miễn phí trong bán kính 5 km; xa hơn phụ thu 20.000₫/5 km. Giá đề xuất, căn theo mặt bằng thị trường đã khảo sát.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3825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Tham chiếu: Massagenha.com, 7/2025 — massage người lớn tuổi tận nhà TP.HCM 350.000₫/60’, liệu trình 620.000₫/120’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ĐỀ XUẤT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buổi trị liệu chuẩn — bốn bước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Hỏi kỹ sức khỏe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phút đầu: bệnh nền, huyết áp, chống chỉ định. Không an toàn thì không làm.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8152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CD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3474720" y="2880360"/>
            <a:ext cx="2606040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Tìm đúng chỗ đau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định vùng đau, tư thế sai lệch — trị liệu nhắm đúng chỗ, không matxa “mù”.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0760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CD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2606040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 liệu 45–70 phút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Matxa – bấm huyệt – chườm thảo dược theo bài chuẩn; khách tại nhà có sẵn đệm, dầu, khăn.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3368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CD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9326880" y="2880360"/>
            <a:ext cx="2606040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Dặn dò &amp; ghi sổ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26880" y="35204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tập nhẹ tại nhà; ghi phản ứng vào sổ sức khỏe riêng — buổi sau tốt hơn buổi trước.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 là tính năng của dịch vụ, không phải khẩu hiệu.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ĐỀ XUẤT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 nhiều, trả ít hơn — ba cấp độ gói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 lẻ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120–290 nghìn₫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/phiên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ràng buộc, thử trước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điểm từ phiên đầu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383280" cy="4297680"/>
          </a:xfrm>
          <a:prstGeom prst="rect">
            <a:avLst/>
          </a:prstGeom>
          <a:solidFill>
            <a:srgbClr val="1F4D3F"/>
          </a:solidFill>
          <a:ln w="12700">
            <a:solidFill>
              <a:srgbClr val="1F4D3F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 5 buổi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331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890 nghìn₫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3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/5 phiên tự chọn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F0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Rẻ hơn ~15%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F0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 3 dịch vụ bất kỳ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F0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Đặt lịch linh hoạt 3 tháng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  <a:effectLst>
            <a:outerShdw sx="100000" sy="100000" kx="0" ky="0" algn="bl" rotWithShape="0" blurRad="88900" dist="25400" dir="5400000">
              <a:srgbClr val="1C2A2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khang 10 buổi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1,59 triệu₫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12480" y="3172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/10 phiên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Rẻ hơn ~20%, giá cố định 12 tháng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điểm 5%, ưu đãi sinh nhật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thân dùng chung được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Cùng một bài trị liệu — giá khác nhau theo cam kết. Gói combo là cấp độ đề xuất.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NHU CẦU &amp; TIỀM NĂNG THỊ TRƯỜNG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chăm sóc sức khỏe chạy hết công suất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961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triệu lượt — trục neo tại 90 để thấy rõ chênh lệch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49440" y="1783080"/>
            <a:ext cx="46908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892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16,1 triệu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949440" y="24048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trên 60 tuổi (2025), chiếm trên 16% dân số — già hóa nhanh nhất châu 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46908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264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3–4 bệnh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49440" y="3776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mạn tính trung bình mỗi người cao tuổi khi vào viện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4526280"/>
            <a:ext cx="46908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46360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6–7 tỷ USD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49440" y="51480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mô nền kinh tế wellness Việt Nam (Global Wellness Institute)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49440" y="5897880"/>
            <a:ext cx="46908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3825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Nguồn: Tuổi Trẻ 31/5/2025; số liệu BHYT 6T/2026 do nhóm thu thập; Global Wellness Institute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NHU CẦU &amp; TIỀM NĂNG THỊ TRƯỜNG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dịch vụ: chúng tôi đứng ngay dưới phân khúc spa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nghìn đồng / phiên (trung bình dải giá)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38160" y="17830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1892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 USD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138160" y="24048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y tế bình quân đầu người/năm (~7,3 triệu đ), tăng đều mỗi năm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38160" y="31546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32644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27,5 tỷ USD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38160" y="37764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chi tiêu y tế cả nước 2025, tăng 7–8%/năm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45262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4636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+9,3%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138160" y="51480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tăng thu nhập bình quân 2025 — túi tiền cho “sống khỏe” rộng hơn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58978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3825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Nguồn: Massagenha 7/2025; VnExpress 24/12/2025; Tổng cục Thống kê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TRỊ KHÁC BIỆT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Đứng vào khoảng trống chưa ai phục vụ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771900"/>
            <a:ext cx="6675120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1691640"/>
            <a:ext cx="0" cy="416052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46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TẬN NHÀ 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TẠI CƠ SỞ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CAO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4937760"/>
            <a:ext cx="164592" cy="164592"/>
          </a:xfrm>
          <a:prstGeom prst="ellipse">
            <a:avLst/>
          </a:prstGeom>
          <a:solidFill>
            <a:srgbClr val="9DB4AB"/>
          </a:solidFill>
          <a:ln/>
        </p:spPr>
      </p:sp>
      <p:sp>
        <p:nvSpPr>
          <p:cNvPr id="11" name="Text 9"/>
          <p:cNvSpPr/>
          <p:nvPr/>
        </p:nvSpPr>
        <p:spPr>
          <a:xfrm>
            <a:off x="1499616" y="51297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Quán massage,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gội đầu bình dân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72938" y="4604918"/>
            <a:ext cx="164592" cy="164592"/>
          </a:xfrm>
          <a:prstGeom prst="ellipse">
            <a:avLst/>
          </a:prstGeom>
          <a:solidFill>
            <a:srgbClr val="9DB4A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3674" y="479694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cao cấp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resort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38928" y="2607869"/>
            <a:ext cx="164592" cy="164592"/>
          </a:xfrm>
          <a:prstGeom prst="ellipse">
            <a:avLst/>
          </a:prstGeom>
          <a:solidFill>
            <a:srgbClr val="9DB4AB"/>
          </a:solidFill>
          <a:ln/>
        </p:spPr>
      </p:sp>
      <p:sp>
        <p:nvSpPr>
          <p:cNvPr id="15" name="Text 13"/>
          <p:cNvSpPr/>
          <p:nvPr/>
        </p:nvSpPr>
        <p:spPr>
          <a:xfrm>
            <a:off x="4169664" y="2799893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care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chuyên nghiệp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36392" y="2774290"/>
            <a:ext cx="164592" cy="164592"/>
          </a:xfrm>
          <a:prstGeom prst="ellipse">
            <a:avLst/>
          </a:prstGeom>
          <a:solidFill>
            <a:srgbClr val="35A57F"/>
          </a:solidFill>
          <a:ln/>
        </p:spPr>
      </p:sp>
      <p:sp>
        <p:nvSpPr>
          <p:cNvPr id="17" name="Text 15"/>
          <p:cNvSpPr/>
          <p:nvPr/>
        </p:nvSpPr>
        <p:spPr>
          <a:xfrm>
            <a:off x="2167128" y="296631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Khang Đường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trị liệu tận nhà, giá vừa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352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Đến tận giường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35240" y="2103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cần ai đưa đón — chúng tôi mang đệm, dầu, khăn sạch đến nhà.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3524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 có kiểm chứng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3524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Sàng lọc bệnh nền, chống chỉ định trước mỗi buổi đầu.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3524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 niêm yết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35240" y="4206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Gói combo rẻ hơn 15–20%; không phát sinh ngoài niêm yết.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sức khỏe riêng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35240" y="5257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tiến triển sau mỗi buổi — theo dõi như một liệu trình.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Vị trí đối thủ là ước lượng định tính từ khảo sát giá công khai.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KHẢ THI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1965960"/>
          </a:xfrm>
          <a:prstGeom prst="rect">
            <a:avLst/>
          </a:prstGeom>
          <a:solidFill>
            <a:srgbClr val="EDF5F2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20240"/>
            <a:ext cx="4777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— Điểm mạnh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404872"/>
            <a:ext cx="4777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Vốn nhỏ · mô hình kép cơ sở + tận nhà · nhu cầu có sẵn trong văn hóa · doanh thu lặp lại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69164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9964" y="1920240"/>
            <a:ext cx="4777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— Điểm yếu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9964" y="2404872"/>
            <a:ext cx="4777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Thương hiệu mới · phụ thuộc tay nghề · 5–6 khách/ngày/kỹ thuật viên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62956" cy="1965960"/>
          </a:xfrm>
          <a:prstGeom prst="rect">
            <a:avLst/>
          </a:prstGeom>
          <a:solidFill>
            <a:srgbClr val="EDF5F2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251960"/>
            <a:ext cx="4777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— Cơ hội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736592"/>
            <a:ext cx="4777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Già hóa nhanh nhất châu Á · chi tiêu sức khỏe tăng · chưa có thương hiệu chuyên sâu · chính sách wellness 2030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7356" y="4023360"/>
            <a:ext cx="53629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9964" y="4251960"/>
            <a:ext cx="4777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— Thách thức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69964" y="4736592"/>
            <a:ext cx="47777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Cạnh tranh giá với dịch vụ không giấy phép · quy định chặt hơn · khách bệnh nền không khai báo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RỦI RO CHÍNH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Bốn rủi ro — và cách hóa giải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7159752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Rủi ro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Mức độ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Cách hóa giải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Pháp lý &amp; ranh giới “khám chữa bệnh”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54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Định vị là chăm sóc – thư giãn – phục hồi vận động; không khám, không kê thuốc; bác sĩ YHCT cộng tác tư vấn; kỹ thuật viên có chứng chỉ nghề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Khách có bệnh nền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54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Sàng lọc bắt buộc buổi đầu, đo huyết áp; từ chối khi có chống chỉ định; bảo hiểm trách nhiệm dịch vụ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lực &amp; tay nghề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6E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Đào tạo nội bộ theo giáo trình chuẩn, kèm cặp thực tế; đánh giá sau mỗi buổi; người dạy nghề giữ cổ phần nhỏ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Cạnh tranh về giá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F6E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đua giá đáy; cạnh tranh bằng quy trình an toàn và niềm tin; gói combo giữ khách dài hạn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CHÍNH (GIẢ ĐỊNH MINH HỌA)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Hòa vốn dự kiến vào khoảng tháng thứ 5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830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8928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~95 triệu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138160" y="24048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đầu tư ban đầu: mặt bằng, dụng cụ trị liệu, quảng bá khai trương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31546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32644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~48 triệu/tháng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138160" y="37764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cố định: thuê 12 triệu + lương 4 người ~32 triệu + vật tư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38160" y="45262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636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D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 triệu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138160" y="51480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doanh thu mục tiêu tháng 12 (~350 khách/tháng, 60% từ gói combo)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38160" y="5897880"/>
            <a:ext cx="350215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3825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Toàn bộ số liệu là giả định minh họa phục vụ bài tập, dựng trên mô hình 1 cơ sở 2 giường + 3 kỹ thuật viên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Ông bà, cha mẹ mình khỏe mỗi ngày 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đó là toàn bộ bài toán của chúng tôi.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già ở Việt Nam ngày càng nhiều · xoa bóp – bấm huyệt ai cũng đã tin · dịch vụ tận nhà cho trung niên – cao tuổi với giá hợp lý hầu như chưa ai làm tử tế.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5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buổi trị liệu đầu tiên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mô nhỏ, phục vụ thật tốt nhóm khách đầu tiên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43400" y="43891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5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5212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Đo tỷ lệ khách quay lại từ tháng đầu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5715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năm đầu: ≥ 55% khách quay lại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43891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5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5212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Hoàn thiện pháp lý &amp; quy trình an toàn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5715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Trước khi mở rộng — không an toàn thì không làm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F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 THAM KHẢO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đã dùng trong báo cáo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013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Tuổi Trẻ, 31/5/2025 — Năm 2025, Việt Nam có 16% dân số là người cao tuổi, 1 người gánh 3–4 bệnh mạn tính</a:t>
            </a:r>
            <a:endParaRPr lang="en-US" sz="135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548640" y="21488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https://tuoitre.vn/nam-2025-viet-nam-co-16-dan-so-la-nguoi-cao-tuoi-1-nguoi-ganh-3-4-benh-man-tinh-20250531122410678.htm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4261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Tuổi Trẻ, 31/5/2025 — Việt Nam đang có tốc độ già hóa nhanh nhất châu Á</a:t>
            </a:r>
            <a:endParaRPr lang="en-US" sz="135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548640" y="29900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https://tuoitre.vn/nld/viet-nam-dang-co-toc-do-gia-hoa-nhanh-nhat-chau-a-196250531143638561.htm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838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VnExpress, 24/12/2025 — Người Việt trung bình chi hơn 7 triệu đồng một năm cho y tế</a:t>
            </a:r>
            <a:endParaRPr lang="en-US" sz="135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548640" y="383133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https://vnexpress.net/chi-phi-cho-y-te-cua-nguoi-viet-nam-tang-thang-dung-4997605.html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25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Trade.gov — Vietnam Healthcare (Country Commercial Guide)</a:t>
            </a:r>
            <a:endParaRPr lang="en-US" sz="135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548640" y="46725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https://www.trade.gov/country-commercial-guides/vietnam-healthcare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Massagenha.com, 7/2025 — Bảng giá massage người lớn tuổi tận nhà tại TP.HCM</a:t>
            </a:r>
            <a:endParaRPr lang="en-US" sz="1350" dirty="0"/>
          </a:p>
        </p:txBody>
      </p:sp>
      <p:sp>
        <p:nvSpPr>
          <p:cNvPr id="18" name="Text 16">
            <a:hlinkClick r:id="rId5" tooltip=""/>
          </p:cNvPr>
          <p:cNvSpPr/>
          <p:nvPr/>
        </p:nvSpPr>
        <p:spPr>
          <a:xfrm>
            <a:off x="548640" y="551383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5A57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https://massagenha.com/dich-vu/massage-nguoi-lon-tuoi/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1091672" cy="0"/>
          </a:xfrm>
          <a:prstGeom prst="line">
            <a:avLst/>
          </a:prstGeom>
          <a:noFill/>
          <a:ln w="12700">
            <a:solidFill>
              <a:srgbClr val="D5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liệu lượt khám BHYT 6T/2026 và khảo sát giá spa (KKday, Jackfruit Adventure) do nhóm thu thập; phần tài chính là giả định minh họa.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03152" y="6382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E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Khang Đường — Phân tích ý tưởng kinh doanh</dc:title>
  <dc:subject>PptxGenJS Presentation</dc:subject>
  <dc:creator>Nhóm An Khang Đường</dc:creator>
  <cp:lastModifiedBy>Nhóm An Khang Đường</cp:lastModifiedBy>
  <cp:revision>1</cp:revision>
  <dcterms:created xsi:type="dcterms:W3CDTF">2026-09-27T17:48:41Z</dcterms:created>
  <dcterms:modified xsi:type="dcterms:W3CDTF">2026-09-27T17:48:41Z</dcterms:modified>
</cp:coreProperties>
</file>